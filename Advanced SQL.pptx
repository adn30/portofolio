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oboto"/>
      <p:regular r:id="rId16"/>
      <p:bold r:id="rId17"/>
      <p:italic r:id="rId18"/>
      <p:boldItalic r:id="rId19"/>
    </p:embeddedFont>
    <p:embeddedFont>
      <p:font typeface="Caveat"/>
      <p:regular r:id="rId20"/>
      <p:bold r:id="rId21"/>
    </p:embeddedFont>
    <p:embeddedFont>
      <p:font typeface="Open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6" roundtripDataSignature="AMtx7mg4WYQOZFnBAQw6emeVt0cdvRavV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aveat-regular.fntdata"/><Relationship Id="rId22" Type="http://schemas.openxmlformats.org/officeDocument/2006/relationships/font" Target="fonts/OpenSans-regular.fntdata"/><Relationship Id="rId21" Type="http://schemas.openxmlformats.org/officeDocument/2006/relationships/font" Target="fonts/Caveat-bold.fntdata"/><Relationship Id="rId24" Type="http://schemas.openxmlformats.org/officeDocument/2006/relationships/font" Target="fonts/OpenSans-italic.fntdata"/><Relationship Id="rId23" Type="http://schemas.openxmlformats.org/officeDocument/2006/relationships/font" Target="fonts/OpenSa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customschemas.google.com/relationships/presentationmetadata" Target="metadata"/><Relationship Id="rId25" Type="http://schemas.openxmlformats.org/officeDocument/2006/relationships/font" Target="fonts/Open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-bold.fntdata"/><Relationship Id="rId16" Type="http://schemas.openxmlformats.org/officeDocument/2006/relationships/font" Target="fonts/Roboto-regular.fntdata"/><Relationship Id="rId19" Type="http://schemas.openxmlformats.org/officeDocument/2006/relationships/font" Target="fonts/Roboto-boldItalic.fntdata"/><Relationship Id="rId18" Type="http://schemas.openxmlformats.org/officeDocument/2006/relationships/font" Target="fonts/Roboto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9" name="Google Shape;59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4" name="Google Shape;74;p2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c084ad3c3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c084ad3c3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084ad3c39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c084ad3c39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c084ad3c39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c084ad3c39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c084ad3c39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c084ad3c39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084ad3c39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c084ad3c39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c084ad3c39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c084ad3c39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c084ad3c39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c084ad3c39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"/>
          <p:cNvSpPr txBox="1"/>
          <p:nvPr>
            <p:ph type="title"/>
          </p:nvPr>
        </p:nvSpPr>
        <p:spPr>
          <a:xfrm>
            <a:off x="438150" y="1609089"/>
            <a:ext cx="8267700" cy="19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6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6"/>
          <p:cNvSpPr txBox="1"/>
          <p:nvPr>
            <p:ph idx="1" type="body"/>
          </p:nvPr>
        </p:nvSpPr>
        <p:spPr>
          <a:xfrm>
            <a:off x="388937" y="1603438"/>
            <a:ext cx="8366100" cy="17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i="0"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6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6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6"/>
          <p:cNvSpPr txBox="1"/>
          <p:nvPr>
            <p:ph idx="12" type="sldNum"/>
          </p:nvPr>
        </p:nvSpPr>
        <p:spPr>
          <a:xfrm>
            <a:off x="6583680" y="4783455"/>
            <a:ext cx="2103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9" name="Google Shape;19;p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0" name="Google Shape;2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3" name="Google Shape;2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p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1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1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" name="Google Shape;3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8" name="Google Shape;38;p1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9" name="Google Shape;3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2" name="Google Shape;4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1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6" name="Google Shape;46;p1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7" name="Google Shape;47;p1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1" name="Google Shape;5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4" name="Google Shape;54;p1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2.jpg"/><Relationship Id="rId6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hyperlink" Target="https://docs.google.com/spreadsheets/d/1NnuHv9-_kUdmJLXkdxXDLNFmBleExwx_AEl6CCzu5QA/edit?usp=drive_link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B0A6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"/>
          <p:cNvSpPr/>
          <p:nvPr/>
        </p:nvSpPr>
        <p:spPr>
          <a:xfrm>
            <a:off x="2464027" y="1138664"/>
            <a:ext cx="4050536" cy="3979652"/>
          </a:xfrm>
          <a:custGeom>
            <a:rect b="b" l="l" r="r" t="t"/>
            <a:pathLst>
              <a:path extrusionOk="0" h="7959303" w="8101072">
                <a:moveTo>
                  <a:pt x="0" y="0"/>
                </a:moveTo>
                <a:lnTo>
                  <a:pt x="8101072" y="0"/>
                </a:lnTo>
                <a:lnTo>
                  <a:pt x="8101072" y="7959303"/>
                </a:lnTo>
                <a:lnTo>
                  <a:pt x="0" y="79593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81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2" name="Google Shape;62;p1"/>
          <p:cNvSpPr/>
          <p:nvPr/>
        </p:nvSpPr>
        <p:spPr>
          <a:xfrm>
            <a:off x="-1486429" y="-2463857"/>
            <a:ext cx="6794500" cy="6794500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FFFFFF">
              <a:alpha val="6274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"/>
          <p:cNvSpPr/>
          <p:nvPr/>
        </p:nvSpPr>
        <p:spPr>
          <a:xfrm>
            <a:off x="3851993" y="167243"/>
            <a:ext cx="922357" cy="404684"/>
          </a:xfrm>
          <a:custGeom>
            <a:rect b="b" l="l" r="r" t="t"/>
            <a:pathLst>
              <a:path extrusionOk="0" h="809368" w="1844714">
                <a:moveTo>
                  <a:pt x="0" y="0"/>
                </a:moveTo>
                <a:lnTo>
                  <a:pt x="1844714" y="0"/>
                </a:lnTo>
                <a:lnTo>
                  <a:pt x="1844714" y="809368"/>
                </a:lnTo>
                <a:lnTo>
                  <a:pt x="0" y="8093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64" name="Google Shape;64;p1"/>
          <p:cNvCxnSpPr/>
          <p:nvPr/>
        </p:nvCxnSpPr>
        <p:spPr>
          <a:xfrm>
            <a:off x="4937899" y="230112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" name="Google Shape;65;p1"/>
          <p:cNvSpPr txBox="1"/>
          <p:nvPr/>
        </p:nvSpPr>
        <p:spPr>
          <a:xfrm>
            <a:off x="5099824" y="205086"/>
            <a:ext cx="2213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01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id" sz="1600" u="none" cap="none" strike="noStrike">
                <a:solidFill>
                  <a:srgbClr val="FFFFFF"/>
                </a:solidFill>
                <a:latin typeface="Caveat"/>
                <a:ea typeface="Caveat"/>
                <a:cs typeface="Caveat"/>
                <a:sym typeface="Caveat"/>
              </a:rPr>
              <a:t>#RintisKarirImpian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6" name="Google Shape;66;p1"/>
          <p:cNvPicPr preferRelativeResize="0"/>
          <p:nvPr/>
        </p:nvPicPr>
        <p:blipFill rotWithShape="1">
          <a:blip r:embed="rId5">
            <a:alphaModFix/>
          </a:blip>
          <a:srcRect b="0" l="56640" r="0" t="0"/>
          <a:stretch/>
        </p:blipFill>
        <p:spPr>
          <a:xfrm>
            <a:off x="0" y="-169046"/>
            <a:ext cx="3560601" cy="5481591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"/>
          <p:cNvSpPr/>
          <p:nvPr/>
        </p:nvSpPr>
        <p:spPr>
          <a:xfrm>
            <a:off x="3560603" y="1449959"/>
            <a:ext cx="7654829" cy="2243582"/>
          </a:xfrm>
          <a:custGeom>
            <a:rect b="b" l="l" r="r" t="t"/>
            <a:pathLst>
              <a:path extrusionOk="0" h="4487164" w="15309658">
                <a:moveTo>
                  <a:pt x="0" y="0"/>
                </a:moveTo>
                <a:lnTo>
                  <a:pt x="15309658" y="0"/>
                </a:lnTo>
                <a:lnTo>
                  <a:pt x="15309658" y="4487164"/>
                </a:lnTo>
                <a:lnTo>
                  <a:pt x="0" y="44871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70000"/>
            </a:blip>
            <a:stretch>
              <a:fillRect b="0" l="-22113" r="0" t="0"/>
            </a:stretch>
          </a:blipFill>
          <a:ln>
            <a:noFill/>
          </a:ln>
        </p:spPr>
      </p:sp>
      <p:sp>
        <p:nvSpPr>
          <p:cNvPr id="68" name="Google Shape;68;p1"/>
          <p:cNvSpPr txBox="1"/>
          <p:nvPr/>
        </p:nvSpPr>
        <p:spPr>
          <a:xfrm>
            <a:off x="3792125" y="1575500"/>
            <a:ext cx="5115900" cy="19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i="0" lang="id" sz="4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SQL For Data Analysis 1</a:t>
            </a:r>
            <a:endParaRPr b="1" i="0" sz="5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" name="Google Shape;69;p1"/>
          <p:cNvSpPr txBox="1"/>
          <p:nvPr/>
        </p:nvSpPr>
        <p:spPr>
          <a:xfrm>
            <a:off x="3792125" y="799800"/>
            <a:ext cx="5115900" cy="4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id" sz="2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Portofolio - Intensive Bootcamp</a:t>
            </a:r>
            <a:endParaRPr b="1" i="0" sz="23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0" name="Google Shape;70;p1"/>
          <p:cNvSpPr txBox="1"/>
          <p:nvPr/>
        </p:nvSpPr>
        <p:spPr>
          <a:xfrm>
            <a:off x="3792125" y="3812800"/>
            <a:ext cx="5115900" cy="4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id" sz="2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Owner: </a:t>
            </a:r>
            <a:r>
              <a:rPr lang="id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Adin Nugroho</a:t>
            </a:r>
            <a:endParaRPr b="0" i="0" sz="23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1" name="Google Shape;71;p1"/>
          <p:cNvSpPr txBox="1"/>
          <p:nvPr/>
        </p:nvSpPr>
        <p:spPr>
          <a:xfrm>
            <a:off x="3792125" y="4412750"/>
            <a:ext cx="5115900" cy="4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d" sz="1400" u="none" cap="none" strike="noStrike">
                <a:solidFill>
                  <a:srgbClr val="000000"/>
                </a:solidFill>
                <a:highlight>
                  <a:srgbClr val="FFF2CC"/>
                </a:highlight>
                <a:latin typeface="Arial"/>
                <a:ea typeface="Arial"/>
                <a:cs typeface="Arial"/>
                <a:sym typeface="Arial"/>
              </a:rPr>
              <a:t>Build your skill and portfolio via myskill.id/bootcamp</a:t>
            </a:r>
            <a:endParaRPr b="0" i="0" sz="1400" u="none" cap="none" strike="noStrike">
              <a:solidFill>
                <a:srgbClr val="000000"/>
              </a:solidFill>
              <a:highlight>
                <a:srgbClr val="FFF2CC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oogle Shape;76;p2"/>
          <p:cNvGrpSpPr/>
          <p:nvPr/>
        </p:nvGrpSpPr>
        <p:grpSpPr>
          <a:xfrm>
            <a:off x="3854590" y="4740703"/>
            <a:ext cx="1434817" cy="389011"/>
            <a:chOff x="3248325" y="4588800"/>
            <a:chExt cx="2045939" cy="554700"/>
          </a:xfrm>
        </p:grpSpPr>
        <p:sp>
          <p:nvSpPr>
            <p:cNvPr id="77" name="Google Shape;77;p2"/>
            <p:cNvSpPr/>
            <p:nvPr/>
          </p:nvSpPr>
          <p:spPr>
            <a:xfrm>
              <a:off x="3248325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3955544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4662764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0" name="Google Shape;80;p2"/>
          <p:cNvGrpSpPr/>
          <p:nvPr/>
        </p:nvGrpSpPr>
        <p:grpSpPr>
          <a:xfrm>
            <a:off x="8325085" y="65154"/>
            <a:ext cx="763768" cy="752531"/>
            <a:chOff x="695950" y="3458000"/>
            <a:chExt cx="966550" cy="952450"/>
          </a:xfrm>
        </p:grpSpPr>
        <p:sp>
          <p:nvSpPr>
            <p:cNvPr id="81" name="Google Shape;81;p2"/>
            <p:cNvSpPr/>
            <p:nvPr/>
          </p:nvSpPr>
          <p:spPr>
            <a:xfrm>
              <a:off x="69595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1065675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143540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69595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1065675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143540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69595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1065675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143540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0" name="Google Shape;90;p2"/>
          <p:cNvSpPr txBox="1"/>
          <p:nvPr/>
        </p:nvSpPr>
        <p:spPr>
          <a:xfrm>
            <a:off x="212775" y="4649600"/>
            <a:ext cx="1434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id" sz="1100" u="none" cap="none" strike="noStrike">
                <a:solidFill>
                  <a:srgbClr val="18919B"/>
                </a:solidFill>
                <a:latin typeface="Caveat"/>
                <a:ea typeface="Caveat"/>
                <a:cs typeface="Caveat"/>
                <a:sym typeface="Caveat"/>
              </a:rPr>
              <a:t>#RintisKarirImpian</a:t>
            </a:r>
            <a:endParaRPr b="1" i="0" sz="1100" u="none" cap="none" strike="noStrike">
              <a:solidFill>
                <a:srgbClr val="18919B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pic>
        <p:nvPicPr>
          <p:cNvPr id="91" name="Google Shape;9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0175" y="4803796"/>
            <a:ext cx="558450" cy="262804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"/>
          <p:cNvSpPr txBox="1"/>
          <p:nvPr/>
        </p:nvSpPr>
        <p:spPr>
          <a:xfrm>
            <a:off x="278025" y="454325"/>
            <a:ext cx="84621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id" sz="2800" u="none" cap="none" strike="noStrike">
                <a:solidFill>
                  <a:srgbClr val="17919B"/>
                </a:solidFill>
                <a:latin typeface="Roboto"/>
                <a:ea typeface="Roboto"/>
                <a:cs typeface="Roboto"/>
                <a:sym typeface="Roboto"/>
              </a:rPr>
              <a:t>Petunjuk Pengerjaan</a:t>
            </a:r>
            <a:endParaRPr b="1" i="0" sz="28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" name="Google Shape;93;p2"/>
          <p:cNvSpPr txBox="1"/>
          <p:nvPr/>
        </p:nvSpPr>
        <p:spPr>
          <a:xfrm>
            <a:off x="212775" y="1001700"/>
            <a:ext cx="84621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id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Dokumen ini memang tidak open access untuk edit, maka silahkan copy file ini lalu kerjakanlah pada device masing-masing, dengan cara klik </a:t>
            </a:r>
            <a:r>
              <a:rPr b="1" i="0" lang="id" sz="1200" u="none" cap="none" strike="noStrike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File</a:t>
            </a:r>
            <a:r>
              <a:rPr b="0" i="0" lang="id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pada pojok kiri atas, pilih </a:t>
            </a:r>
            <a:r>
              <a:rPr b="1" i="0" lang="id" sz="1200" u="none" cap="none" strike="noStrike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Make a Copy</a:t>
            </a:r>
            <a:r>
              <a:rPr b="0" i="0" lang="id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. Setelah file berhasil di copy, ubah nama sesuai nama masing-masing.</a:t>
            </a:r>
            <a:br>
              <a:rPr b="0" i="0" lang="id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br>
              <a:rPr b="0" i="0" lang="id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0" lang="id" sz="1200" u="none" cap="none" strike="noStrike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Untuk mengerjakan, perhatikan petunjuk dibawah ini:</a:t>
            </a:r>
            <a:endParaRPr b="1" i="0" sz="1200" u="none" cap="none" strike="noStrike">
              <a:solidFill>
                <a:srgbClr val="18919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0" i="0" lang="id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Jawablah masing-masing pertanyaan di slide selanjutnya berdasarkan pengetahuanmu dan berdasarkan apa yang kamu pahami pada materi tiap sesi. 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0" i="0" lang="id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Set pengaturan akses file sebagai </a:t>
            </a:r>
            <a:r>
              <a:rPr b="1" i="0" lang="id" sz="1200" u="none" cap="none" strike="noStrike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Publik</a:t>
            </a:r>
            <a:r>
              <a:rPr b="0" i="0" lang="id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namun cukup </a:t>
            </a:r>
            <a:r>
              <a:rPr b="1" i="0" lang="id" sz="1200" u="none" cap="none" strike="noStrike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View Only </a:t>
            </a:r>
            <a:r>
              <a:rPr b="0" i="0" lang="id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agar tugas dapat dicek oleh Class Assistant.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0" i="0" lang="id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Silahkan kirim link sheet mini task berikut di form pengumpulan mini task yang sudah tersedia di</a:t>
            </a:r>
            <a:r>
              <a:rPr b="1" i="0" lang="id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id" sz="1200" u="sng" cap="none" strike="noStrike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To Do List bootcamp Data Analysis batch 26.</a:t>
            </a: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0" i="0" lang="id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Upload pekerjaanmu di LinkedIn dan tag </a:t>
            </a:r>
            <a:r>
              <a:rPr b="1" i="0" lang="id" sz="1200" u="none" cap="none" strike="noStrike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@MySkill</a:t>
            </a:r>
            <a:r>
              <a:rPr b="0" i="0" lang="id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juga </a:t>
            </a:r>
            <a:r>
              <a:rPr b="1" i="0" lang="id" sz="1200" u="none" cap="none" strike="noStrike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Class Assistant</a:t>
            </a:r>
            <a:r>
              <a:rPr b="0" i="0" lang="id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yang mendampingi serta </a:t>
            </a:r>
            <a:r>
              <a:rPr b="1" i="0" lang="id" sz="1200" u="none" cap="none" strike="noStrike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Tutor</a:t>
            </a:r>
            <a:r>
              <a:rPr b="0" i="0" lang="id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yang mengajar di sesi kelas. Yang di upload boleh berupa file PPT, maupun screenshot dari file ini.</a:t>
            </a: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Google Shape;98;p3"/>
          <p:cNvGrpSpPr/>
          <p:nvPr/>
        </p:nvGrpSpPr>
        <p:grpSpPr>
          <a:xfrm>
            <a:off x="3854590" y="4740700"/>
            <a:ext cx="1434817" cy="389011"/>
            <a:chOff x="3248325" y="4588800"/>
            <a:chExt cx="2045939" cy="554700"/>
          </a:xfrm>
        </p:grpSpPr>
        <p:sp>
          <p:nvSpPr>
            <p:cNvPr id="99" name="Google Shape;99;p3"/>
            <p:cNvSpPr/>
            <p:nvPr/>
          </p:nvSpPr>
          <p:spPr>
            <a:xfrm>
              <a:off x="3248325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3"/>
            <p:cNvSpPr/>
            <p:nvPr/>
          </p:nvSpPr>
          <p:spPr>
            <a:xfrm>
              <a:off x="3955544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3"/>
            <p:cNvSpPr/>
            <p:nvPr/>
          </p:nvSpPr>
          <p:spPr>
            <a:xfrm>
              <a:off x="4662764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2" name="Google Shape;102;p3"/>
          <p:cNvGrpSpPr/>
          <p:nvPr/>
        </p:nvGrpSpPr>
        <p:grpSpPr>
          <a:xfrm>
            <a:off x="8325085" y="65157"/>
            <a:ext cx="763768" cy="752531"/>
            <a:chOff x="695950" y="3458000"/>
            <a:chExt cx="966550" cy="952450"/>
          </a:xfrm>
        </p:grpSpPr>
        <p:sp>
          <p:nvSpPr>
            <p:cNvPr id="103" name="Google Shape;103;p3"/>
            <p:cNvSpPr/>
            <p:nvPr/>
          </p:nvSpPr>
          <p:spPr>
            <a:xfrm>
              <a:off x="69595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3"/>
            <p:cNvSpPr/>
            <p:nvPr/>
          </p:nvSpPr>
          <p:spPr>
            <a:xfrm>
              <a:off x="1065675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3"/>
            <p:cNvSpPr/>
            <p:nvPr/>
          </p:nvSpPr>
          <p:spPr>
            <a:xfrm>
              <a:off x="143540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69595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1065675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143540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3"/>
            <p:cNvSpPr/>
            <p:nvPr/>
          </p:nvSpPr>
          <p:spPr>
            <a:xfrm>
              <a:off x="69595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3"/>
            <p:cNvSpPr/>
            <p:nvPr/>
          </p:nvSpPr>
          <p:spPr>
            <a:xfrm>
              <a:off x="1065675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3"/>
            <p:cNvSpPr/>
            <p:nvPr/>
          </p:nvSpPr>
          <p:spPr>
            <a:xfrm>
              <a:off x="143540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2" name="Google Shape;112;p3"/>
          <p:cNvSpPr/>
          <p:nvPr/>
        </p:nvSpPr>
        <p:spPr>
          <a:xfrm rot="10800000">
            <a:off x="-381375" y="2274300"/>
            <a:ext cx="740700" cy="692700"/>
          </a:xfrm>
          <a:prstGeom prst="pie">
            <a:avLst>
              <a:gd fmla="val 5441529" name="adj1"/>
              <a:gd fmla="val 1620000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3"/>
          <p:cNvSpPr txBox="1"/>
          <p:nvPr/>
        </p:nvSpPr>
        <p:spPr>
          <a:xfrm>
            <a:off x="212775" y="4649600"/>
            <a:ext cx="1434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id" sz="1100" u="none" cap="none" strike="noStrike">
                <a:solidFill>
                  <a:srgbClr val="18919B"/>
                </a:solidFill>
                <a:latin typeface="Caveat"/>
                <a:ea typeface="Caveat"/>
                <a:cs typeface="Caveat"/>
                <a:sym typeface="Caveat"/>
              </a:rPr>
              <a:t>#RintisKarirImpian</a:t>
            </a:r>
            <a:endParaRPr b="1" i="0" sz="1100" u="none" cap="none" strike="noStrike">
              <a:solidFill>
                <a:srgbClr val="18919B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pic>
        <p:nvPicPr>
          <p:cNvPr id="114" name="Google Shape;11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0175" y="4803796"/>
            <a:ext cx="558450" cy="262804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3"/>
          <p:cNvSpPr txBox="1"/>
          <p:nvPr>
            <p:ph idx="4294967295" type="title"/>
          </p:nvPr>
        </p:nvSpPr>
        <p:spPr>
          <a:xfrm>
            <a:off x="212775" y="920950"/>
            <a:ext cx="8520600" cy="24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id" sz="1800">
                <a:solidFill>
                  <a:srgbClr val="18919B"/>
                </a:solidFill>
                <a:highlight>
                  <a:srgbClr val="FFFFFF"/>
                </a:highlight>
              </a:rPr>
              <a:t>SQL for Data Analysis 1</a:t>
            </a:r>
            <a:endParaRPr b="1" sz="1800">
              <a:solidFill>
                <a:srgbClr val="18919B"/>
              </a:solidFill>
              <a:highlight>
                <a:srgbClr val="FFFFFF"/>
              </a:highlight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919B"/>
              </a:buClr>
              <a:buSzPts val="1500"/>
              <a:buFont typeface="Roboto"/>
              <a:buChar char="●"/>
            </a:pPr>
            <a:r>
              <a:rPr lang="id" sz="1500">
                <a:solidFill>
                  <a:srgbClr val="18919B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Buktikan bahwa satu nama konsumen hanya memiliki satu customer id!</a:t>
            </a:r>
            <a:endParaRPr sz="1500">
              <a:solidFill>
                <a:srgbClr val="18919B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919B"/>
              </a:buClr>
              <a:buSzPts val="1500"/>
              <a:buFont typeface="Roboto"/>
              <a:buChar char="●"/>
            </a:pPr>
            <a:r>
              <a:rPr lang="id" sz="1500">
                <a:solidFill>
                  <a:srgbClr val="18919B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Produk (product_name) apa yang paling best selling secara kuantitas</a:t>
            </a:r>
            <a:endParaRPr sz="1500">
              <a:solidFill>
                <a:srgbClr val="18919B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919B"/>
              </a:buClr>
              <a:buSzPts val="1500"/>
              <a:buFont typeface="Roboto"/>
              <a:buChar char="●"/>
            </a:pPr>
            <a:r>
              <a:rPr lang="id" sz="1500">
                <a:solidFill>
                  <a:srgbClr val="18919B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Produk apa yang paling merugikan selama tahun 2017</a:t>
            </a:r>
            <a:endParaRPr sz="1500">
              <a:solidFill>
                <a:srgbClr val="18919B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c084ad3c39_0_0"/>
          <p:cNvSpPr txBox="1"/>
          <p:nvPr>
            <p:ph type="ctrTitle"/>
          </p:nvPr>
        </p:nvSpPr>
        <p:spPr>
          <a:xfrm>
            <a:off x="311700" y="251825"/>
            <a:ext cx="8520600" cy="97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 sz="2400"/>
              <a:t>Soal 1 - </a:t>
            </a:r>
            <a:r>
              <a:rPr lang="id" sz="2400"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Buktikan bahwa satu nama konsumen hanya memiliki satu customer id</a:t>
            </a:r>
            <a:r>
              <a:rPr lang="id" sz="2400"/>
              <a:t> </a:t>
            </a:r>
            <a:endParaRPr sz="2400"/>
          </a:p>
        </p:txBody>
      </p:sp>
      <p:sp>
        <p:nvSpPr>
          <p:cNvPr id="121" name="Google Shape;121;g3c084ad3c39_0_0"/>
          <p:cNvSpPr txBox="1"/>
          <p:nvPr/>
        </p:nvSpPr>
        <p:spPr>
          <a:xfrm>
            <a:off x="3895675" y="1297175"/>
            <a:ext cx="95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 sz="1800">
                <a:solidFill>
                  <a:srgbClr val="FF0000"/>
                </a:solidFill>
              </a:rPr>
              <a:t>Query</a:t>
            </a:r>
            <a:endParaRPr sz="1800">
              <a:solidFill>
                <a:srgbClr val="FF0000"/>
              </a:solidFill>
            </a:endParaRPr>
          </a:p>
        </p:txBody>
      </p:sp>
      <p:pic>
        <p:nvPicPr>
          <p:cNvPr id="122" name="Google Shape;122;g3c084ad3c39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3050" y="1939050"/>
            <a:ext cx="5738050" cy="165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c084ad3c39_0_12"/>
          <p:cNvSpPr txBox="1"/>
          <p:nvPr>
            <p:ph type="ctrTitle"/>
          </p:nvPr>
        </p:nvSpPr>
        <p:spPr>
          <a:xfrm>
            <a:off x="311700" y="251825"/>
            <a:ext cx="8520600" cy="97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 sz="2400"/>
              <a:t>Soal 1 - </a:t>
            </a:r>
            <a:r>
              <a:rPr lang="id" sz="2400"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Buktikan bahwa satu nama konsumen hanya memiliki satu customer id</a:t>
            </a:r>
            <a:r>
              <a:rPr lang="id" sz="2400"/>
              <a:t> </a:t>
            </a:r>
            <a:endParaRPr sz="2400"/>
          </a:p>
        </p:txBody>
      </p:sp>
      <p:sp>
        <p:nvSpPr>
          <p:cNvPr id="128" name="Google Shape;128;g3c084ad3c39_0_12"/>
          <p:cNvSpPr txBox="1"/>
          <p:nvPr/>
        </p:nvSpPr>
        <p:spPr>
          <a:xfrm>
            <a:off x="3895675" y="1297175"/>
            <a:ext cx="95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 sz="1800">
                <a:solidFill>
                  <a:srgbClr val="17919B"/>
                </a:solidFill>
              </a:rPr>
              <a:t>Result</a:t>
            </a:r>
            <a:endParaRPr sz="1800">
              <a:solidFill>
                <a:srgbClr val="17919B"/>
              </a:solidFill>
            </a:endParaRPr>
          </a:p>
        </p:txBody>
      </p:sp>
      <p:pic>
        <p:nvPicPr>
          <p:cNvPr id="129" name="Google Shape;129;g3c084ad3c39_0_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6325" y="1758875"/>
            <a:ext cx="2142776" cy="3384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g3c084ad3c39_0_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23800" y="1733300"/>
            <a:ext cx="2012324" cy="338462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g3c084ad3c39_0_12"/>
          <p:cNvSpPr txBox="1"/>
          <p:nvPr/>
        </p:nvSpPr>
        <p:spPr>
          <a:xfrm>
            <a:off x="6359775" y="4561975"/>
            <a:ext cx="235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1800">
                <a:solidFill>
                  <a:schemeClr val="dk1"/>
                </a:solidFill>
              </a:rPr>
              <a:t>Cont..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32" name="Google Shape;132;g3c084ad3c39_0_12"/>
          <p:cNvSpPr txBox="1"/>
          <p:nvPr/>
        </p:nvSpPr>
        <p:spPr>
          <a:xfrm>
            <a:off x="6313500" y="1831200"/>
            <a:ext cx="23556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1800">
                <a:solidFill>
                  <a:schemeClr val="dk1"/>
                </a:solidFill>
              </a:rPr>
              <a:t>Insight: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1800">
                <a:solidFill>
                  <a:schemeClr val="dk1"/>
                </a:solidFill>
              </a:rPr>
              <a:t>Benar, setiap satu nama konsumen hanya memiliki satu customer ID dan tidak ada duplikasi data yang ditemukan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c084ad3c39_0_22"/>
          <p:cNvSpPr txBox="1"/>
          <p:nvPr>
            <p:ph type="ctrTitle"/>
          </p:nvPr>
        </p:nvSpPr>
        <p:spPr>
          <a:xfrm>
            <a:off x="311700" y="251825"/>
            <a:ext cx="8520600" cy="97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 sz="2400"/>
              <a:t>Soal 2 - </a:t>
            </a:r>
            <a:r>
              <a:rPr lang="id" sz="2400"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Produk (product_name) apa yang paling best selling secara kuantitas</a:t>
            </a:r>
            <a:endParaRPr sz="2400"/>
          </a:p>
        </p:txBody>
      </p:sp>
      <p:sp>
        <p:nvSpPr>
          <p:cNvPr id="138" name="Google Shape;138;g3c084ad3c39_0_22"/>
          <p:cNvSpPr txBox="1"/>
          <p:nvPr/>
        </p:nvSpPr>
        <p:spPr>
          <a:xfrm>
            <a:off x="3895675" y="1297175"/>
            <a:ext cx="95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 sz="1800">
                <a:solidFill>
                  <a:srgbClr val="FF0000"/>
                </a:solidFill>
              </a:rPr>
              <a:t>Query</a:t>
            </a:r>
            <a:endParaRPr sz="1800">
              <a:solidFill>
                <a:srgbClr val="FF0000"/>
              </a:solidFill>
            </a:endParaRPr>
          </a:p>
        </p:txBody>
      </p:sp>
      <p:pic>
        <p:nvPicPr>
          <p:cNvPr id="139" name="Google Shape;139;g3c084ad3c39_0_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2505" y="1831625"/>
            <a:ext cx="6160250" cy="211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c084ad3c39_0_30"/>
          <p:cNvSpPr txBox="1"/>
          <p:nvPr>
            <p:ph type="ctrTitle"/>
          </p:nvPr>
        </p:nvSpPr>
        <p:spPr>
          <a:xfrm>
            <a:off x="311700" y="251825"/>
            <a:ext cx="8520600" cy="97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 sz="2400"/>
              <a:t>Soal 2 - </a:t>
            </a:r>
            <a:r>
              <a:rPr lang="id" sz="2400"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Produk (product_name) apa yang paling best selling secara kuantitas</a:t>
            </a:r>
            <a:endParaRPr sz="2400"/>
          </a:p>
        </p:txBody>
      </p:sp>
      <p:sp>
        <p:nvSpPr>
          <p:cNvPr id="145" name="Google Shape;145;g3c084ad3c39_0_30"/>
          <p:cNvSpPr txBox="1"/>
          <p:nvPr/>
        </p:nvSpPr>
        <p:spPr>
          <a:xfrm>
            <a:off x="3895675" y="1297175"/>
            <a:ext cx="95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 sz="1800">
                <a:solidFill>
                  <a:srgbClr val="FF0000"/>
                </a:solidFill>
              </a:rPr>
              <a:t>Query</a:t>
            </a:r>
            <a:endParaRPr sz="1800">
              <a:solidFill>
                <a:srgbClr val="FF0000"/>
              </a:solidFill>
            </a:endParaRPr>
          </a:p>
        </p:txBody>
      </p:sp>
      <p:pic>
        <p:nvPicPr>
          <p:cNvPr id="146" name="Google Shape;146;g3c084ad3c39_0_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2505" y="1831625"/>
            <a:ext cx="6160250" cy="211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c084ad3c39_0_36"/>
          <p:cNvSpPr txBox="1"/>
          <p:nvPr>
            <p:ph type="ctrTitle"/>
          </p:nvPr>
        </p:nvSpPr>
        <p:spPr>
          <a:xfrm>
            <a:off x="311700" y="251825"/>
            <a:ext cx="8520600" cy="97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 sz="2400"/>
              <a:t>Soal 2 - </a:t>
            </a:r>
            <a:r>
              <a:rPr lang="id" sz="2400"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Produk (product_name) apa yang paling best selling secara kuantitas</a:t>
            </a:r>
            <a:endParaRPr sz="2400"/>
          </a:p>
        </p:txBody>
      </p:sp>
      <p:sp>
        <p:nvSpPr>
          <p:cNvPr id="152" name="Google Shape;152;g3c084ad3c39_0_36"/>
          <p:cNvSpPr txBox="1"/>
          <p:nvPr/>
        </p:nvSpPr>
        <p:spPr>
          <a:xfrm>
            <a:off x="3895675" y="1297175"/>
            <a:ext cx="95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 sz="1800">
                <a:solidFill>
                  <a:srgbClr val="06B0A6"/>
                </a:solidFill>
              </a:rPr>
              <a:t>Result</a:t>
            </a:r>
            <a:endParaRPr sz="1800">
              <a:solidFill>
                <a:srgbClr val="06B0A6"/>
              </a:solidFill>
            </a:endParaRPr>
          </a:p>
        </p:txBody>
      </p:sp>
      <p:pic>
        <p:nvPicPr>
          <p:cNvPr id="153" name="Google Shape;153;g3c084ad3c39_0_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1400" y="1831625"/>
            <a:ext cx="4280590" cy="307982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g3c084ad3c39_0_36"/>
          <p:cNvSpPr txBox="1"/>
          <p:nvPr/>
        </p:nvSpPr>
        <p:spPr>
          <a:xfrm>
            <a:off x="4663500" y="1888400"/>
            <a:ext cx="38577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1800">
                <a:solidFill>
                  <a:schemeClr val="dk1"/>
                </a:solidFill>
              </a:rPr>
              <a:t>Insight: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1800">
                <a:solidFill>
                  <a:schemeClr val="dk1"/>
                </a:solidFill>
              </a:rPr>
              <a:t>Staples memiliki total pembelian terbanyak dari top 5 penjualan barang terbanyak. ini membuktikan bahwa produk staples merupakan produk yang paling best selling secara kuantitas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c084ad3c39_0_44"/>
          <p:cNvSpPr txBox="1"/>
          <p:nvPr>
            <p:ph type="ctrTitle"/>
          </p:nvPr>
        </p:nvSpPr>
        <p:spPr>
          <a:xfrm>
            <a:off x="311700" y="251825"/>
            <a:ext cx="8520600" cy="97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 sz="2400"/>
              <a:t>Soal 3 - </a:t>
            </a:r>
            <a:r>
              <a:rPr lang="id" sz="2400"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Produk apa yang paling merugikan selama tahun 2017</a:t>
            </a:r>
            <a:endParaRPr sz="2400"/>
          </a:p>
        </p:txBody>
      </p:sp>
      <p:sp>
        <p:nvSpPr>
          <p:cNvPr id="160" name="Google Shape;160;g3c084ad3c39_0_44"/>
          <p:cNvSpPr txBox="1"/>
          <p:nvPr/>
        </p:nvSpPr>
        <p:spPr>
          <a:xfrm>
            <a:off x="3895675" y="1297175"/>
            <a:ext cx="95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 sz="1800">
                <a:solidFill>
                  <a:srgbClr val="FF0000"/>
                </a:solidFill>
              </a:rPr>
              <a:t>Query</a:t>
            </a:r>
            <a:endParaRPr sz="1800">
              <a:solidFill>
                <a:srgbClr val="FF0000"/>
              </a:solidFill>
            </a:endParaRPr>
          </a:p>
        </p:txBody>
      </p:sp>
      <p:pic>
        <p:nvPicPr>
          <p:cNvPr id="161" name="Google Shape;161;g3c084ad3c39_0_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3013" y="1831625"/>
            <a:ext cx="6077426" cy="266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c084ad3c39_0_51"/>
          <p:cNvSpPr txBox="1"/>
          <p:nvPr>
            <p:ph type="ctrTitle"/>
          </p:nvPr>
        </p:nvSpPr>
        <p:spPr>
          <a:xfrm>
            <a:off x="311700" y="251825"/>
            <a:ext cx="8520600" cy="97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 sz="2400"/>
              <a:t>Soal 3 - </a:t>
            </a:r>
            <a:r>
              <a:rPr lang="id" sz="2400"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Produk apa yang paling merugikan selama tahun 2017</a:t>
            </a:r>
            <a:endParaRPr sz="2400"/>
          </a:p>
        </p:txBody>
      </p:sp>
      <p:sp>
        <p:nvSpPr>
          <p:cNvPr id="167" name="Google Shape;167;g3c084ad3c39_0_51"/>
          <p:cNvSpPr txBox="1"/>
          <p:nvPr/>
        </p:nvSpPr>
        <p:spPr>
          <a:xfrm>
            <a:off x="3895675" y="1297175"/>
            <a:ext cx="95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 sz="1800">
                <a:solidFill>
                  <a:srgbClr val="06B0A6"/>
                </a:solidFill>
              </a:rPr>
              <a:t>Result</a:t>
            </a:r>
            <a:endParaRPr sz="1800">
              <a:solidFill>
                <a:srgbClr val="06B0A6"/>
              </a:solidFill>
            </a:endParaRPr>
          </a:p>
        </p:txBody>
      </p:sp>
      <p:pic>
        <p:nvPicPr>
          <p:cNvPr id="168" name="Google Shape;168;g3c084ad3c39_0_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900" y="1831625"/>
            <a:ext cx="4648200" cy="2971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g3c084ad3c39_0_51"/>
          <p:cNvSpPr txBox="1"/>
          <p:nvPr/>
        </p:nvSpPr>
        <p:spPr>
          <a:xfrm>
            <a:off x="5042775" y="1831625"/>
            <a:ext cx="38577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1800">
                <a:solidFill>
                  <a:schemeClr val="dk1"/>
                </a:solidFill>
              </a:rPr>
              <a:t>Insight: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1800">
                <a:solidFill>
                  <a:schemeClr val="dk1"/>
                </a:solidFill>
              </a:rPr>
              <a:t>Berikut 5 barang yang paling merugikan selama tahun 2017, dimana  “GBC DocuBind P400 Electric Binding System” menjadi list pertama barang yang paling merugikan dimana kerugian yang diperoleh sebesar $-2,640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