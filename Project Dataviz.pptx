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Caveat"/>
      <p:regular r:id="rId15"/>
      <p:bold r:id="rId16"/>
    </p:embeddedFont>
    <p:embeddedFont>
      <p:font typeface="Roboto"/>
      <p:regular r:id="rId17"/>
      <p:bold r:id="rId18"/>
      <p:italic r:id="rId19"/>
      <p:boldItalic r:id="rId20"/>
    </p:embeddedFont>
    <p:embeddedFont>
      <p:font typeface="Open Sa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5" roundtripDataSignature="AMtx7mjiTihc3pc13iTggXsNlxn3R5uB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22" Type="http://schemas.openxmlformats.org/officeDocument/2006/relationships/font" Target="fonts/OpenSans-bold.fntdata"/><Relationship Id="rId21" Type="http://schemas.openxmlformats.org/officeDocument/2006/relationships/font" Target="fonts/OpenSans-regular.fntdata"/><Relationship Id="rId24" Type="http://schemas.openxmlformats.org/officeDocument/2006/relationships/font" Target="fonts/OpenSans-boldItalic.fntdata"/><Relationship Id="rId23" Type="http://schemas.openxmlformats.org/officeDocument/2006/relationships/font" Target="fonts/OpenSans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Caveat-regular.fntdata"/><Relationship Id="rId14" Type="http://schemas.openxmlformats.org/officeDocument/2006/relationships/slide" Target="slides/slide9.xml"/><Relationship Id="rId17" Type="http://schemas.openxmlformats.org/officeDocument/2006/relationships/font" Target="fonts/Roboto-regular.fntdata"/><Relationship Id="rId16" Type="http://schemas.openxmlformats.org/officeDocument/2006/relationships/font" Target="fonts/Caveat-bold.fntdata"/><Relationship Id="rId19" Type="http://schemas.openxmlformats.org/officeDocument/2006/relationships/font" Target="fonts/Roboto-italic.fntdata"/><Relationship Id="rId18" Type="http://schemas.openxmlformats.org/officeDocument/2006/relationships/font" Target="fonts/Robot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9" name="Google Shape;69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d2185845b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g3d2185845b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d2185845b3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g3d2185845b3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d2185845b3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g3d2185845b3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d2185845b3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g3d2185845b3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2185845b3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g3d2185845b3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d2185845b3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g3d2185845b3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Google Shape;13;p7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" name="Google Shape;14;p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9" name="Google Shape;19;p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0" name="Google Shape;2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OBJECT_1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0"/>
          <p:cNvSpPr txBox="1"/>
          <p:nvPr>
            <p:ph type="title"/>
          </p:nvPr>
        </p:nvSpPr>
        <p:spPr>
          <a:xfrm>
            <a:off x="3203096" y="685418"/>
            <a:ext cx="27378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4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10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10"/>
          <p:cNvSpPr txBox="1"/>
          <p:nvPr>
            <p:ph idx="12" type="sldNum"/>
          </p:nvPr>
        </p:nvSpPr>
        <p:spPr>
          <a:xfrm>
            <a:off x="6583680" y="4783455"/>
            <a:ext cx="2103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OBJECT_2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/>
          <p:nvPr>
            <p:ph type="title"/>
          </p:nvPr>
        </p:nvSpPr>
        <p:spPr>
          <a:xfrm>
            <a:off x="3203096" y="685418"/>
            <a:ext cx="27378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4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p11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" name="Google Shape;31;p11"/>
          <p:cNvSpPr txBox="1"/>
          <p:nvPr>
            <p:ph idx="12" type="sldNum"/>
          </p:nvPr>
        </p:nvSpPr>
        <p:spPr>
          <a:xfrm>
            <a:off x="6583680" y="4783455"/>
            <a:ext cx="2103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4" name="Google Shape;3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1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1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" name="Google Shape;46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9" name="Google Shape;49;p1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0" name="Google Shape;50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7" name="Google Shape;57;p1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8" name="Google Shape;58;p1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2" name="Google Shape;62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5" name="Google Shape;65;p2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8.jpg"/><Relationship Id="rId6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hyperlink" Target="https://docs.google.com/spreadsheets/d/1Dy9IzVRnp_uLvYgnmuBtcgQmxFCtMTR9y00lcRKjDx4/edit?gid=1924166946#gid=1924166946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B0A6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"/>
          <p:cNvSpPr/>
          <p:nvPr/>
        </p:nvSpPr>
        <p:spPr>
          <a:xfrm>
            <a:off x="2464027" y="1138664"/>
            <a:ext cx="4050536" cy="3979652"/>
          </a:xfrm>
          <a:custGeom>
            <a:rect b="b" l="l" r="r" t="t"/>
            <a:pathLst>
              <a:path extrusionOk="0" h="7959303" w="8101072">
                <a:moveTo>
                  <a:pt x="0" y="0"/>
                </a:moveTo>
                <a:lnTo>
                  <a:pt x="8101072" y="0"/>
                </a:lnTo>
                <a:lnTo>
                  <a:pt x="8101072" y="7959303"/>
                </a:lnTo>
                <a:lnTo>
                  <a:pt x="0" y="79593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81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2" name="Google Shape;72;p1"/>
          <p:cNvSpPr/>
          <p:nvPr/>
        </p:nvSpPr>
        <p:spPr>
          <a:xfrm>
            <a:off x="-1486429" y="-2463857"/>
            <a:ext cx="6794500" cy="6794500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FFFFFF">
              <a:alpha val="6274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"/>
          <p:cNvSpPr/>
          <p:nvPr/>
        </p:nvSpPr>
        <p:spPr>
          <a:xfrm>
            <a:off x="3851993" y="167243"/>
            <a:ext cx="922357" cy="404684"/>
          </a:xfrm>
          <a:custGeom>
            <a:rect b="b" l="l" r="r" t="t"/>
            <a:pathLst>
              <a:path extrusionOk="0" h="809368" w="1844714">
                <a:moveTo>
                  <a:pt x="0" y="0"/>
                </a:moveTo>
                <a:lnTo>
                  <a:pt x="1844714" y="0"/>
                </a:lnTo>
                <a:lnTo>
                  <a:pt x="1844714" y="809368"/>
                </a:lnTo>
                <a:lnTo>
                  <a:pt x="0" y="8093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74" name="Google Shape;74;p1"/>
          <p:cNvCxnSpPr/>
          <p:nvPr/>
        </p:nvCxnSpPr>
        <p:spPr>
          <a:xfrm>
            <a:off x="4937899" y="230112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5" name="Google Shape;75;p1"/>
          <p:cNvSpPr txBox="1"/>
          <p:nvPr/>
        </p:nvSpPr>
        <p:spPr>
          <a:xfrm>
            <a:off x="5099824" y="205086"/>
            <a:ext cx="2213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01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FFFFFF"/>
                </a:solidFill>
                <a:latin typeface="Caveat"/>
                <a:ea typeface="Caveat"/>
                <a:cs typeface="Caveat"/>
                <a:sym typeface="Caveat"/>
              </a:rPr>
              <a:t>#RintisKarirImpian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" name="Google Shape;76;p1"/>
          <p:cNvPicPr preferRelativeResize="0"/>
          <p:nvPr/>
        </p:nvPicPr>
        <p:blipFill rotWithShape="1">
          <a:blip r:embed="rId5">
            <a:alphaModFix/>
          </a:blip>
          <a:srcRect b="0" l="56640" r="0" t="0"/>
          <a:stretch/>
        </p:blipFill>
        <p:spPr>
          <a:xfrm>
            <a:off x="0" y="-169046"/>
            <a:ext cx="3560601" cy="5481591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"/>
          <p:cNvSpPr/>
          <p:nvPr/>
        </p:nvSpPr>
        <p:spPr>
          <a:xfrm>
            <a:off x="3560603" y="1449959"/>
            <a:ext cx="7654829" cy="2243582"/>
          </a:xfrm>
          <a:custGeom>
            <a:rect b="b" l="l" r="r" t="t"/>
            <a:pathLst>
              <a:path extrusionOk="0" h="4487164" w="15309658">
                <a:moveTo>
                  <a:pt x="0" y="0"/>
                </a:moveTo>
                <a:lnTo>
                  <a:pt x="15309658" y="0"/>
                </a:lnTo>
                <a:lnTo>
                  <a:pt x="15309658" y="4487164"/>
                </a:lnTo>
                <a:lnTo>
                  <a:pt x="0" y="44871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70000"/>
            </a:blip>
            <a:stretch>
              <a:fillRect b="0" l="-22117" r="0" t="0"/>
            </a:stretch>
          </a:blipFill>
          <a:ln>
            <a:noFill/>
          </a:ln>
        </p:spPr>
      </p:sp>
      <p:sp>
        <p:nvSpPr>
          <p:cNvPr id="78" name="Google Shape;78;p1"/>
          <p:cNvSpPr txBox="1"/>
          <p:nvPr/>
        </p:nvSpPr>
        <p:spPr>
          <a:xfrm>
            <a:off x="3792125" y="1575500"/>
            <a:ext cx="5115900" cy="19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i="0" lang="en" sz="3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Data Visualisation 1: Basic Data Viz + Project</a:t>
            </a:r>
            <a:endParaRPr b="1" i="0" sz="3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" name="Google Shape;79;p1"/>
          <p:cNvSpPr txBox="1"/>
          <p:nvPr/>
        </p:nvSpPr>
        <p:spPr>
          <a:xfrm>
            <a:off x="3792125" y="799800"/>
            <a:ext cx="5115900" cy="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Portofolio - Intensive Bootcamp</a:t>
            </a:r>
            <a:endParaRPr b="1" i="0" sz="23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0" name="Google Shape;80;p1"/>
          <p:cNvSpPr txBox="1"/>
          <p:nvPr/>
        </p:nvSpPr>
        <p:spPr>
          <a:xfrm>
            <a:off x="3792125" y="3812800"/>
            <a:ext cx="5115900" cy="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Owner: </a:t>
            </a:r>
            <a:r>
              <a:rPr b="1" lang="en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Adin Nugroho</a:t>
            </a:r>
            <a:endParaRPr b="0" i="0" sz="23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1" name="Google Shape;81;p1"/>
          <p:cNvSpPr txBox="1"/>
          <p:nvPr/>
        </p:nvSpPr>
        <p:spPr>
          <a:xfrm>
            <a:off x="3792125" y="4412750"/>
            <a:ext cx="5115900" cy="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highlight>
                  <a:srgbClr val="FFF2CC"/>
                </a:highlight>
                <a:latin typeface="Arial"/>
                <a:ea typeface="Arial"/>
                <a:cs typeface="Arial"/>
                <a:sym typeface="Arial"/>
              </a:rPr>
              <a:t>Build your skill and portfolio via myskill.id/bootcamp</a:t>
            </a:r>
            <a:endParaRPr b="0" i="0" sz="1400" u="none" cap="none" strike="noStrike">
              <a:solidFill>
                <a:srgbClr val="000000"/>
              </a:solidFill>
              <a:highlight>
                <a:srgbClr val="FFF2CC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oogle Shape;86;p3"/>
          <p:cNvGrpSpPr/>
          <p:nvPr/>
        </p:nvGrpSpPr>
        <p:grpSpPr>
          <a:xfrm>
            <a:off x="3854590" y="4740702"/>
            <a:ext cx="1434817" cy="389011"/>
            <a:chOff x="3248325" y="4588800"/>
            <a:chExt cx="2045939" cy="554700"/>
          </a:xfrm>
        </p:grpSpPr>
        <p:sp>
          <p:nvSpPr>
            <p:cNvPr id="87" name="Google Shape;87;p3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3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3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0" name="Google Shape;90;p3"/>
          <p:cNvGrpSpPr/>
          <p:nvPr/>
        </p:nvGrpSpPr>
        <p:grpSpPr>
          <a:xfrm>
            <a:off x="8325085" y="65155"/>
            <a:ext cx="763768" cy="752531"/>
            <a:chOff x="695950" y="3458000"/>
            <a:chExt cx="966550" cy="952450"/>
          </a:xfrm>
        </p:grpSpPr>
        <p:sp>
          <p:nvSpPr>
            <p:cNvPr id="91" name="Google Shape;91;p3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3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3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3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3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3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3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3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3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" name="Google Shape;100;p3"/>
          <p:cNvSpPr/>
          <p:nvPr/>
        </p:nvSpPr>
        <p:spPr>
          <a:xfrm rot="10800000">
            <a:off x="-381375" y="2274300"/>
            <a:ext cx="740700" cy="692700"/>
          </a:xfrm>
          <a:prstGeom prst="pie">
            <a:avLst>
              <a:gd fmla="val 5441529" name="adj1"/>
              <a:gd fmla="val 1620000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3"/>
          <p:cNvSpPr txBox="1"/>
          <p:nvPr/>
        </p:nvSpPr>
        <p:spPr>
          <a:xfrm>
            <a:off x="212775" y="4649600"/>
            <a:ext cx="1434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8919B"/>
                </a:solidFill>
                <a:latin typeface="Caveat"/>
                <a:ea typeface="Caveat"/>
                <a:cs typeface="Caveat"/>
                <a:sym typeface="Caveat"/>
              </a:rPr>
              <a:t>#RintisKarirImpian</a:t>
            </a:r>
            <a:endParaRPr b="1" i="0" sz="1100" u="none" cap="none" strike="noStrike">
              <a:solidFill>
                <a:srgbClr val="18919B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id="102" name="Google Shape;10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0175" y="4803796"/>
            <a:ext cx="558450" cy="262804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3"/>
          <p:cNvSpPr txBox="1"/>
          <p:nvPr/>
        </p:nvSpPr>
        <p:spPr>
          <a:xfrm>
            <a:off x="525900" y="1086813"/>
            <a:ext cx="8092200" cy="26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Imagine you’re a Data Analyst preparing to present your insights to an audience. </a:t>
            </a:r>
            <a:endParaRPr b="0" i="0" sz="13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Main task</a:t>
            </a:r>
            <a:endParaRPr b="1" i="0" sz="1300" u="none" cap="none" strike="noStrike">
              <a:solidFill>
                <a:srgbClr val="18919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Please create a minimum of 3 data visualization based on this </a:t>
            </a:r>
            <a:r>
              <a:rPr b="0" i="0" lang="en" sz="1300" u="sng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Sales Data</a:t>
            </a:r>
            <a:endParaRPr b="0" i="0" sz="13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Side task #1</a:t>
            </a:r>
            <a:br>
              <a:rPr b="1" i="0" lang="en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Also create a storyline based on your visualization of your findings (it could be all three or it could be only one of your visualization). </a:t>
            </a:r>
            <a:endParaRPr b="0" i="0" sz="13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Side task #2</a:t>
            </a:r>
            <a:br>
              <a:rPr b="1" i="0" lang="en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Please create a dashboard based on one of your data visualization.  </a:t>
            </a:r>
            <a:endParaRPr b="0" i="0" sz="13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d2185845b3_0_1"/>
          <p:cNvSpPr txBox="1"/>
          <p:nvPr/>
        </p:nvSpPr>
        <p:spPr>
          <a:xfrm>
            <a:off x="359325" y="652600"/>
            <a:ext cx="842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9" name="Google Shape;109;g3d2185845b3_0_1"/>
          <p:cNvGrpSpPr/>
          <p:nvPr/>
        </p:nvGrpSpPr>
        <p:grpSpPr>
          <a:xfrm>
            <a:off x="3854590" y="4740703"/>
            <a:ext cx="1434817" cy="389011"/>
            <a:chOff x="3248325" y="4588800"/>
            <a:chExt cx="2045939" cy="554700"/>
          </a:xfrm>
        </p:grpSpPr>
        <p:sp>
          <p:nvSpPr>
            <p:cNvPr id="110" name="Google Shape;110;g3d2185845b3_0_1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g3d2185845b3_0_1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g3d2185845b3_0_1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3" name="Google Shape;113;g3d2185845b3_0_1"/>
          <p:cNvGrpSpPr/>
          <p:nvPr/>
        </p:nvGrpSpPr>
        <p:grpSpPr>
          <a:xfrm>
            <a:off x="8325085" y="65154"/>
            <a:ext cx="763768" cy="752531"/>
            <a:chOff x="695950" y="3458000"/>
            <a:chExt cx="966550" cy="952450"/>
          </a:xfrm>
        </p:grpSpPr>
        <p:sp>
          <p:nvSpPr>
            <p:cNvPr id="114" name="Google Shape;114;g3d2185845b3_0_1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g3d2185845b3_0_1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g3d2185845b3_0_1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g3d2185845b3_0_1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g3d2185845b3_0_1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g3d2185845b3_0_1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g3d2185845b3_0_1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g3d2185845b3_0_1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g3d2185845b3_0_1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3" name="Google Shape;123;g3d2185845b3_0_1"/>
          <p:cNvSpPr/>
          <p:nvPr/>
        </p:nvSpPr>
        <p:spPr>
          <a:xfrm rot="10800000">
            <a:off x="-381375" y="2274300"/>
            <a:ext cx="740700" cy="692700"/>
          </a:xfrm>
          <a:prstGeom prst="pie">
            <a:avLst>
              <a:gd fmla="val 5441529" name="adj1"/>
              <a:gd fmla="val 1620000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g3d2185845b3_0_1"/>
          <p:cNvSpPr txBox="1"/>
          <p:nvPr/>
        </p:nvSpPr>
        <p:spPr>
          <a:xfrm>
            <a:off x="212775" y="4649600"/>
            <a:ext cx="1434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8919B"/>
                </a:solidFill>
                <a:latin typeface="Caveat"/>
                <a:ea typeface="Caveat"/>
                <a:cs typeface="Caveat"/>
                <a:sym typeface="Caveat"/>
              </a:rPr>
              <a:t>#RintisKarirImpian</a:t>
            </a:r>
            <a:endParaRPr b="1" i="0" sz="1100" u="none" cap="none" strike="noStrike">
              <a:solidFill>
                <a:srgbClr val="18919B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id="125" name="Google Shape;125;g3d2185845b3_0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0175" y="4803796"/>
            <a:ext cx="558450" cy="2628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g3d2185845b3_0_1"/>
          <p:cNvPicPr preferRelativeResize="0"/>
          <p:nvPr/>
        </p:nvPicPr>
        <p:blipFill rotWithShape="1">
          <a:blip r:embed="rId4">
            <a:alphaModFix/>
          </a:blip>
          <a:srcRect b="-5374" l="0" r="0" t="0"/>
          <a:stretch/>
        </p:blipFill>
        <p:spPr>
          <a:xfrm>
            <a:off x="880704" y="838410"/>
            <a:ext cx="7176701" cy="3092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27" name="Google Shape;127;g3d2185845b3_0_1"/>
          <p:cNvSpPr txBox="1"/>
          <p:nvPr/>
        </p:nvSpPr>
        <p:spPr>
          <a:xfrm>
            <a:off x="69050" y="0"/>
            <a:ext cx="8428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lang="en" sz="2200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Raw Data</a:t>
            </a:r>
            <a:endParaRPr b="0" i="0" sz="2200" u="none" cap="none" strike="noStrike">
              <a:solidFill>
                <a:srgbClr val="18919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" name="Google Shape;128;g3d2185845b3_0_1"/>
          <p:cNvSpPr txBox="1"/>
          <p:nvPr/>
        </p:nvSpPr>
        <p:spPr>
          <a:xfrm>
            <a:off x="2230500" y="3834550"/>
            <a:ext cx="468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Data already cleaned and well-</a:t>
            </a:r>
            <a:r>
              <a:rPr lang="en" sz="1800">
                <a:solidFill>
                  <a:schemeClr val="dk2"/>
                </a:solidFill>
              </a:rPr>
              <a:t>formatted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"/>
          <p:cNvSpPr txBox="1"/>
          <p:nvPr/>
        </p:nvSpPr>
        <p:spPr>
          <a:xfrm>
            <a:off x="256352" y="480978"/>
            <a:ext cx="842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4" name="Google Shape;134;p4"/>
          <p:cNvGrpSpPr/>
          <p:nvPr/>
        </p:nvGrpSpPr>
        <p:grpSpPr>
          <a:xfrm>
            <a:off x="3854590" y="4740702"/>
            <a:ext cx="1434817" cy="389011"/>
            <a:chOff x="3248325" y="4588800"/>
            <a:chExt cx="2045939" cy="554700"/>
          </a:xfrm>
        </p:grpSpPr>
        <p:sp>
          <p:nvSpPr>
            <p:cNvPr id="135" name="Google Shape;135;p4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4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4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8" name="Google Shape;138;p4"/>
          <p:cNvGrpSpPr/>
          <p:nvPr/>
        </p:nvGrpSpPr>
        <p:grpSpPr>
          <a:xfrm>
            <a:off x="8325085" y="65155"/>
            <a:ext cx="763768" cy="752531"/>
            <a:chOff x="695950" y="3458000"/>
            <a:chExt cx="966550" cy="952450"/>
          </a:xfrm>
        </p:grpSpPr>
        <p:sp>
          <p:nvSpPr>
            <p:cNvPr id="139" name="Google Shape;139;p4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4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4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4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4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4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4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4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4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8" name="Google Shape;148;p4"/>
          <p:cNvSpPr/>
          <p:nvPr/>
        </p:nvSpPr>
        <p:spPr>
          <a:xfrm rot="10800000">
            <a:off x="-484348" y="2102678"/>
            <a:ext cx="740700" cy="692700"/>
          </a:xfrm>
          <a:prstGeom prst="pie">
            <a:avLst>
              <a:gd fmla="val 5441529" name="adj1"/>
              <a:gd fmla="val 1620000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4"/>
          <p:cNvSpPr txBox="1"/>
          <p:nvPr/>
        </p:nvSpPr>
        <p:spPr>
          <a:xfrm>
            <a:off x="212775" y="4649600"/>
            <a:ext cx="1434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8919B"/>
                </a:solidFill>
                <a:latin typeface="Caveat"/>
                <a:ea typeface="Caveat"/>
                <a:cs typeface="Caveat"/>
                <a:sym typeface="Caveat"/>
              </a:rPr>
              <a:t>#RintisKarirImpian</a:t>
            </a:r>
            <a:endParaRPr b="1" i="0" sz="1100" u="none" cap="none" strike="noStrike">
              <a:solidFill>
                <a:srgbClr val="18919B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id="150" name="Google Shape;15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0175" y="4803796"/>
            <a:ext cx="558450" cy="262804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4"/>
          <p:cNvSpPr txBox="1"/>
          <p:nvPr/>
        </p:nvSpPr>
        <p:spPr>
          <a:xfrm>
            <a:off x="109802" y="8191"/>
            <a:ext cx="8428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lang="en" sz="2200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Business Overview</a:t>
            </a:r>
            <a:endParaRPr b="0" i="0" sz="2200" u="none" cap="none" strike="noStrike">
              <a:solidFill>
                <a:srgbClr val="18919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2" name="Google Shape;152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0302" y="646053"/>
            <a:ext cx="6457500" cy="752400"/>
          </a:xfrm>
          <a:prstGeom prst="roundRect">
            <a:avLst>
              <a:gd fmla="val 27021" name="adj"/>
            </a:avLst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53" name="Google Shape;153;p4"/>
          <p:cNvSpPr txBox="1"/>
          <p:nvPr/>
        </p:nvSpPr>
        <p:spPr>
          <a:xfrm>
            <a:off x="440302" y="1335378"/>
            <a:ext cx="5971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Analysis period including sales performance by </a:t>
            </a:r>
            <a:r>
              <a:rPr b="1" lang="en" sz="1800">
                <a:solidFill>
                  <a:schemeClr val="dk2"/>
                </a:solidFill>
              </a:rPr>
              <a:t>O-Store</a:t>
            </a:r>
            <a:r>
              <a:rPr lang="en" sz="1800">
                <a:solidFill>
                  <a:schemeClr val="dk2"/>
                </a:solidFill>
              </a:rPr>
              <a:t> during 2014-2017. Overall this company have </a:t>
            </a:r>
            <a:r>
              <a:rPr b="1" lang="en" sz="1800">
                <a:solidFill>
                  <a:schemeClr val="dk2"/>
                </a:solidFill>
              </a:rPr>
              <a:t>$2.29 Million</a:t>
            </a:r>
            <a:r>
              <a:rPr lang="en" sz="1800">
                <a:solidFill>
                  <a:schemeClr val="dk2"/>
                </a:solidFill>
              </a:rPr>
              <a:t> Revenue with </a:t>
            </a:r>
            <a:r>
              <a:rPr b="1" lang="en" sz="1800">
                <a:solidFill>
                  <a:schemeClr val="dk2"/>
                </a:solidFill>
              </a:rPr>
              <a:t>$286K</a:t>
            </a:r>
            <a:r>
              <a:rPr lang="en" sz="1800">
                <a:solidFill>
                  <a:schemeClr val="dk2"/>
                </a:solidFill>
              </a:rPr>
              <a:t> profit earnings.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4" name="Google Shape;154;p4"/>
          <p:cNvSpPr txBox="1"/>
          <p:nvPr/>
        </p:nvSpPr>
        <p:spPr>
          <a:xfrm>
            <a:off x="4001550" y="2571750"/>
            <a:ext cx="46830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Insight: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Sales and profit have </a:t>
            </a:r>
            <a:r>
              <a:rPr lang="en" sz="1800">
                <a:solidFill>
                  <a:schemeClr val="dk2"/>
                </a:solidFill>
              </a:rPr>
              <a:t>consistantly increased from year the year.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Average discount earns </a:t>
            </a:r>
            <a:r>
              <a:rPr b="1" lang="en" sz="1800">
                <a:solidFill>
                  <a:schemeClr val="dk2"/>
                </a:solidFill>
              </a:rPr>
              <a:t>15.62%</a:t>
            </a:r>
            <a:r>
              <a:rPr lang="en" sz="1800">
                <a:solidFill>
                  <a:schemeClr val="dk2"/>
                </a:solidFill>
              </a:rPr>
              <a:t>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Profit margin get less value than average discount offered.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d2185845b3_0_31"/>
          <p:cNvSpPr txBox="1"/>
          <p:nvPr/>
        </p:nvSpPr>
        <p:spPr>
          <a:xfrm>
            <a:off x="256352" y="480978"/>
            <a:ext cx="842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0" name="Google Shape;160;g3d2185845b3_0_31"/>
          <p:cNvGrpSpPr/>
          <p:nvPr/>
        </p:nvGrpSpPr>
        <p:grpSpPr>
          <a:xfrm>
            <a:off x="3854590" y="4740703"/>
            <a:ext cx="1434817" cy="389011"/>
            <a:chOff x="3248325" y="4588800"/>
            <a:chExt cx="2045939" cy="554700"/>
          </a:xfrm>
        </p:grpSpPr>
        <p:sp>
          <p:nvSpPr>
            <p:cNvPr id="161" name="Google Shape;161;g3d2185845b3_0_31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g3d2185845b3_0_31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g3d2185845b3_0_31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4" name="Google Shape;164;g3d2185845b3_0_31"/>
          <p:cNvGrpSpPr/>
          <p:nvPr/>
        </p:nvGrpSpPr>
        <p:grpSpPr>
          <a:xfrm>
            <a:off x="8325085" y="65154"/>
            <a:ext cx="763768" cy="752531"/>
            <a:chOff x="695950" y="3458000"/>
            <a:chExt cx="966550" cy="952450"/>
          </a:xfrm>
        </p:grpSpPr>
        <p:sp>
          <p:nvSpPr>
            <p:cNvPr id="165" name="Google Shape;165;g3d2185845b3_0_31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g3d2185845b3_0_31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g3d2185845b3_0_31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g3d2185845b3_0_31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g3d2185845b3_0_31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g3d2185845b3_0_31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g3d2185845b3_0_31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g3d2185845b3_0_31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g3d2185845b3_0_31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4" name="Google Shape;174;g3d2185845b3_0_31"/>
          <p:cNvSpPr/>
          <p:nvPr/>
        </p:nvSpPr>
        <p:spPr>
          <a:xfrm rot="10800000">
            <a:off x="-484348" y="2102678"/>
            <a:ext cx="740700" cy="692700"/>
          </a:xfrm>
          <a:prstGeom prst="pie">
            <a:avLst>
              <a:gd fmla="val 5441529" name="adj1"/>
              <a:gd fmla="val 1620000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g3d2185845b3_0_31"/>
          <p:cNvSpPr txBox="1"/>
          <p:nvPr/>
        </p:nvSpPr>
        <p:spPr>
          <a:xfrm>
            <a:off x="212775" y="4649600"/>
            <a:ext cx="1434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8919B"/>
                </a:solidFill>
                <a:latin typeface="Caveat"/>
                <a:ea typeface="Caveat"/>
                <a:cs typeface="Caveat"/>
                <a:sym typeface="Caveat"/>
              </a:rPr>
              <a:t>#RintisKarirImpian</a:t>
            </a:r>
            <a:endParaRPr b="1" i="0" sz="1100" u="none" cap="none" strike="noStrike">
              <a:solidFill>
                <a:srgbClr val="18919B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id="176" name="Google Shape;176;g3d2185845b3_0_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0175" y="4803796"/>
            <a:ext cx="558450" cy="262804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g3d2185845b3_0_31"/>
          <p:cNvSpPr txBox="1"/>
          <p:nvPr/>
        </p:nvSpPr>
        <p:spPr>
          <a:xfrm>
            <a:off x="109802" y="8191"/>
            <a:ext cx="8428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lang="en" sz="2200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Sales Trend Analysis</a:t>
            </a:r>
            <a:endParaRPr b="0" i="0" sz="2200" u="none" cap="none" strike="noStrike">
              <a:solidFill>
                <a:srgbClr val="18919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8" name="Google Shape;178;g3d2185845b3_0_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6349" y="1199125"/>
            <a:ext cx="4569300" cy="2493300"/>
          </a:xfrm>
          <a:prstGeom prst="roundRect">
            <a:avLst>
              <a:gd fmla="val 8765" name="adj"/>
            </a:avLst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79" name="Google Shape;179;g3d2185845b3_0_31"/>
          <p:cNvSpPr txBox="1"/>
          <p:nvPr/>
        </p:nvSpPr>
        <p:spPr>
          <a:xfrm>
            <a:off x="5057150" y="728098"/>
            <a:ext cx="37671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-"/>
            </a:pPr>
            <a:r>
              <a:rPr lang="en" sz="1600">
                <a:solidFill>
                  <a:schemeClr val="dk2"/>
                </a:solidFill>
              </a:rPr>
              <a:t>Sales growth from year to year has </a:t>
            </a:r>
            <a:r>
              <a:rPr b="1" lang="en" sz="1600">
                <a:solidFill>
                  <a:schemeClr val="dk2"/>
                </a:solidFill>
              </a:rPr>
              <a:t>positively moved</a:t>
            </a:r>
            <a:r>
              <a:rPr lang="en" sz="1600">
                <a:solidFill>
                  <a:schemeClr val="dk2"/>
                </a:solidFill>
              </a:rPr>
              <a:t>.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-"/>
            </a:pPr>
            <a:r>
              <a:rPr lang="en" sz="1600">
                <a:solidFill>
                  <a:schemeClr val="dk2"/>
                </a:solidFill>
              </a:rPr>
              <a:t>But profit has </a:t>
            </a:r>
            <a:r>
              <a:rPr b="1" lang="en" sz="1600">
                <a:solidFill>
                  <a:schemeClr val="dk2"/>
                </a:solidFill>
              </a:rPr>
              <a:t>not kept pace</a:t>
            </a:r>
            <a:r>
              <a:rPr lang="en" sz="1600">
                <a:solidFill>
                  <a:schemeClr val="dk2"/>
                </a:solidFill>
              </a:rPr>
              <a:t> with sales, which is Increased revenue has not always been accompanied by increased profits.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-"/>
            </a:pPr>
            <a:r>
              <a:rPr lang="en" sz="1600">
                <a:solidFill>
                  <a:schemeClr val="dk2"/>
                </a:solidFill>
              </a:rPr>
              <a:t>this indicates there are other factors such as </a:t>
            </a:r>
            <a:r>
              <a:rPr b="1" lang="en" sz="1600">
                <a:solidFill>
                  <a:schemeClr val="dk2"/>
                </a:solidFill>
              </a:rPr>
              <a:t>discounts or products compositions</a:t>
            </a:r>
            <a:r>
              <a:rPr lang="en" sz="1600">
                <a:solidFill>
                  <a:schemeClr val="dk2"/>
                </a:solidFill>
              </a:rPr>
              <a:t> that affect profitability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</a:rPr>
              <a:t>Short insight:</a:t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Current business growth is driven more by transaction volume than margin efficiency.</a:t>
            </a:r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d2185845b3_0_59"/>
          <p:cNvSpPr txBox="1"/>
          <p:nvPr/>
        </p:nvSpPr>
        <p:spPr>
          <a:xfrm>
            <a:off x="256352" y="480978"/>
            <a:ext cx="842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5" name="Google Shape;185;g3d2185845b3_0_59"/>
          <p:cNvGrpSpPr/>
          <p:nvPr/>
        </p:nvGrpSpPr>
        <p:grpSpPr>
          <a:xfrm>
            <a:off x="3854590" y="4740703"/>
            <a:ext cx="1434817" cy="389011"/>
            <a:chOff x="3248325" y="4588800"/>
            <a:chExt cx="2045939" cy="554700"/>
          </a:xfrm>
        </p:grpSpPr>
        <p:sp>
          <p:nvSpPr>
            <p:cNvPr id="186" name="Google Shape;186;g3d2185845b3_0_59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g3d2185845b3_0_59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g3d2185845b3_0_59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9" name="Google Shape;189;g3d2185845b3_0_59"/>
          <p:cNvGrpSpPr/>
          <p:nvPr/>
        </p:nvGrpSpPr>
        <p:grpSpPr>
          <a:xfrm>
            <a:off x="8325085" y="65154"/>
            <a:ext cx="763768" cy="752531"/>
            <a:chOff x="695950" y="3458000"/>
            <a:chExt cx="966550" cy="952450"/>
          </a:xfrm>
        </p:grpSpPr>
        <p:sp>
          <p:nvSpPr>
            <p:cNvPr id="190" name="Google Shape;190;g3d2185845b3_0_59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g3d2185845b3_0_59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g3d2185845b3_0_59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g3d2185845b3_0_59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g3d2185845b3_0_59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g3d2185845b3_0_59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g3d2185845b3_0_59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g3d2185845b3_0_59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g3d2185845b3_0_59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9" name="Google Shape;199;g3d2185845b3_0_59"/>
          <p:cNvSpPr/>
          <p:nvPr/>
        </p:nvSpPr>
        <p:spPr>
          <a:xfrm rot="10800000">
            <a:off x="-484348" y="2102678"/>
            <a:ext cx="740700" cy="692700"/>
          </a:xfrm>
          <a:prstGeom prst="pie">
            <a:avLst>
              <a:gd fmla="val 5441529" name="adj1"/>
              <a:gd fmla="val 1620000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g3d2185845b3_0_59"/>
          <p:cNvSpPr txBox="1"/>
          <p:nvPr/>
        </p:nvSpPr>
        <p:spPr>
          <a:xfrm>
            <a:off x="212775" y="4649600"/>
            <a:ext cx="1434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8919B"/>
                </a:solidFill>
                <a:latin typeface="Caveat"/>
                <a:ea typeface="Caveat"/>
                <a:cs typeface="Caveat"/>
                <a:sym typeface="Caveat"/>
              </a:rPr>
              <a:t>#RintisKarirImpian</a:t>
            </a:r>
            <a:endParaRPr b="1" i="0" sz="1100" u="none" cap="none" strike="noStrike">
              <a:solidFill>
                <a:srgbClr val="18919B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id="201" name="Google Shape;201;g3d2185845b3_0_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0175" y="4803796"/>
            <a:ext cx="558450" cy="262804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g3d2185845b3_0_59"/>
          <p:cNvSpPr txBox="1"/>
          <p:nvPr/>
        </p:nvSpPr>
        <p:spPr>
          <a:xfrm>
            <a:off x="109802" y="8191"/>
            <a:ext cx="8428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lang="en" sz="2200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Regional Performance</a:t>
            </a:r>
            <a:endParaRPr b="0" i="0" sz="2200" u="none" cap="none" strike="noStrike">
              <a:solidFill>
                <a:srgbClr val="18919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3" name="Google Shape;203;g3d2185845b3_0_59"/>
          <p:cNvSpPr txBox="1"/>
          <p:nvPr/>
        </p:nvSpPr>
        <p:spPr>
          <a:xfrm>
            <a:off x="5057150" y="678450"/>
            <a:ext cx="37671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Based on regional sales performance, the </a:t>
            </a:r>
            <a:r>
              <a:rPr b="1" lang="en" sz="1800">
                <a:solidFill>
                  <a:schemeClr val="dk2"/>
                </a:solidFill>
              </a:rPr>
              <a:t>western and eastern regions</a:t>
            </a:r>
            <a:r>
              <a:rPr lang="en" sz="1800">
                <a:solidFill>
                  <a:schemeClr val="dk2"/>
                </a:solidFill>
              </a:rPr>
              <a:t> achieved the </a:t>
            </a:r>
            <a:r>
              <a:rPr b="1" lang="en" sz="1800">
                <a:solidFill>
                  <a:schemeClr val="dk2"/>
                </a:solidFill>
              </a:rPr>
              <a:t>highest</a:t>
            </a:r>
            <a:r>
              <a:rPr lang="en" sz="1800">
                <a:solidFill>
                  <a:schemeClr val="dk2"/>
                </a:solidFill>
              </a:rPr>
              <a:t> sales.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Conversely, the </a:t>
            </a:r>
            <a:r>
              <a:rPr b="1" lang="en" sz="1800">
                <a:solidFill>
                  <a:schemeClr val="dk2"/>
                </a:solidFill>
              </a:rPr>
              <a:t>central and southern regions</a:t>
            </a:r>
            <a:r>
              <a:rPr lang="en" sz="1800">
                <a:solidFill>
                  <a:schemeClr val="dk2"/>
                </a:solidFill>
              </a:rPr>
              <a:t> had the </a:t>
            </a:r>
            <a:r>
              <a:rPr b="1" lang="en" sz="1800">
                <a:solidFill>
                  <a:schemeClr val="dk2"/>
                </a:solidFill>
              </a:rPr>
              <a:t>lowest</a:t>
            </a:r>
            <a:r>
              <a:rPr lang="en" sz="1800">
                <a:solidFill>
                  <a:schemeClr val="dk2"/>
                </a:solidFill>
              </a:rPr>
              <a:t> sales revenue.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This indicates that business performance is </a:t>
            </a:r>
            <a:r>
              <a:rPr b="1" lang="en" sz="1800">
                <a:solidFill>
                  <a:schemeClr val="dk2"/>
                </a:solidFill>
              </a:rPr>
              <a:t>concentrated in certain regions</a:t>
            </a:r>
            <a:r>
              <a:rPr lang="en" sz="1800">
                <a:solidFill>
                  <a:schemeClr val="dk2"/>
                </a:solidFill>
              </a:rPr>
              <a:t>, creating opportunities to generate more revenue in other regions.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04" name="Google Shape;204;g3d2185845b3_0_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2775" y="2481375"/>
            <a:ext cx="4692000" cy="2242500"/>
          </a:xfrm>
          <a:prstGeom prst="roundRect">
            <a:avLst>
              <a:gd fmla="val 15204" name="adj"/>
            </a:avLst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205" name="Google Shape;205;g3d2185845b3_0_5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6350" y="531400"/>
            <a:ext cx="4692000" cy="186540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d2185845b3_0_86"/>
          <p:cNvSpPr txBox="1"/>
          <p:nvPr/>
        </p:nvSpPr>
        <p:spPr>
          <a:xfrm>
            <a:off x="256352" y="480978"/>
            <a:ext cx="842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1" name="Google Shape;211;g3d2185845b3_0_86"/>
          <p:cNvGrpSpPr/>
          <p:nvPr/>
        </p:nvGrpSpPr>
        <p:grpSpPr>
          <a:xfrm>
            <a:off x="3854590" y="4740703"/>
            <a:ext cx="1434817" cy="389011"/>
            <a:chOff x="3248325" y="4588800"/>
            <a:chExt cx="2045939" cy="554700"/>
          </a:xfrm>
        </p:grpSpPr>
        <p:sp>
          <p:nvSpPr>
            <p:cNvPr id="212" name="Google Shape;212;g3d2185845b3_0_86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g3d2185845b3_0_86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g3d2185845b3_0_86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5" name="Google Shape;215;g3d2185845b3_0_86"/>
          <p:cNvGrpSpPr/>
          <p:nvPr/>
        </p:nvGrpSpPr>
        <p:grpSpPr>
          <a:xfrm>
            <a:off x="8325085" y="65154"/>
            <a:ext cx="763768" cy="752531"/>
            <a:chOff x="695950" y="3458000"/>
            <a:chExt cx="966550" cy="952450"/>
          </a:xfrm>
        </p:grpSpPr>
        <p:sp>
          <p:nvSpPr>
            <p:cNvPr id="216" name="Google Shape;216;g3d2185845b3_0_86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g3d2185845b3_0_86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g3d2185845b3_0_86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g3d2185845b3_0_86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g3d2185845b3_0_86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g3d2185845b3_0_86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g3d2185845b3_0_86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g3d2185845b3_0_86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g3d2185845b3_0_86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5" name="Google Shape;225;g3d2185845b3_0_86"/>
          <p:cNvSpPr/>
          <p:nvPr/>
        </p:nvSpPr>
        <p:spPr>
          <a:xfrm rot="10800000">
            <a:off x="-484348" y="2102678"/>
            <a:ext cx="740700" cy="692700"/>
          </a:xfrm>
          <a:prstGeom prst="pie">
            <a:avLst>
              <a:gd fmla="val 5441529" name="adj1"/>
              <a:gd fmla="val 1620000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g3d2185845b3_0_86"/>
          <p:cNvSpPr txBox="1"/>
          <p:nvPr/>
        </p:nvSpPr>
        <p:spPr>
          <a:xfrm>
            <a:off x="212775" y="4649600"/>
            <a:ext cx="1434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8919B"/>
                </a:solidFill>
                <a:latin typeface="Caveat"/>
                <a:ea typeface="Caveat"/>
                <a:cs typeface="Caveat"/>
                <a:sym typeface="Caveat"/>
              </a:rPr>
              <a:t>#RintisKarirImpian</a:t>
            </a:r>
            <a:endParaRPr b="1" i="0" sz="1100" u="none" cap="none" strike="noStrike">
              <a:solidFill>
                <a:srgbClr val="18919B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id="227" name="Google Shape;227;g3d2185845b3_0_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0175" y="4803796"/>
            <a:ext cx="558450" cy="262804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g3d2185845b3_0_86"/>
          <p:cNvSpPr txBox="1"/>
          <p:nvPr/>
        </p:nvSpPr>
        <p:spPr>
          <a:xfrm>
            <a:off x="109802" y="8191"/>
            <a:ext cx="8428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lang="en" sz="2200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Product</a:t>
            </a:r>
            <a:r>
              <a:rPr b="1" lang="en" sz="2200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 Performance</a:t>
            </a:r>
            <a:endParaRPr b="0" i="0" sz="2200" u="none" cap="none" strike="noStrike">
              <a:solidFill>
                <a:srgbClr val="18919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9" name="Google Shape;229;g3d2185845b3_0_86"/>
          <p:cNvSpPr txBox="1"/>
          <p:nvPr/>
        </p:nvSpPr>
        <p:spPr>
          <a:xfrm>
            <a:off x="422625" y="2893600"/>
            <a:ext cx="82620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-"/>
            </a:pPr>
            <a:r>
              <a:rPr b="1" lang="en" sz="1500">
                <a:solidFill>
                  <a:schemeClr val="dk2"/>
                </a:solidFill>
              </a:rPr>
              <a:t>Technology</a:t>
            </a:r>
            <a:r>
              <a:rPr lang="en" sz="1500">
                <a:solidFill>
                  <a:schemeClr val="dk2"/>
                </a:solidFill>
              </a:rPr>
              <a:t> has the most </a:t>
            </a:r>
            <a:r>
              <a:rPr b="1" lang="en" sz="1500">
                <a:solidFill>
                  <a:schemeClr val="dk2"/>
                </a:solidFill>
              </a:rPr>
              <a:t>highest</a:t>
            </a:r>
            <a:r>
              <a:rPr b="1" lang="en" sz="1500">
                <a:solidFill>
                  <a:schemeClr val="dk2"/>
                </a:solidFill>
              </a:rPr>
              <a:t> sales and </a:t>
            </a:r>
            <a:r>
              <a:rPr b="1" lang="en" sz="1500">
                <a:solidFill>
                  <a:schemeClr val="dk2"/>
                </a:solidFill>
              </a:rPr>
              <a:t>profit</a:t>
            </a:r>
            <a:r>
              <a:rPr lang="en" sz="1500">
                <a:solidFill>
                  <a:schemeClr val="dk2"/>
                </a:solidFill>
              </a:rPr>
              <a:t> performance than other categories.</a:t>
            </a:r>
            <a:endParaRPr sz="1500">
              <a:solidFill>
                <a:schemeClr val="dk2"/>
              </a:solidFill>
            </a:endParaRPr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-"/>
            </a:pPr>
            <a:r>
              <a:rPr lang="en" sz="1500">
                <a:solidFill>
                  <a:schemeClr val="dk2"/>
                </a:solidFill>
              </a:rPr>
              <a:t>looking in more detail at the sub-category level, products such as </a:t>
            </a:r>
            <a:r>
              <a:rPr b="1" lang="en" sz="1500">
                <a:solidFill>
                  <a:schemeClr val="dk2"/>
                </a:solidFill>
              </a:rPr>
              <a:t>Copiers and Phones</a:t>
            </a:r>
            <a:r>
              <a:rPr lang="en" sz="1500">
                <a:solidFill>
                  <a:schemeClr val="dk2"/>
                </a:solidFill>
              </a:rPr>
              <a:t> are the </a:t>
            </a:r>
            <a:r>
              <a:rPr b="1" lang="en" sz="1500">
                <a:solidFill>
                  <a:schemeClr val="dk2"/>
                </a:solidFill>
              </a:rPr>
              <a:t>main profit contributors</a:t>
            </a:r>
            <a:r>
              <a:rPr lang="en" sz="1500">
                <a:solidFill>
                  <a:schemeClr val="dk2"/>
                </a:solidFill>
              </a:rPr>
              <a:t>.</a:t>
            </a:r>
            <a:endParaRPr sz="1500">
              <a:solidFill>
                <a:schemeClr val="dk2"/>
              </a:solidFill>
            </a:endParaRPr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-"/>
            </a:pPr>
            <a:r>
              <a:rPr lang="en" sz="1500">
                <a:solidFill>
                  <a:schemeClr val="dk2"/>
                </a:solidFill>
              </a:rPr>
              <a:t>Not all products provide the same business value, </a:t>
            </a:r>
            <a:r>
              <a:rPr b="1" lang="en" sz="1500">
                <a:solidFill>
                  <a:schemeClr val="dk2"/>
                </a:solidFill>
              </a:rPr>
              <a:t>making product strategy a critical factor in increasing profits</a:t>
            </a:r>
            <a:r>
              <a:rPr lang="en" sz="1500">
                <a:solidFill>
                  <a:schemeClr val="dk2"/>
                </a:solidFill>
              </a:rPr>
              <a:t>.</a:t>
            </a:r>
            <a:endParaRPr sz="1500">
              <a:solidFill>
                <a:schemeClr val="dk2"/>
              </a:solidFill>
            </a:endParaRPr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-"/>
            </a:pPr>
            <a:r>
              <a:rPr b="1" lang="en" sz="1500">
                <a:solidFill>
                  <a:schemeClr val="dk2"/>
                </a:solidFill>
              </a:rPr>
              <a:t>Focusing on high-margin products</a:t>
            </a:r>
            <a:r>
              <a:rPr lang="en" sz="1500">
                <a:solidFill>
                  <a:schemeClr val="dk2"/>
                </a:solidFill>
              </a:rPr>
              <a:t> has the potential to increase profits </a:t>
            </a:r>
            <a:r>
              <a:rPr b="1" lang="en" sz="1500">
                <a:solidFill>
                  <a:schemeClr val="dk2"/>
                </a:solidFill>
              </a:rPr>
              <a:t>without significantly increasing sales volume</a:t>
            </a:r>
            <a:r>
              <a:rPr lang="en" sz="1500">
                <a:solidFill>
                  <a:schemeClr val="dk2"/>
                </a:solidFill>
              </a:rPr>
              <a:t>.</a:t>
            </a:r>
            <a:endParaRPr sz="1500">
              <a:solidFill>
                <a:schemeClr val="dk2"/>
              </a:solidFill>
            </a:endParaRPr>
          </a:p>
        </p:txBody>
      </p:sp>
      <p:pic>
        <p:nvPicPr>
          <p:cNvPr id="230" name="Google Shape;230;g3d2185845b3_0_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42821" y="480975"/>
            <a:ext cx="1949700" cy="2227500"/>
          </a:xfrm>
          <a:prstGeom prst="roundRect">
            <a:avLst>
              <a:gd fmla="val 8851" name="adj"/>
            </a:avLst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231" name="Google Shape;231;g3d2185845b3_0_8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96321" y="480975"/>
            <a:ext cx="3832200" cy="2314500"/>
          </a:xfrm>
          <a:prstGeom prst="roundRect">
            <a:avLst>
              <a:gd fmla="val 5645" name="adj"/>
            </a:avLst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232" name="Google Shape;232;g3d2185845b3_0_86"/>
          <p:cNvSpPr/>
          <p:nvPr/>
        </p:nvSpPr>
        <p:spPr>
          <a:xfrm>
            <a:off x="4271325" y="884675"/>
            <a:ext cx="3326400" cy="3825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3d2185845b3_0_86"/>
          <p:cNvSpPr/>
          <p:nvPr/>
        </p:nvSpPr>
        <p:spPr>
          <a:xfrm>
            <a:off x="1940600" y="661950"/>
            <a:ext cx="627900" cy="7524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3d2185845b3_0_86"/>
          <p:cNvSpPr/>
          <p:nvPr/>
        </p:nvSpPr>
        <p:spPr>
          <a:xfrm>
            <a:off x="1940600" y="1777775"/>
            <a:ext cx="627900" cy="9306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d2185845b3_0_118"/>
          <p:cNvSpPr txBox="1"/>
          <p:nvPr/>
        </p:nvSpPr>
        <p:spPr>
          <a:xfrm>
            <a:off x="256352" y="480978"/>
            <a:ext cx="842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0" name="Google Shape;240;g3d2185845b3_0_118"/>
          <p:cNvGrpSpPr/>
          <p:nvPr/>
        </p:nvGrpSpPr>
        <p:grpSpPr>
          <a:xfrm>
            <a:off x="3854590" y="4740703"/>
            <a:ext cx="1434817" cy="389011"/>
            <a:chOff x="3248325" y="4588800"/>
            <a:chExt cx="2045939" cy="554700"/>
          </a:xfrm>
        </p:grpSpPr>
        <p:sp>
          <p:nvSpPr>
            <p:cNvPr id="241" name="Google Shape;241;g3d2185845b3_0_118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g3d2185845b3_0_118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g3d2185845b3_0_118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4" name="Google Shape;244;g3d2185845b3_0_118"/>
          <p:cNvGrpSpPr/>
          <p:nvPr/>
        </p:nvGrpSpPr>
        <p:grpSpPr>
          <a:xfrm>
            <a:off x="8325085" y="65154"/>
            <a:ext cx="763768" cy="752531"/>
            <a:chOff x="695950" y="3458000"/>
            <a:chExt cx="966550" cy="952450"/>
          </a:xfrm>
        </p:grpSpPr>
        <p:sp>
          <p:nvSpPr>
            <p:cNvPr id="245" name="Google Shape;245;g3d2185845b3_0_118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g3d2185845b3_0_118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g3d2185845b3_0_118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g3d2185845b3_0_118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g3d2185845b3_0_118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g3d2185845b3_0_118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g3d2185845b3_0_118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g3d2185845b3_0_118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g3d2185845b3_0_118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4" name="Google Shape;254;g3d2185845b3_0_118"/>
          <p:cNvSpPr/>
          <p:nvPr/>
        </p:nvSpPr>
        <p:spPr>
          <a:xfrm rot="10800000">
            <a:off x="-484348" y="2102678"/>
            <a:ext cx="740700" cy="692700"/>
          </a:xfrm>
          <a:prstGeom prst="pie">
            <a:avLst>
              <a:gd fmla="val 5441529" name="adj1"/>
              <a:gd fmla="val 1620000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g3d2185845b3_0_118"/>
          <p:cNvSpPr txBox="1"/>
          <p:nvPr/>
        </p:nvSpPr>
        <p:spPr>
          <a:xfrm>
            <a:off x="212775" y="4649600"/>
            <a:ext cx="1434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8919B"/>
                </a:solidFill>
                <a:latin typeface="Caveat"/>
                <a:ea typeface="Caveat"/>
                <a:cs typeface="Caveat"/>
                <a:sym typeface="Caveat"/>
              </a:rPr>
              <a:t>#RintisKarirImpian</a:t>
            </a:r>
            <a:endParaRPr b="1" i="0" sz="1100" u="none" cap="none" strike="noStrike">
              <a:solidFill>
                <a:srgbClr val="18919B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id="256" name="Google Shape;256;g3d2185845b3_0_1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0175" y="4803796"/>
            <a:ext cx="558450" cy="262804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g3d2185845b3_0_118"/>
          <p:cNvSpPr txBox="1"/>
          <p:nvPr/>
        </p:nvSpPr>
        <p:spPr>
          <a:xfrm>
            <a:off x="109802" y="8191"/>
            <a:ext cx="8428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lang="en" sz="2200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Dashboard</a:t>
            </a:r>
            <a:endParaRPr b="0" i="0" sz="2200" u="none" cap="none" strike="noStrike">
              <a:solidFill>
                <a:srgbClr val="18919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58" name="Google Shape;258;g3d2185845b3_0_1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08875" y="480975"/>
            <a:ext cx="5747318" cy="432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d2185845b3_0_143"/>
          <p:cNvSpPr txBox="1"/>
          <p:nvPr/>
        </p:nvSpPr>
        <p:spPr>
          <a:xfrm>
            <a:off x="256352" y="480978"/>
            <a:ext cx="842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4" name="Google Shape;264;g3d2185845b3_0_143"/>
          <p:cNvGrpSpPr/>
          <p:nvPr/>
        </p:nvGrpSpPr>
        <p:grpSpPr>
          <a:xfrm>
            <a:off x="3854590" y="4740703"/>
            <a:ext cx="1434817" cy="389011"/>
            <a:chOff x="3248325" y="4588800"/>
            <a:chExt cx="2045939" cy="554700"/>
          </a:xfrm>
        </p:grpSpPr>
        <p:sp>
          <p:nvSpPr>
            <p:cNvPr id="265" name="Google Shape;265;g3d2185845b3_0_143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g3d2185845b3_0_143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g3d2185845b3_0_143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8" name="Google Shape;268;g3d2185845b3_0_143"/>
          <p:cNvGrpSpPr/>
          <p:nvPr/>
        </p:nvGrpSpPr>
        <p:grpSpPr>
          <a:xfrm>
            <a:off x="8325085" y="65154"/>
            <a:ext cx="763768" cy="752531"/>
            <a:chOff x="695950" y="3458000"/>
            <a:chExt cx="966550" cy="952450"/>
          </a:xfrm>
        </p:grpSpPr>
        <p:sp>
          <p:nvSpPr>
            <p:cNvPr id="269" name="Google Shape;269;g3d2185845b3_0_143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g3d2185845b3_0_143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g3d2185845b3_0_143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g3d2185845b3_0_143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g3d2185845b3_0_143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g3d2185845b3_0_143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g3d2185845b3_0_143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g3d2185845b3_0_143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g3d2185845b3_0_143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8" name="Google Shape;278;g3d2185845b3_0_143"/>
          <p:cNvSpPr/>
          <p:nvPr/>
        </p:nvSpPr>
        <p:spPr>
          <a:xfrm rot="10800000">
            <a:off x="-484348" y="2102678"/>
            <a:ext cx="740700" cy="692700"/>
          </a:xfrm>
          <a:prstGeom prst="pie">
            <a:avLst>
              <a:gd fmla="val 5441529" name="adj1"/>
              <a:gd fmla="val 1620000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g3d2185845b3_0_143"/>
          <p:cNvSpPr txBox="1"/>
          <p:nvPr/>
        </p:nvSpPr>
        <p:spPr>
          <a:xfrm>
            <a:off x="212775" y="4649600"/>
            <a:ext cx="1434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8919B"/>
                </a:solidFill>
                <a:latin typeface="Caveat"/>
                <a:ea typeface="Caveat"/>
                <a:cs typeface="Caveat"/>
                <a:sym typeface="Caveat"/>
              </a:rPr>
              <a:t>#RintisKarirImpian</a:t>
            </a:r>
            <a:endParaRPr b="1" i="0" sz="1100" u="none" cap="none" strike="noStrike">
              <a:solidFill>
                <a:srgbClr val="18919B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id="280" name="Google Shape;280;g3d2185845b3_0_1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0175" y="4803796"/>
            <a:ext cx="558450" cy="262804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g3d2185845b3_0_143"/>
          <p:cNvSpPr txBox="1"/>
          <p:nvPr/>
        </p:nvSpPr>
        <p:spPr>
          <a:xfrm>
            <a:off x="109802" y="8191"/>
            <a:ext cx="8428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lang="en" sz="2200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Dashboard</a:t>
            </a:r>
            <a:endParaRPr b="0" i="0" sz="2200" u="none" cap="none" strike="noStrike">
              <a:solidFill>
                <a:srgbClr val="18919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82" name="Google Shape;282;g3d2185845b3_0_1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69575" y="452025"/>
            <a:ext cx="5709288" cy="429271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g3d2185845b3_0_143"/>
          <p:cNvSpPr/>
          <p:nvPr/>
        </p:nvSpPr>
        <p:spPr>
          <a:xfrm>
            <a:off x="3044625" y="4399775"/>
            <a:ext cx="3276000" cy="627000"/>
          </a:xfrm>
          <a:prstGeom prst="roundRect">
            <a:avLst>
              <a:gd fmla="val 16667" name="adj"/>
            </a:avLst>
          </a:prstGeom>
          <a:solidFill>
            <a:srgbClr val="06B0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https://lookerstudio.google.com/reporting/c2976ba7-6bb4-4854-aeae-02cfc922c8ad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