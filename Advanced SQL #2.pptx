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Caveat"/>
      <p:regular r:id="rId24"/>
      <p:bold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JOFl4oh0Vovfy1sxYBNzzHBv7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Cave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Caveat-bold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ac60642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ac60642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affc48a3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affc48a3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affc48a3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affc48a3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affc48a3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affc48a3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affc48a3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affc48a3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b13d17ef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b13d17e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b13d17ef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b13d17ef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b13d17ef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b13d17ef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b13d17ef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b13d17ef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b13d17ef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b13d17ef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b13d17ef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b13d17ef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https://docs.google.com/spreadsheets/d/1NnuHv9-_kUdmJLXkdxXDLNFmBleExwx_AEl6CCzu5QA/edit?usp=drive_lin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4" name="Google Shape;64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3" r="0" t="0"/>
            </a:stretch>
          </a:blipFill>
          <a:ln>
            <a:noFill/>
          </a:ln>
        </p:spPr>
      </p:sp>
      <p:sp>
        <p:nvSpPr>
          <p:cNvPr id="68" name="Google Shape;68;p1"/>
          <p:cNvSpPr txBox="1"/>
          <p:nvPr/>
        </p:nvSpPr>
        <p:spPr>
          <a:xfrm>
            <a:off x="3792125" y="1575500"/>
            <a:ext cx="51159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id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SQL For Data Analysis 2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id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Adin Nugroho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77" name="Google Shape;77;p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2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81" name="Google Shape;81;p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278025" y="454325"/>
            <a:ext cx="8462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d" sz="2800" u="none" cap="none" strike="noStrike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Petunjuk Pengerjaan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212775" y="1001700"/>
            <a:ext cx="8462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Dokumen ini memang tidak open access untuk edit, maka silahkan copy file ini lalu kerjakanlah pada device masing-masing, dengan cara klik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File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pada pojok kiri atas, pilih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Make a Copy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Setelah file berhasil di copy, ubah nama sesuai nama masing-masing.</a:t>
            </a: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Untuk mengerjakan, perhatikan petunjuk dibawah ini:</a:t>
            </a:r>
            <a:endParaRPr b="1" i="0" sz="1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Jawablah masing-masing pertanyaan di slide selanjutnya berdasarkan pengetahuanmu dan berdasarkan apa yang kamu pahami pada materi tiap sesi.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pengaturan akses file sebagai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Publik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namun cukup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View Only 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agar tugas dapat dicek oleh Class Assistant.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Silahkan kirim link sheet mini task berikut di form pengumpulan mini task yang sudah tersedia di </a:t>
            </a:r>
            <a:r>
              <a:rPr b="1" i="0" lang="id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To Do List bootcamp Data Analysis batch 26.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pekerjaanmu di LinkedIn dan tag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@MySkill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juga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Class Assistant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mendampingi serta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Tutor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mengajar di sesi kelas. Yang di upload boleh berupa file PPT, maupun screenshot dari file ini.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"/>
          <p:cNvGrpSpPr/>
          <p:nvPr/>
        </p:nvGrpSpPr>
        <p:grpSpPr>
          <a:xfrm>
            <a:off x="3854590" y="4740700"/>
            <a:ext cx="1434817" cy="389011"/>
            <a:chOff x="3248325" y="4588800"/>
            <a:chExt cx="2045939" cy="554700"/>
          </a:xfrm>
        </p:grpSpPr>
        <p:sp>
          <p:nvSpPr>
            <p:cNvPr id="99" name="Google Shape;99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3"/>
          <p:cNvGrpSpPr/>
          <p:nvPr/>
        </p:nvGrpSpPr>
        <p:grpSpPr>
          <a:xfrm>
            <a:off x="8325085" y="65157"/>
            <a:ext cx="763768" cy="752531"/>
            <a:chOff x="695950" y="3458000"/>
            <a:chExt cx="966550" cy="952450"/>
          </a:xfrm>
        </p:grpSpPr>
        <p:sp>
          <p:nvSpPr>
            <p:cNvPr id="103" name="Google Shape;103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>
            <p:ph idx="4294967295" type="title"/>
          </p:nvPr>
        </p:nvSpPr>
        <p:spPr>
          <a:xfrm>
            <a:off x="262450" y="1070050"/>
            <a:ext cx="85206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00">
                <a:solidFill>
                  <a:srgbClr val="18919B"/>
                </a:solidFill>
                <a:highlight>
                  <a:srgbClr val="FFFFFF"/>
                </a:highlight>
              </a:rPr>
              <a:t>SQL for Data Analysis 2</a:t>
            </a:r>
            <a:endParaRPr b="1" sz="1800">
              <a:solidFill>
                <a:srgbClr val="18919B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500"/>
              <a:buFont typeface="Roboto"/>
              <a:buChar char="●"/>
            </a:pPr>
            <a:r>
              <a:rPr lang="id" sz="1500">
                <a:solidFill>
                  <a:srgbClr val="18919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id" sz="1500">
                <a:solidFill>
                  <a:srgbClr val="18919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entukan kota mana yang memiliki revenue tertinggi</a:t>
            </a:r>
            <a:endParaRPr sz="1500">
              <a:solidFill>
                <a:srgbClr val="18919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500"/>
              <a:buFont typeface="Roboto"/>
              <a:buChar char="●"/>
            </a:pPr>
            <a:r>
              <a:rPr lang="id" sz="1500">
                <a:solidFill>
                  <a:srgbClr val="18919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Dari kota pada poin sebelumnya, hitung rata-rata spending per konsumen pada kota tersebut</a:t>
            </a:r>
            <a:endParaRPr sz="1500">
              <a:solidFill>
                <a:srgbClr val="18919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19B"/>
              </a:buClr>
              <a:buSzPts val="1500"/>
              <a:buFont typeface="Roboto"/>
              <a:buChar char="●"/>
            </a:pPr>
            <a:r>
              <a:rPr lang="id" sz="1500">
                <a:solidFill>
                  <a:srgbClr val="18919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Tampilkan tabel berisi nama nama konsumen pada poin pertama yang memiliki spending di atas rata-rata</a:t>
            </a:r>
            <a:endParaRPr sz="1500">
              <a:solidFill>
                <a:srgbClr val="18919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ac606421d_0_0"/>
          <p:cNvSpPr txBox="1"/>
          <p:nvPr>
            <p:ph type="ctrTitle"/>
          </p:nvPr>
        </p:nvSpPr>
        <p:spPr>
          <a:xfrm>
            <a:off x="311700" y="16857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1 - Tentukan kota mana yang memiliki revenue tertinggi</a:t>
            </a:r>
            <a:endParaRPr sz="2400"/>
          </a:p>
        </p:txBody>
      </p:sp>
      <p:sp>
        <p:nvSpPr>
          <p:cNvPr id="121" name="Google Shape;121;g3cac606421d_0_0"/>
          <p:cNvSpPr txBox="1"/>
          <p:nvPr>
            <p:ph type="ctrTitle"/>
          </p:nvPr>
        </p:nvSpPr>
        <p:spPr>
          <a:xfrm>
            <a:off x="445575" y="76197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>
                <a:solidFill>
                  <a:srgbClr val="FF0000"/>
                </a:solidFill>
              </a:rPr>
              <a:t>Query</a:t>
            </a:r>
            <a:endParaRPr sz="2400">
              <a:solidFill>
                <a:srgbClr val="FF0000"/>
              </a:solidFill>
            </a:endParaRPr>
          </a:p>
        </p:txBody>
      </p:sp>
      <p:pic>
        <p:nvPicPr>
          <p:cNvPr id="122" name="Google Shape;122;g3cac606421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650" y="2066200"/>
            <a:ext cx="5547825" cy="246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cac606421d_0_0"/>
          <p:cNvSpPr txBox="1"/>
          <p:nvPr/>
        </p:nvSpPr>
        <p:spPr>
          <a:xfrm>
            <a:off x="982650" y="1552388"/>
            <a:ext cx="344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step 1 - mengambil data yang diperlukan pada setiap tabel yang terpisah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24" name="Google Shape;124;g3cac606421d_0_0"/>
          <p:cNvCxnSpPr/>
          <p:nvPr/>
        </p:nvCxnSpPr>
        <p:spPr>
          <a:xfrm flipH="1" rot="10800000">
            <a:off x="2172675" y="2753000"/>
            <a:ext cx="4810500" cy="36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g3cac606421d_0_0"/>
          <p:cNvCxnSpPr/>
          <p:nvPr/>
        </p:nvCxnSpPr>
        <p:spPr>
          <a:xfrm flipH="1" rot="10800000">
            <a:off x="2648850" y="3391100"/>
            <a:ext cx="4325100" cy="207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g3cac606421d_0_0"/>
          <p:cNvCxnSpPr/>
          <p:nvPr/>
        </p:nvCxnSpPr>
        <p:spPr>
          <a:xfrm>
            <a:off x="5780050" y="4110125"/>
            <a:ext cx="1175400" cy="27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g3cac606421d_0_0"/>
          <p:cNvSpPr txBox="1"/>
          <p:nvPr/>
        </p:nvSpPr>
        <p:spPr>
          <a:xfrm>
            <a:off x="7037125" y="2426375"/>
            <a:ext cx="12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nama subquery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8" name="Google Shape;128;g3cac606421d_0_0"/>
          <p:cNvSpPr txBox="1"/>
          <p:nvPr/>
        </p:nvSpPr>
        <p:spPr>
          <a:xfrm>
            <a:off x="7135475" y="3124400"/>
            <a:ext cx="129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data yang diperlukan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9" name="Google Shape;129;g3cac606421d_0_0"/>
          <p:cNvSpPr txBox="1"/>
          <p:nvPr/>
        </p:nvSpPr>
        <p:spPr>
          <a:xfrm>
            <a:off x="7135475" y="3926825"/>
            <a:ext cx="129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join antara tabel utama dan tabel lainnya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affc48a3e_0_9"/>
          <p:cNvSpPr txBox="1"/>
          <p:nvPr>
            <p:ph type="ctrTitle"/>
          </p:nvPr>
        </p:nvSpPr>
        <p:spPr>
          <a:xfrm>
            <a:off x="311700" y="16857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1 - Tentukan kota mana yang memiliki revenue tertinggi</a:t>
            </a:r>
            <a:endParaRPr sz="2400"/>
          </a:p>
        </p:txBody>
      </p:sp>
      <p:sp>
        <p:nvSpPr>
          <p:cNvPr id="135" name="Google Shape;135;g3caffc48a3e_0_9"/>
          <p:cNvSpPr txBox="1"/>
          <p:nvPr>
            <p:ph type="ctrTitle"/>
          </p:nvPr>
        </p:nvSpPr>
        <p:spPr>
          <a:xfrm>
            <a:off x="445575" y="76197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>
                <a:solidFill>
                  <a:srgbClr val="FF0000"/>
                </a:solidFill>
              </a:rPr>
              <a:t>Query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36" name="Google Shape;136;g3caffc48a3e_0_9"/>
          <p:cNvSpPr txBox="1"/>
          <p:nvPr/>
        </p:nvSpPr>
        <p:spPr>
          <a:xfrm>
            <a:off x="982650" y="1552388"/>
            <a:ext cx="34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Hasil Query Step 1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7" name="Google Shape;137;g3caffc48a3e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075" y="1952587"/>
            <a:ext cx="5979859" cy="2886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caffc48a3e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600" y="2571750"/>
            <a:ext cx="4178700" cy="17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caffc48a3e_0_23"/>
          <p:cNvSpPr txBox="1"/>
          <p:nvPr>
            <p:ph type="ctrTitle"/>
          </p:nvPr>
        </p:nvSpPr>
        <p:spPr>
          <a:xfrm>
            <a:off x="311700" y="16857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1 - Tentukan kota mana yang memiliki revenue tertinggi</a:t>
            </a:r>
            <a:endParaRPr sz="2400"/>
          </a:p>
        </p:txBody>
      </p:sp>
      <p:sp>
        <p:nvSpPr>
          <p:cNvPr id="144" name="Google Shape;144;g3caffc48a3e_0_23"/>
          <p:cNvSpPr txBox="1"/>
          <p:nvPr>
            <p:ph type="ctrTitle"/>
          </p:nvPr>
        </p:nvSpPr>
        <p:spPr>
          <a:xfrm>
            <a:off x="445575" y="76197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>
                <a:solidFill>
                  <a:srgbClr val="FF0000"/>
                </a:solidFill>
              </a:rPr>
              <a:t>Query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45" name="Google Shape;145;g3caffc48a3e_0_23"/>
          <p:cNvSpPr txBox="1"/>
          <p:nvPr/>
        </p:nvSpPr>
        <p:spPr>
          <a:xfrm>
            <a:off x="982650" y="1552388"/>
            <a:ext cx="344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step 2 - menentukan kota yang memiliki revenue tertinggi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46" name="Google Shape;146;g3caffc48a3e_0_23"/>
          <p:cNvCxnSpPr/>
          <p:nvPr/>
        </p:nvCxnSpPr>
        <p:spPr>
          <a:xfrm>
            <a:off x="4751200" y="3218750"/>
            <a:ext cx="2197200" cy="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g3caffc48a3e_0_23"/>
          <p:cNvCxnSpPr/>
          <p:nvPr/>
        </p:nvCxnSpPr>
        <p:spPr>
          <a:xfrm>
            <a:off x="2427250" y="3716425"/>
            <a:ext cx="4495800" cy="10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g3caffc48a3e_0_23"/>
          <p:cNvSpPr txBox="1"/>
          <p:nvPr/>
        </p:nvSpPr>
        <p:spPr>
          <a:xfrm>
            <a:off x="7032600" y="2768800"/>
            <a:ext cx="211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data yang diperlukan dan menghitung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revenue = sales * quantity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9" name="Google Shape;149;g3caffc48a3e_0_23"/>
          <p:cNvSpPr txBox="1"/>
          <p:nvPr/>
        </p:nvSpPr>
        <p:spPr>
          <a:xfrm>
            <a:off x="7032600" y="3571200"/>
            <a:ext cx="189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sumber subquery pertama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affc48a3e_0_37"/>
          <p:cNvSpPr txBox="1"/>
          <p:nvPr>
            <p:ph type="ctrTitle"/>
          </p:nvPr>
        </p:nvSpPr>
        <p:spPr>
          <a:xfrm>
            <a:off x="311700" y="16857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Soal 1 - Tentukan kota mana yang memiliki revenue tertinggi</a:t>
            </a:r>
            <a:endParaRPr sz="2400"/>
          </a:p>
        </p:txBody>
      </p:sp>
      <p:sp>
        <p:nvSpPr>
          <p:cNvPr id="155" name="Google Shape;155;g3caffc48a3e_0_37"/>
          <p:cNvSpPr txBox="1"/>
          <p:nvPr>
            <p:ph type="ctrTitle"/>
          </p:nvPr>
        </p:nvSpPr>
        <p:spPr>
          <a:xfrm>
            <a:off x="445575" y="76197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>
                <a:solidFill>
                  <a:srgbClr val="06B0A6"/>
                </a:solidFill>
              </a:rPr>
              <a:t>Result</a:t>
            </a:r>
            <a:endParaRPr sz="2400">
              <a:solidFill>
                <a:srgbClr val="06B0A6"/>
              </a:solidFill>
            </a:endParaRPr>
          </a:p>
        </p:txBody>
      </p:sp>
      <p:sp>
        <p:nvSpPr>
          <p:cNvPr id="156" name="Google Shape;156;g3caffc48a3e_0_37"/>
          <p:cNvSpPr txBox="1"/>
          <p:nvPr/>
        </p:nvSpPr>
        <p:spPr>
          <a:xfrm>
            <a:off x="4652950" y="2249613"/>
            <a:ext cx="3440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Insight: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  <a:highlight>
                  <a:srgbClr val="4A86E8"/>
                </a:highlight>
              </a:rPr>
              <a:t>New York City</a:t>
            </a:r>
            <a:r>
              <a:rPr lang="id">
                <a:solidFill>
                  <a:schemeClr val="dk1"/>
                </a:solidFill>
              </a:rPr>
              <a:t> merupakan kota dengan revenue tertinggi dengan total pendapatan sebesar </a:t>
            </a:r>
            <a:r>
              <a:rPr lang="id">
                <a:solidFill>
                  <a:schemeClr val="dk1"/>
                </a:solidFill>
                <a:highlight>
                  <a:srgbClr val="FF9900"/>
                </a:highlight>
              </a:rPr>
              <a:t>$915</a:t>
            </a:r>
            <a:endParaRPr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dengan poisi kedua yaitu Los Angeles, disusul oleh kota lain dengan selisih total revenue yang kompetitif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7" name="Google Shape;157;g3caffc48a3e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355375"/>
            <a:ext cx="3697100" cy="36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affc48a3e_0_49"/>
          <p:cNvSpPr txBox="1"/>
          <p:nvPr>
            <p:ph type="ctrTitle"/>
          </p:nvPr>
        </p:nvSpPr>
        <p:spPr>
          <a:xfrm>
            <a:off x="228400" y="50412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Soal 2 - </a:t>
            </a:r>
            <a:r>
              <a:rPr lang="id" sz="1800"/>
              <a:t>Dari kota pada poin sebelumnya, hitung rata-rata spending per konsumen pada kota tersebut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3" name="Google Shape;163;g3caffc48a3e_0_49"/>
          <p:cNvSpPr txBox="1"/>
          <p:nvPr>
            <p:ph type="ctrTitle"/>
          </p:nvPr>
        </p:nvSpPr>
        <p:spPr>
          <a:xfrm>
            <a:off x="3461950" y="81615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FF0000"/>
                </a:solidFill>
              </a:rPr>
              <a:t>Query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64" name="Google Shape;164;g3caffc48a3e_0_49"/>
          <p:cNvSpPr txBox="1"/>
          <p:nvPr>
            <p:ph type="ctrTitle"/>
          </p:nvPr>
        </p:nvSpPr>
        <p:spPr>
          <a:xfrm>
            <a:off x="1264600" y="119355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4A86E8"/>
                </a:solidFill>
              </a:rPr>
              <a:t>Step 1</a:t>
            </a:r>
            <a:endParaRPr sz="1800">
              <a:solidFill>
                <a:srgbClr val="4A86E8"/>
              </a:solidFill>
            </a:endParaRPr>
          </a:p>
        </p:txBody>
      </p:sp>
      <p:pic>
        <p:nvPicPr>
          <p:cNvPr id="165" name="Google Shape;165;g3caffc48a3e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00" y="1666975"/>
            <a:ext cx="4594325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caffc48a3e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875" y="1600200"/>
            <a:ext cx="4194226" cy="1943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caffc48a3e_0_49"/>
          <p:cNvSpPr txBox="1"/>
          <p:nvPr>
            <p:ph type="ctrTitle"/>
          </p:nvPr>
        </p:nvSpPr>
        <p:spPr>
          <a:xfrm>
            <a:off x="5886238" y="122280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4A86E8"/>
                </a:solidFill>
              </a:rPr>
              <a:t>Step 2</a:t>
            </a:r>
            <a:endParaRPr sz="18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b13d17eff_0_5"/>
          <p:cNvSpPr txBox="1"/>
          <p:nvPr>
            <p:ph type="ctrTitle"/>
          </p:nvPr>
        </p:nvSpPr>
        <p:spPr>
          <a:xfrm>
            <a:off x="228400" y="50412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Soal 2 - Dari kota pada poin sebelumnya, hitung rata-rata spending per konsumen pada kota tersebut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g3cb13d17eff_0_5"/>
          <p:cNvSpPr txBox="1"/>
          <p:nvPr>
            <p:ph type="ctrTitle"/>
          </p:nvPr>
        </p:nvSpPr>
        <p:spPr>
          <a:xfrm>
            <a:off x="3461950" y="81615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FF0000"/>
                </a:solidFill>
              </a:rPr>
              <a:t>Query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74" name="Google Shape;174;g3cb13d17eff_0_5"/>
          <p:cNvSpPr txBox="1"/>
          <p:nvPr>
            <p:ph type="ctrTitle"/>
          </p:nvPr>
        </p:nvSpPr>
        <p:spPr>
          <a:xfrm>
            <a:off x="3461950" y="119355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4A86E8"/>
                </a:solidFill>
              </a:rPr>
              <a:t>Step 3</a:t>
            </a:r>
            <a:endParaRPr sz="1800">
              <a:solidFill>
                <a:srgbClr val="4A86E8"/>
              </a:solidFill>
            </a:endParaRPr>
          </a:p>
        </p:txBody>
      </p:sp>
      <p:pic>
        <p:nvPicPr>
          <p:cNvPr id="175" name="Google Shape;175;g3cb13d17eff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600" y="1570950"/>
            <a:ext cx="792480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b13d17eff_0_15"/>
          <p:cNvSpPr txBox="1"/>
          <p:nvPr>
            <p:ph type="ctrTitle"/>
          </p:nvPr>
        </p:nvSpPr>
        <p:spPr>
          <a:xfrm>
            <a:off x="228400" y="50412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Soal 2 - Dari kota pada poin sebelumnya, hitung rata-rata spending per konsumen pada kota tersebut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g3cb13d17eff_0_15"/>
          <p:cNvSpPr txBox="1"/>
          <p:nvPr>
            <p:ph type="ctrTitle"/>
          </p:nvPr>
        </p:nvSpPr>
        <p:spPr>
          <a:xfrm>
            <a:off x="3461950" y="1001175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06B0A6"/>
                </a:solidFill>
              </a:rPr>
              <a:t>Result</a:t>
            </a:r>
            <a:endParaRPr sz="1800">
              <a:solidFill>
                <a:srgbClr val="06B0A6"/>
              </a:solidFill>
            </a:endParaRPr>
          </a:p>
        </p:txBody>
      </p:sp>
      <p:pic>
        <p:nvPicPr>
          <p:cNvPr id="182" name="Google Shape;182;g3cb13d17eff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00" y="1873250"/>
            <a:ext cx="466725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cb13d17eff_0_15"/>
          <p:cNvSpPr txBox="1"/>
          <p:nvPr/>
        </p:nvSpPr>
        <p:spPr>
          <a:xfrm>
            <a:off x="5402250" y="2089913"/>
            <a:ext cx="3440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Insight: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dengan menempatkan sebagai kota dengan </a:t>
            </a:r>
            <a:r>
              <a:rPr lang="id">
                <a:solidFill>
                  <a:schemeClr val="dk1"/>
                </a:solidFill>
                <a:highlight>
                  <a:schemeClr val="accent6"/>
                </a:highlight>
              </a:rPr>
              <a:t>revenue tertinggi</a:t>
            </a:r>
            <a:r>
              <a:rPr lang="id">
                <a:solidFill>
                  <a:schemeClr val="dk1"/>
                </a:solidFill>
              </a:rPr>
              <a:t>, customer di New York City menghabiskan rata-rata </a:t>
            </a:r>
            <a:r>
              <a:rPr lang="id">
                <a:solidFill>
                  <a:schemeClr val="dk1"/>
                </a:solidFill>
                <a:highlight>
                  <a:srgbClr val="FF00FF"/>
                </a:highlight>
              </a:rPr>
              <a:t>sebesar $722</a:t>
            </a:r>
            <a:r>
              <a:rPr lang="id">
                <a:solidFill>
                  <a:schemeClr val="dk1"/>
                </a:solidFill>
              </a:rPr>
              <a:t> dalam berbelanja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b13d17eff_0_25"/>
          <p:cNvSpPr txBox="1"/>
          <p:nvPr>
            <p:ph type="ctrTitle"/>
          </p:nvPr>
        </p:nvSpPr>
        <p:spPr>
          <a:xfrm>
            <a:off x="228400" y="50412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Soal 3 - </a:t>
            </a:r>
            <a:r>
              <a:rPr lang="id" sz="1800"/>
              <a:t>Tampilkan tabel berisi nama nama konsumen pada poin pertama yang memiliki spending di atas rata-rata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" name="Google Shape;189;g3cb13d17eff_0_25"/>
          <p:cNvSpPr txBox="1"/>
          <p:nvPr>
            <p:ph type="ctrTitle"/>
          </p:nvPr>
        </p:nvSpPr>
        <p:spPr>
          <a:xfrm>
            <a:off x="3461950" y="81615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FF0000"/>
                </a:solidFill>
              </a:rPr>
              <a:t>Query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190" name="Google Shape;190;g3cb13d17eff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00" y="1678975"/>
            <a:ext cx="6600825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cb13d17eff_0_25"/>
          <p:cNvSpPr txBox="1"/>
          <p:nvPr>
            <p:ph type="ctrTitle"/>
          </p:nvPr>
        </p:nvSpPr>
        <p:spPr>
          <a:xfrm>
            <a:off x="274750" y="119955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4A86E8"/>
                </a:solidFill>
              </a:rPr>
              <a:t>Step 1</a:t>
            </a:r>
            <a:endParaRPr sz="1800">
              <a:solidFill>
                <a:srgbClr val="4A86E8"/>
              </a:solidFill>
            </a:endParaRPr>
          </a:p>
        </p:txBody>
      </p:sp>
      <p:cxnSp>
        <p:nvCxnSpPr>
          <p:cNvPr id="192" name="Google Shape;192;g3cb13d17eff_0_25"/>
          <p:cNvCxnSpPr/>
          <p:nvPr/>
        </p:nvCxnSpPr>
        <p:spPr>
          <a:xfrm>
            <a:off x="3461950" y="4086450"/>
            <a:ext cx="4004700" cy="23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g3cb13d17eff_0_25"/>
          <p:cNvSpPr txBox="1"/>
          <p:nvPr>
            <p:ph type="ctrTitle"/>
          </p:nvPr>
        </p:nvSpPr>
        <p:spPr>
          <a:xfrm>
            <a:off x="7512900" y="4355500"/>
            <a:ext cx="15354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d" sz="1420"/>
              <a:t>gunakan filter kota di awal pengambilan data</a:t>
            </a:r>
            <a:endParaRPr sz="14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b13d17eff_0_36"/>
          <p:cNvSpPr txBox="1"/>
          <p:nvPr>
            <p:ph type="ctrTitle"/>
          </p:nvPr>
        </p:nvSpPr>
        <p:spPr>
          <a:xfrm>
            <a:off x="228400" y="50412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Soal 3 - Tampilkan tabel berisi nama nama konsumen pada poin pertama yang memiliki spending di atas rata-rata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9" name="Google Shape;199;g3cb13d17eff_0_36"/>
          <p:cNvSpPr txBox="1"/>
          <p:nvPr>
            <p:ph type="ctrTitle"/>
          </p:nvPr>
        </p:nvSpPr>
        <p:spPr>
          <a:xfrm>
            <a:off x="3461950" y="81615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FF0000"/>
                </a:solidFill>
              </a:rPr>
              <a:t>Query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0" name="Google Shape;200;g3cb13d17eff_0_36"/>
          <p:cNvSpPr txBox="1"/>
          <p:nvPr>
            <p:ph type="ctrTitle"/>
          </p:nvPr>
        </p:nvSpPr>
        <p:spPr>
          <a:xfrm>
            <a:off x="228400" y="136900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4A86E8"/>
                </a:solidFill>
              </a:rPr>
              <a:t>Step 2</a:t>
            </a:r>
            <a:endParaRPr sz="1800">
              <a:solidFill>
                <a:srgbClr val="4A86E8"/>
              </a:solidFill>
            </a:endParaRPr>
          </a:p>
        </p:txBody>
      </p:sp>
      <p:pic>
        <p:nvPicPr>
          <p:cNvPr id="201" name="Google Shape;201;g3cb13d17eff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75" y="1746400"/>
            <a:ext cx="620077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b13d17eff_0_46"/>
          <p:cNvSpPr txBox="1"/>
          <p:nvPr>
            <p:ph type="ctrTitle"/>
          </p:nvPr>
        </p:nvSpPr>
        <p:spPr>
          <a:xfrm>
            <a:off x="228400" y="50412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Soal 3 - Tampilkan tabel berisi nama nama konsumen pada poin pertama yang memiliki spending di atas rata-rata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" name="Google Shape;207;g3cb13d17eff_0_46"/>
          <p:cNvSpPr txBox="1"/>
          <p:nvPr>
            <p:ph type="ctrTitle"/>
          </p:nvPr>
        </p:nvSpPr>
        <p:spPr>
          <a:xfrm>
            <a:off x="3461950" y="81615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FF0000"/>
                </a:solidFill>
              </a:rPr>
              <a:t>Query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8" name="Google Shape;208;g3cb13d17eff_0_46"/>
          <p:cNvSpPr txBox="1"/>
          <p:nvPr>
            <p:ph type="ctrTitle"/>
          </p:nvPr>
        </p:nvSpPr>
        <p:spPr>
          <a:xfrm>
            <a:off x="228400" y="1369000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4A86E8"/>
                </a:solidFill>
              </a:rPr>
              <a:t>Step 3</a:t>
            </a:r>
            <a:endParaRPr sz="1800">
              <a:solidFill>
                <a:srgbClr val="4A86E8"/>
              </a:solidFill>
            </a:endParaRPr>
          </a:p>
        </p:txBody>
      </p:sp>
      <p:pic>
        <p:nvPicPr>
          <p:cNvPr id="209" name="Google Shape;209;g3cb13d17eff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50" y="1788075"/>
            <a:ext cx="7350925" cy="26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b13d17eff_0_54"/>
          <p:cNvSpPr txBox="1"/>
          <p:nvPr>
            <p:ph type="ctrTitle"/>
          </p:nvPr>
        </p:nvSpPr>
        <p:spPr>
          <a:xfrm>
            <a:off x="228400" y="504125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Soal 3 - Tampilkan tabel berisi nama nama konsumen pada poin pertama yang memiliki spending di atas rata-rata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5" name="Google Shape;215;g3cb13d17eff_0_54"/>
          <p:cNvSpPr txBox="1"/>
          <p:nvPr>
            <p:ph type="ctrTitle"/>
          </p:nvPr>
        </p:nvSpPr>
        <p:spPr>
          <a:xfrm>
            <a:off x="3461950" y="1097525"/>
            <a:ext cx="2053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>
                <a:solidFill>
                  <a:srgbClr val="06B0A6"/>
                </a:solidFill>
              </a:rPr>
              <a:t>Result</a:t>
            </a:r>
            <a:endParaRPr sz="1800">
              <a:solidFill>
                <a:srgbClr val="06B0A6"/>
              </a:solidFill>
            </a:endParaRPr>
          </a:p>
        </p:txBody>
      </p:sp>
      <p:pic>
        <p:nvPicPr>
          <p:cNvPr id="216" name="Google Shape;216;g3cb13d17eff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50" y="1938800"/>
            <a:ext cx="459105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cb13d17eff_0_54"/>
          <p:cNvSpPr txBox="1"/>
          <p:nvPr/>
        </p:nvSpPr>
        <p:spPr>
          <a:xfrm>
            <a:off x="5082350" y="2007438"/>
            <a:ext cx="3440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Insight: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Terdapat </a:t>
            </a:r>
            <a:r>
              <a:rPr lang="id">
                <a:solidFill>
                  <a:schemeClr val="dk1"/>
                </a:solidFill>
                <a:highlight>
                  <a:srgbClr val="FF9900"/>
                </a:highlight>
              </a:rPr>
              <a:t>94 data nama customer</a:t>
            </a:r>
            <a:r>
              <a:rPr lang="id">
                <a:solidFill>
                  <a:schemeClr val="dk1"/>
                </a:solidFill>
              </a:rPr>
              <a:t> di new york </a:t>
            </a:r>
            <a:r>
              <a:rPr lang="id">
                <a:solidFill>
                  <a:schemeClr val="dk1"/>
                </a:solidFill>
                <a:highlight>
                  <a:srgbClr val="93C47D"/>
                </a:highlight>
              </a:rPr>
              <a:t>dengan rata-rata spending di atas rata-rata</a:t>
            </a:r>
            <a:r>
              <a:rPr lang="id">
                <a:solidFill>
                  <a:schemeClr val="dk1"/>
                </a:solidFill>
              </a:rPr>
              <a:t> spending di seluruh kota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</a:rPr>
              <a:t>(&lt; $722).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chemeClr val="dk1"/>
                </a:solidFill>
                <a:highlight>
                  <a:srgbClr val="00FFFF"/>
                </a:highlight>
              </a:rPr>
              <a:t>rata-rata spending tertinggi</a:t>
            </a:r>
            <a:r>
              <a:rPr lang="id">
                <a:solidFill>
                  <a:schemeClr val="dk1"/>
                </a:solidFill>
              </a:rPr>
              <a:t> diperoleh dari Tom Ashbrook dengan rata-rata pengeluaran sebesar </a:t>
            </a:r>
            <a:r>
              <a:rPr lang="id">
                <a:solidFill>
                  <a:schemeClr val="dk1"/>
                </a:solidFill>
                <a:highlight>
                  <a:srgbClr val="FF00FF"/>
                </a:highlight>
              </a:rPr>
              <a:t>$13,723</a:t>
            </a:r>
            <a:endParaRPr>
              <a:solidFill>
                <a:schemeClr val="dk1"/>
              </a:solidFill>
              <a:highlight>
                <a:srgbClr val="FF00FF"/>
              </a:highlight>
            </a:endParaRPr>
          </a:p>
        </p:txBody>
      </p:sp>
      <p:sp>
        <p:nvSpPr>
          <p:cNvPr id="218" name="Google Shape;218;g3cb13d17eff_0_54"/>
          <p:cNvSpPr txBox="1"/>
          <p:nvPr>
            <p:ph type="ctrTitle"/>
          </p:nvPr>
        </p:nvSpPr>
        <p:spPr>
          <a:xfrm>
            <a:off x="3309275" y="4186700"/>
            <a:ext cx="1432500" cy="37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Cont…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