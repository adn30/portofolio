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Caveat"/>
      <p:regular r:id="rId17"/>
      <p:bold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icy3Rl76yR/I9WyziyGEiNQsPx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Caveat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Cave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8145cdd1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c8145cdd1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8145cdd1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c8145cdd1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8145cdd1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c8145cdd1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title"/>
          </p:nvPr>
        </p:nvSpPr>
        <p:spPr>
          <a:xfrm>
            <a:off x="438150" y="1609089"/>
            <a:ext cx="8267700" cy="1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388937" y="1603438"/>
            <a:ext cx="8366100" cy="17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jpg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hyperlink" Target="https://docs.google.com/spreadsheets/d/1NnuHv9-_kUdmJLXkdxXDLNFmBleExwx_AEl6CCzu5QA/edit?usp=drive_link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B0A6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/>
          <p:nvPr/>
        </p:nvSpPr>
        <p:spPr>
          <a:xfrm>
            <a:off x="2464027" y="1138664"/>
            <a:ext cx="4050536" cy="3979652"/>
          </a:xfrm>
          <a:custGeom>
            <a:rect b="b" l="l" r="r" t="t"/>
            <a:pathLst>
              <a:path extrusionOk="0" h="7959303" w="8101072">
                <a:moveTo>
                  <a:pt x="0" y="0"/>
                </a:moveTo>
                <a:lnTo>
                  <a:pt x="8101072" y="0"/>
                </a:lnTo>
                <a:lnTo>
                  <a:pt x="8101072" y="7959303"/>
                </a:lnTo>
                <a:lnTo>
                  <a:pt x="0" y="7959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" name="Google Shape;62;p1"/>
          <p:cNvSpPr/>
          <p:nvPr/>
        </p:nvSpPr>
        <p:spPr>
          <a:xfrm>
            <a:off x="-1486429" y="-2463857"/>
            <a:ext cx="6794500" cy="6794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FFFFF">
              <a:alpha val="6274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3851993" y="167243"/>
            <a:ext cx="922357" cy="404684"/>
          </a:xfrm>
          <a:custGeom>
            <a:rect b="b" l="l" r="r" t="t"/>
            <a:pathLst>
              <a:path extrusionOk="0" h="809368" w="1844714">
                <a:moveTo>
                  <a:pt x="0" y="0"/>
                </a:moveTo>
                <a:lnTo>
                  <a:pt x="1844714" y="0"/>
                </a:lnTo>
                <a:lnTo>
                  <a:pt x="1844714" y="809368"/>
                </a:lnTo>
                <a:lnTo>
                  <a:pt x="0" y="80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64" name="Google Shape;64;p1"/>
          <p:cNvCxnSpPr/>
          <p:nvPr/>
        </p:nvCxnSpPr>
        <p:spPr>
          <a:xfrm>
            <a:off x="4937899" y="230112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"/>
          <p:cNvSpPr txBox="1"/>
          <p:nvPr/>
        </p:nvSpPr>
        <p:spPr>
          <a:xfrm>
            <a:off x="5099824" y="205086"/>
            <a:ext cx="221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5">
            <a:alphaModFix/>
          </a:blip>
          <a:srcRect b="0" l="56640" r="0" t="0"/>
          <a:stretch/>
        </p:blipFill>
        <p:spPr>
          <a:xfrm>
            <a:off x="0" y="-169046"/>
            <a:ext cx="3560601" cy="548159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/>
          <p:cNvSpPr/>
          <p:nvPr/>
        </p:nvSpPr>
        <p:spPr>
          <a:xfrm>
            <a:off x="3560603" y="1449959"/>
            <a:ext cx="7654829" cy="2243582"/>
          </a:xfrm>
          <a:custGeom>
            <a:rect b="b" l="l" r="r" t="t"/>
            <a:pathLst>
              <a:path extrusionOk="0" h="4487164" w="15309658">
                <a:moveTo>
                  <a:pt x="0" y="0"/>
                </a:moveTo>
                <a:lnTo>
                  <a:pt x="15309658" y="0"/>
                </a:lnTo>
                <a:lnTo>
                  <a:pt x="15309658" y="4487164"/>
                </a:lnTo>
                <a:lnTo>
                  <a:pt x="0" y="4487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70000"/>
            </a:blip>
            <a:stretch>
              <a:fillRect b="0" l="-22113" r="0" t="0"/>
            </a:stretch>
          </a:blipFill>
          <a:ln>
            <a:noFill/>
          </a:ln>
        </p:spPr>
      </p:sp>
      <p:sp>
        <p:nvSpPr>
          <p:cNvPr id="68" name="Google Shape;68;p1"/>
          <p:cNvSpPr txBox="1"/>
          <p:nvPr/>
        </p:nvSpPr>
        <p:spPr>
          <a:xfrm>
            <a:off x="3792125" y="1991150"/>
            <a:ext cx="5115900" cy="10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id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SQL Basic 3</a:t>
            </a:r>
            <a:endParaRPr b="1" i="0" sz="5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3792125" y="799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Portofolio - Intensive Bootcamp</a:t>
            </a:r>
            <a:endParaRPr b="1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3792125" y="3812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Ow</a:t>
            </a:r>
            <a:r>
              <a:rPr b="1" lang="id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ner: Adin Nugroho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3792125" y="441275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d" sz="1400" u="none" cap="none" strike="noStrike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Build your skill and portfolio via myskill.id/bootcamp</a:t>
            </a:r>
            <a:endParaRPr b="0" i="0" sz="1400" u="none" cap="none" strike="noStrik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2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77" name="Google Shape;77;p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" name="Google Shape;80;p2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81" name="Google Shape;81;p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2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278025" y="454325"/>
            <a:ext cx="8462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d" sz="2800" u="none" cap="none" strike="noStrike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Petunjuk Pengerjaan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212775" y="1001700"/>
            <a:ext cx="8462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Dokumen ini memang tidak open access untuk edit, maka silahkan copy file ini lalu kerjakanlah pada device masing-masing, dengan cara klik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File</a:t>
            </a: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pada pojok kiri atas, pilih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Make a Copy</a:t>
            </a: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Setelah file berhasil di copy, ubah nama sesuai nama masing-masing.</a:t>
            </a:r>
            <a:b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Untuk mengerjakan, perhatikan petunjuk dibawah ini:</a:t>
            </a:r>
            <a:endParaRPr b="1" i="0" sz="1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Jawablah masing-masing pertanyaan di slide selanjutnya berdasarkan pengetahuanmu dan berdasarkan apa yang kamu pahami pada materi tiap sesi.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pengaturan akses file sebagai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Publik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namun cukup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View Only 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agar tugas dapat dicek oleh Class Assistant.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Silahkan kirim link sheet mini task berikut di form pengumpulan mini task yang sudah tersedia di</a:t>
            </a:r>
            <a:r>
              <a:rPr b="1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id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To Do List bootcamp Data Analysis batch 26.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Upload pekerjaanmu di LinkedIn dan tag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@MySkill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juga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Class Assistant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yang mendampingi serta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Tutor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yang mengajar di sesi kelas. Yang di upload boleh berupa file PPT, maupun screenshot dari file ini.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3"/>
          <p:cNvGrpSpPr/>
          <p:nvPr/>
        </p:nvGrpSpPr>
        <p:grpSpPr>
          <a:xfrm>
            <a:off x="3854590" y="4740700"/>
            <a:ext cx="1434817" cy="389011"/>
            <a:chOff x="3248325" y="4588800"/>
            <a:chExt cx="2045939" cy="554700"/>
          </a:xfrm>
        </p:grpSpPr>
        <p:sp>
          <p:nvSpPr>
            <p:cNvPr id="99" name="Google Shape;99;p3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3"/>
          <p:cNvGrpSpPr/>
          <p:nvPr/>
        </p:nvGrpSpPr>
        <p:grpSpPr>
          <a:xfrm>
            <a:off x="8325085" y="65157"/>
            <a:ext cx="763768" cy="752531"/>
            <a:chOff x="695950" y="3458000"/>
            <a:chExt cx="966550" cy="952450"/>
          </a:xfrm>
        </p:grpSpPr>
        <p:sp>
          <p:nvSpPr>
            <p:cNvPr id="103" name="Google Shape;103;p3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3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>
            <p:ph type="ctr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1820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SQL Basic 3</a:t>
            </a:r>
            <a:endParaRPr b="1" sz="1820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3"/>
          <p:cNvSpPr txBox="1"/>
          <p:nvPr>
            <p:ph idx="1" type="subTitle"/>
          </p:nvPr>
        </p:nvSpPr>
        <p:spPr>
          <a:xfrm>
            <a:off x="359325" y="1928250"/>
            <a:ext cx="8139300" cy="138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Roboto"/>
              <a:buAutoNum type="arabicPeriod"/>
            </a:pPr>
            <a:r>
              <a:rPr lang="id" sz="17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Query transaksi yang merugikan saja yang terjadi di tahun 2018 hingga 2019 di kota Los Angeles. diurutkan dari kerugian terbesar</a:t>
            </a:r>
            <a:endParaRPr sz="17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7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Roboto"/>
              <a:buAutoNum type="arabicPeriod"/>
            </a:pPr>
            <a:r>
              <a:rPr lang="id" sz="17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Query transaksi yang untung saja yang terjadi pada Q1 2018 di kota Henderson. diurutkan dari keuntungan terbesar</a:t>
            </a:r>
            <a:endParaRPr sz="17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ctrTitle"/>
          </p:nvPr>
        </p:nvSpPr>
        <p:spPr>
          <a:xfrm>
            <a:off x="209950" y="152500"/>
            <a:ext cx="85206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16666"/>
              <a:buNone/>
            </a:pPr>
            <a:r>
              <a:rPr lang="id" sz="2400"/>
              <a:t>Soal 1 - </a:t>
            </a:r>
            <a:r>
              <a:rPr lang="id" sz="2400">
                <a:latin typeface="Roboto"/>
                <a:ea typeface="Roboto"/>
                <a:cs typeface="Roboto"/>
                <a:sym typeface="Roboto"/>
              </a:rPr>
              <a:t>Query transaksi yang merugikan saja yang terjadi di tahun 2018 hingga 2019 di kota Los Angeles. diurutkan dari kerugian terbesar</a:t>
            </a:r>
            <a:r>
              <a:rPr lang="id" sz="2400"/>
              <a:t> </a:t>
            </a:r>
            <a:endParaRPr sz="2400"/>
          </a:p>
        </p:txBody>
      </p:sp>
      <p:sp>
        <p:nvSpPr>
          <p:cNvPr id="122" name="Google Shape;122;p4"/>
          <p:cNvSpPr txBox="1"/>
          <p:nvPr>
            <p:ph idx="1" type="subTitle"/>
          </p:nvPr>
        </p:nvSpPr>
        <p:spPr>
          <a:xfrm>
            <a:off x="3755950" y="1204575"/>
            <a:ext cx="14286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2000">
                <a:solidFill>
                  <a:srgbClr val="FF0000"/>
                </a:solidFill>
              </a:rPr>
              <a:t>Query</a:t>
            </a:r>
            <a:endParaRPr sz="2000">
              <a:solidFill>
                <a:srgbClr val="FF0000"/>
              </a:solidFill>
            </a:endParaRPr>
          </a:p>
        </p:txBody>
      </p:sp>
      <p:pic>
        <p:nvPicPr>
          <p:cNvPr id="123" name="Google Shape;1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3350" y="1966325"/>
            <a:ext cx="5071776" cy="16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8145cdd17_0_1"/>
          <p:cNvSpPr txBox="1"/>
          <p:nvPr>
            <p:ph type="ctrTitle"/>
          </p:nvPr>
        </p:nvSpPr>
        <p:spPr>
          <a:xfrm>
            <a:off x="209950" y="152500"/>
            <a:ext cx="85206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16666"/>
              <a:buNone/>
            </a:pPr>
            <a:r>
              <a:rPr lang="id" sz="2400"/>
              <a:t>Soal 1 - </a:t>
            </a:r>
            <a:r>
              <a:rPr lang="id" sz="2400">
                <a:latin typeface="Roboto"/>
                <a:ea typeface="Roboto"/>
                <a:cs typeface="Roboto"/>
                <a:sym typeface="Roboto"/>
              </a:rPr>
              <a:t>Query transaksi yang merugikan saja yang terjadi di tahun 2018 hingga 2019 di kota Los Angeles. diurutkan dari kerugian terbesar</a:t>
            </a:r>
            <a:r>
              <a:rPr lang="id" sz="2400"/>
              <a:t> </a:t>
            </a:r>
            <a:endParaRPr sz="2400"/>
          </a:p>
        </p:txBody>
      </p:sp>
      <p:sp>
        <p:nvSpPr>
          <p:cNvPr id="129" name="Google Shape;129;g3c8145cdd17_0_1"/>
          <p:cNvSpPr txBox="1"/>
          <p:nvPr>
            <p:ph idx="1" type="subTitle"/>
          </p:nvPr>
        </p:nvSpPr>
        <p:spPr>
          <a:xfrm>
            <a:off x="3755950" y="1204575"/>
            <a:ext cx="14286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2000">
                <a:solidFill>
                  <a:schemeClr val="accent1"/>
                </a:solidFill>
              </a:rPr>
              <a:t>Result</a:t>
            </a:r>
            <a:endParaRPr sz="2000">
              <a:solidFill>
                <a:schemeClr val="accent1"/>
              </a:solidFill>
            </a:endParaRPr>
          </a:p>
        </p:txBody>
      </p:sp>
      <p:pic>
        <p:nvPicPr>
          <p:cNvPr id="130" name="Google Shape;130;g3c8145cdd17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200" y="1712175"/>
            <a:ext cx="7916824" cy="312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8145cdd17_0_8"/>
          <p:cNvSpPr txBox="1"/>
          <p:nvPr>
            <p:ph type="ctrTitle"/>
          </p:nvPr>
        </p:nvSpPr>
        <p:spPr>
          <a:xfrm>
            <a:off x="256225" y="217275"/>
            <a:ext cx="85206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d" sz="2400"/>
              <a:t>Soal 2 - </a:t>
            </a:r>
            <a:r>
              <a:rPr lang="id" sz="2400">
                <a:latin typeface="Roboto"/>
                <a:ea typeface="Roboto"/>
                <a:cs typeface="Roboto"/>
                <a:sym typeface="Roboto"/>
              </a:rPr>
              <a:t>Query transaksi yang untung saja yang terjadi pada Q1 2018 di kota Henderson. diurutkan dari keuntungan terbesar</a:t>
            </a:r>
            <a:r>
              <a:rPr lang="id" sz="2400"/>
              <a:t> </a:t>
            </a:r>
            <a:endParaRPr sz="2400"/>
          </a:p>
        </p:txBody>
      </p:sp>
      <p:sp>
        <p:nvSpPr>
          <p:cNvPr id="136" name="Google Shape;136;g3c8145cdd17_0_8"/>
          <p:cNvSpPr txBox="1"/>
          <p:nvPr>
            <p:ph idx="1" type="subTitle"/>
          </p:nvPr>
        </p:nvSpPr>
        <p:spPr>
          <a:xfrm>
            <a:off x="3755950" y="1204575"/>
            <a:ext cx="14286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2000">
                <a:solidFill>
                  <a:srgbClr val="FF0000"/>
                </a:solidFill>
              </a:rPr>
              <a:t>Query</a:t>
            </a:r>
            <a:endParaRPr sz="2000">
              <a:solidFill>
                <a:srgbClr val="FF0000"/>
              </a:solidFill>
            </a:endParaRPr>
          </a:p>
        </p:txBody>
      </p:sp>
      <p:pic>
        <p:nvPicPr>
          <p:cNvPr id="137" name="Google Shape;137;g3c8145cdd17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0900" y="2290325"/>
            <a:ext cx="6577650" cy="167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8145cdd17_0_15"/>
          <p:cNvSpPr txBox="1"/>
          <p:nvPr>
            <p:ph type="ctrTitle"/>
          </p:nvPr>
        </p:nvSpPr>
        <p:spPr>
          <a:xfrm>
            <a:off x="256225" y="217275"/>
            <a:ext cx="85206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d" sz="2400"/>
              <a:t>Soal 2 - </a:t>
            </a:r>
            <a:r>
              <a:rPr lang="id" sz="2400">
                <a:latin typeface="Roboto"/>
                <a:ea typeface="Roboto"/>
                <a:cs typeface="Roboto"/>
                <a:sym typeface="Roboto"/>
              </a:rPr>
              <a:t>Query transaksi yang untung saja yang terjadi pada Q1 2018 di kota Henderson. diurutkan dari keuntungan terbesar</a:t>
            </a:r>
            <a:r>
              <a:rPr lang="id" sz="2400"/>
              <a:t> </a:t>
            </a:r>
            <a:endParaRPr sz="2400"/>
          </a:p>
        </p:txBody>
      </p:sp>
      <p:sp>
        <p:nvSpPr>
          <p:cNvPr id="143" name="Google Shape;143;g3c8145cdd17_0_15"/>
          <p:cNvSpPr txBox="1"/>
          <p:nvPr>
            <p:ph idx="1" type="subTitle"/>
          </p:nvPr>
        </p:nvSpPr>
        <p:spPr>
          <a:xfrm>
            <a:off x="3755950" y="1204575"/>
            <a:ext cx="1428600" cy="507600"/>
          </a:xfrm>
          <a:prstGeom prst="rect">
            <a:avLst/>
          </a:prstGeom>
          <a:solidFill>
            <a:srgbClr val="FFFFFF">
              <a:alpha val="627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d" sz="2000">
                <a:solidFill>
                  <a:schemeClr val="accent1"/>
                </a:solidFill>
              </a:rPr>
              <a:t>Result</a:t>
            </a:r>
            <a:endParaRPr sz="2000">
              <a:solidFill>
                <a:schemeClr val="accent1"/>
              </a:solidFill>
            </a:endParaRPr>
          </a:p>
        </p:txBody>
      </p:sp>
      <p:pic>
        <p:nvPicPr>
          <p:cNvPr id="144" name="Google Shape;144;g3c8145cdd17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175" y="2012575"/>
            <a:ext cx="8839197" cy="133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