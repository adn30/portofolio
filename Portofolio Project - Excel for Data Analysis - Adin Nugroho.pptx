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0" r:id="rId5"/>
    <p:sldId id="261" r:id="rId6"/>
    <p:sldId id="263" r:id="rId7"/>
    <p:sldId id="274" r:id="rId8"/>
    <p:sldId id="266" r:id="rId9"/>
    <p:sldId id="267" r:id="rId10"/>
    <p:sldId id="269" r:id="rId11"/>
    <p:sldId id="270" r:id="rId12"/>
    <p:sldId id="271" r:id="rId13"/>
    <p:sldId id="272" r:id="rId14"/>
    <p:sldId id="273" r:id="rId15"/>
  </p:sldIdLst>
  <p:sldSz cx="18288000" cy="10287000"/>
  <p:notesSz cx="6858000" cy="9144000"/>
  <p:embeddedFontLst>
    <p:embeddedFont>
      <p:font typeface="DM Sans" pitchFamily="2" charset="0"/>
      <p:regular r:id="rId16"/>
    </p:embeddedFont>
    <p:embeddedFont>
      <p:font typeface="DM Sans Bold" charset="0"/>
      <p:regular r:id="rId17"/>
    </p:embeddedFont>
    <p:embeddedFont>
      <p:font typeface="Gotham" panose="02000604030000020004" pitchFamily="50" charset="0"/>
      <p:regular r:id="rId18"/>
      <p:bold r:id="rId19"/>
      <p:italic r:id="rId20"/>
    </p:embeddedFont>
    <p:embeddedFont>
      <p:font typeface="Gotham Bold" panose="02000803030000020004" pitchFamily="2" charset="0"/>
      <p:regular r:id="rId21"/>
      <p:bold r:id="rId22"/>
      <p:boldItalic r:id="rId23"/>
    </p:embeddedFont>
    <p:embeddedFont>
      <p:font typeface="Gotham Italics" panose="020B0604020202020204" charset="0"/>
      <p:regular r:id="rId24"/>
    </p:embeddedFont>
    <p:embeddedFont>
      <p:font typeface="Gotham Light Italics" panose="020B0604020202020204" charset="0"/>
      <p:regular r:id="rId25"/>
    </p:embeddedFont>
    <p:embeddedFont>
      <p:font typeface="Montserrat" panose="02000505000000020004" pitchFamily="2"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0" d="100"/>
          <a:sy n="50" d="100"/>
        </p:scale>
        <p:origin x="874"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1028700" y="2982478"/>
            <a:ext cx="11883157" cy="2533917"/>
          </a:xfrm>
          <a:prstGeom prst="rect">
            <a:avLst/>
          </a:prstGeom>
        </p:spPr>
        <p:txBody>
          <a:bodyPr lIns="0" tIns="0" rIns="0" bIns="0" rtlCol="0" anchor="t">
            <a:spAutoFit/>
          </a:bodyPr>
          <a:lstStyle/>
          <a:p>
            <a:pPr algn="l">
              <a:lnSpc>
                <a:spcPts val="9760"/>
              </a:lnSpc>
            </a:pPr>
            <a:r>
              <a:rPr lang="en-US" sz="9760" b="1">
                <a:gradFill>
                  <a:gsLst>
                    <a:gs pos="0">
                      <a:srgbClr val="FFFFFF">
                        <a:alpha val="100000"/>
                      </a:srgbClr>
                    </a:gs>
                    <a:gs pos="100000">
                      <a:srgbClr val="E3FAF9">
                        <a:alpha val="100000"/>
                      </a:srgbClr>
                    </a:gs>
                  </a:gsLst>
                  <a:path path="circle">
                    <a:fillToRect r="100000" b="100000"/>
                  </a:path>
                  <a:tileRect l="-100000" t="-100000"/>
                </a:gradFill>
                <a:latin typeface="DM Sans Bold"/>
                <a:ea typeface="DM Sans Bold"/>
                <a:cs typeface="DM Sans Bold"/>
                <a:sym typeface="DM Sans Bold"/>
              </a:rPr>
              <a:t>PORTOFOLIO</a:t>
            </a:r>
          </a:p>
          <a:p>
            <a:pPr algn="l">
              <a:lnSpc>
                <a:spcPts val="9760"/>
              </a:lnSpc>
            </a:pPr>
            <a:r>
              <a:rPr lang="en-US" sz="9760" b="1">
                <a:gradFill>
                  <a:gsLst>
                    <a:gs pos="0">
                      <a:srgbClr val="FFFFFF">
                        <a:alpha val="100000"/>
                      </a:srgbClr>
                    </a:gs>
                    <a:gs pos="100000">
                      <a:srgbClr val="E3FAF9">
                        <a:alpha val="100000"/>
                      </a:srgbClr>
                    </a:gs>
                  </a:gsLst>
                  <a:path path="circle">
                    <a:fillToRect r="100000" b="100000"/>
                  </a:path>
                  <a:tileRect l="-100000" t="-100000"/>
                </a:gradFill>
                <a:latin typeface="DM Sans Bold"/>
                <a:ea typeface="DM Sans Bold"/>
                <a:cs typeface="DM Sans Bold"/>
                <a:sym typeface="DM Sans Bold"/>
              </a:rPr>
              <a:t>PROJECT</a:t>
            </a:r>
          </a:p>
        </p:txBody>
      </p:sp>
      <p:sp>
        <p:nvSpPr>
          <p:cNvPr id="4" name="Freeform 4"/>
          <p:cNvSpPr/>
          <p:nvPr/>
        </p:nvSpPr>
        <p:spPr>
          <a:xfrm>
            <a:off x="6138703" y="4154186"/>
            <a:ext cx="12149297" cy="6132814"/>
          </a:xfrm>
          <a:custGeom>
            <a:avLst/>
            <a:gdLst/>
            <a:ahLst/>
            <a:cxnLst/>
            <a:rect l="l" t="t" r="r" b="b"/>
            <a:pathLst>
              <a:path w="12149297" h="6132814">
                <a:moveTo>
                  <a:pt x="0" y="0"/>
                </a:moveTo>
                <a:lnTo>
                  <a:pt x="12149297" y="0"/>
                </a:lnTo>
                <a:lnTo>
                  <a:pt x="12149297" y="6132814"/>
                </a:lnTo>
                <a:lnTo>
                  <a:pt x="0" y="6132814"/>
                </a:lnTo>
                <a:lnTo>
                  <a:pt x="0" y="0"/>
                </a:lnTo>
                <a:close/>
              </a:path>
            </a:pathLst>
          </a:custGeom>
          <a:blipFill>
            <a:blip r:embed="rId3"/>
            <a:stretch>
              <a:fillRect t="-80055" r="-61581"/>
            </a:stretch>
          </a:blipFill>
        </p:spPr>
      </p:sp>
      <p:sp>
        <p:nvSpPr>
          <p:cNvPr id="5" name="TextBox 5"/>
          <p:cNvSpPr txBox="1"/>
          <p:nvPr/>
        </p:nvSpPr>
        <p:spPr>
          <a:xfrm>
            <a:off x="1459481" y="7172968"/>
            <a:ext cx="5132105" cy="488275"/>
          </a:xfrm>
          <a:prstGeom prst="rect">
            <a:avLst/>
          </a:prstGeom>
        </p:spPr>
        <p:txBody>
          <a:bodyPr lIns="0" tIns="0" rIns="0" bIns="0" rtlCol="0" anchor="t">
            <a:spAutoFit/>
          </a:bodyPr>
          <a:lstStyle/>
          <a:p>
            <a:pPr algn="l">
              <a:lnSpc>
                <a:spcPts val="3956"/>
              </a:lnSpc>
              <a:spcBef>
                <a:spcPct val="0"/>
              </a:spcBef>
            </a:pPr>
            <a:r>
              <a:rPr lang="en-US" sz="2826" b="1" dirty="0">
                <a:solidFill>
                  <a:srgbClr val="FFFFFF"/>
                </a:solidFill>
                <a:latin typeface="DM Sans Bold"/>
                <a:ea typeface="DM Sans Bold"/>
                <a:cs typeface="DM Sans Bold"/>
                <a:sym typeface="DM Sans Bold"/>
              </a:rPr>
              <a:t>Adin Nugroho</a:t>
            </a:r>
          </a:p>
        </p:txBody>
      </p:sp>
      <p:sp>
        <p:nvSpPr>
          <p:cNvPr id="6" name="TextBox 6"/>
          <p:cNvSpPr txBox="1"/>
          <p:nvPr/>
        </p:nvSpPr>
        <p:spPr>
          <a:xfrm>
            <a:off x="1028700" y="7182493"/>
            <a:ext cx="430781" cy="317541"/>
          </a:xfrm>
          <a:prstGeom prst="rect">
            <a:avLst/>
          </a:prstGeom>
        </p:spPr>
        <p:txBody>
          <a:bodyPr lIns="0" tIns="0" rIns="0" bIns="0" rtlCol="0" anchor="t">
            <a:spAutoFit/>
          </a:bodyPr>
          <a:lstStyle/>
          <a:p>
            <a:pPr algn="l">
              <a:lnSpc>
                <a:spcPts val="2630"/>
              </a:lnSpc>
              <a:spcBef>
                <a:spcPct val="0"/>
              </a:spcBef>
            </a:pPr>
            <a:r>
              <a:rPr lang="en-US" sz="1878">
                <a:solidFill>
                  <a:srgbClr val="FFFFFF"/>
                </a:solidFill>
                <a:latin typeface="DM Sans"/>
                <a:ea typeface="DM Sans"/>
                <a:cs typeface="DM Sans"/>
                <a:sym typeface="DM Sans"/>
              </a:rPr>
              <a:t>by</a:t>
            </a:r>
          </a:p>
        </p:txBody>
      </p:sp>
      <p:sp>
        <p:nvSpPr>
          <p:cNvPr id="7" name="TextBox 7"/>
          <p:cNvSpPr txBox="1"/>
          <p:nvPr/>
        </p:nvSpPr>
        <p:spPr>
          <a:xfrm>
            <a:off x="1459481" y="7758241"/>
            <a:ext cx="6362030" cy="268613"/>
          </a:xfrm>
          <a:prstGeom prst="rect">
            <a:avLst/>
          </a:prstGeom>
        </p:spPr>
        <p:txBody>
          <a:bodyPr lIns="0" tIns="0" rIns="0" bIns="0" rtlCol="0" anchor="t">
            <a:spAutoFit/>
          </a:bodyPr>
          <a:lstStyle/>
          <a:p>
            <a:pPr marL="341723" lvl="1" indent="-170861" algn="l">
              <a:lnSpc>
                <a:spcPts val="2215"/>
              </a:lnSpc>
              <a:spcBef>
                <a:spcPct val="0"/>
              </a:spcBef>
              <a:buFont typeface="Arial"/>
              <a:buChar char="•"/>
            </a:pPr>
            <a:r>
              <a:rPr lang="en-US" sz="1582" dirty="0">
                <a:solidFill>
                  <a:srgbClr val="FFFFFF"/>
                </a:solidFill>
                <a:latin typeface="DM Sans"/>
                <a:ea typeface="DM Sans"/>
                <a:cs typeface="DM Sans"/>
                <a:sym typeface="DM Sans"/>
              </a:rPr>
              <a:t>Data Analysis Enthusiast | Career Switcher</a:t>
            </a:r>
          </a:p>
        </p:txBody>
      </p:sp>
      <p:sp>
        <p:nvSpPr>
          <p:cNvPr id="8" name="TextBox 8"/>
          <p:cNvSpPr txBox="1"/>
          <p:nvPr/>
        </p:nvSpPr>
        <p:spPr>
          <a:xfrm>
            <a:off x="1028700" y="5606050"/>
            <a:ext cx="4696519" cy="706977"/>
          </a:xfrm>
          <a:prstGeom prst="rect">
            <a:avLst/>
          </a:prstGeom>
        </p:spPr>
        <p:txBody>
          <a:bodyPr lIns="0" tIns="0" rIns="0" bIns="0" rtlCol="0" anchor="t">
            <a:spAutoFit/>
          </a:bodyPr>
          <a:lstStyle/>
          <a:p>
            <a:pPr algn="l">
              <a:lnSpc>
                <a:spcPts val="5879"/>
              </a:lnSpc>
              <a:spcBef>
                <a:spcPct val="0"/>
              </a:spcBef>
            </a:pPr>
            <a:r>
              <a:rPr lang="en-US" sz="4199" b="1">
                <a:solidFill>
                  <a:srgbClr val="FFFFFF"/>
                </a:solidFill>
                <a:latin typeface="DM Sans Bold"/>
                <a:ea typeface="DM Sans Bold"/>
                <a:cs typeface="DM Sans Bold"/>
                <a:sym typeface="DM Sans Bold"/>
              </a:rPr>
              <a:t>Judul Portofolio</a:t>
            </a:r>
          </a:p>
        </p:txBody>
      </p:sp>
      <p:sp>
        <p:nvSpPr>
          <p:cNvPr id="9" name="Freeform 9"/>
          <p:cNvSpPr/>
          <p:nvPr/>
        </p:nvSpPr>
        <p:spPr>
          <a:xfrm>
            <a:off x="15586387" y="1028700"/>
            <a:ext cx="1672913" cy="1672913"/>
          </a:xfrm>
          <a:custGeom>
            <a:avLst/>
            <a:gdLst/>
            <a:ahLst/>
            <a:cxnLst/>
            <a:rect l="l" t="t" r="r" b="b"/>
            <a:pathLst>
              <a:path w="1672913" h="1672913">
                <a:moveTo>
                  <a:pt x="0" y="0"/>
                </a:moveTo>
                <a:lnTo>
                  <a:pt x="1672913" y="0"/>
                </a:lnTo>
                <a:lnTo>
                  <a:pt x="1672913" y="1672913"/>
                </a:lnTo>
                <a:lnTo>
                  <a:pt x="0" y="1672913"/>
                </a:lnTo>
                <a:lnTo>
                  <a:pt x="0" y="0"/>
                </a:lnTo>
                <a:close/>
              </a:path>
            </a:pathLst>
          </a:custGeom>
          <a:blipFill>
            <a:blip r:embed="rId4"/>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0" y="3645324"/>
            <a:ext cx="10346230" cy="6641676"/>
          </a:xfrm>
          <a:custGeom>
            <a:avLst/>
            <a:gdLst/>
            <a:ahLst/>
            <a:cxnLst/>
            <a:rect l="l" t="t" r="r" b="b"/>
            <a:pathLst>
              <a:path w="10346230" h="6641676">
                <a:moveTo>
                  <a:pt x="0" y="0"/>
                </a:moveTo>
                <a:lnTo>
                  <a:pt x="10346230" y="0"/>
                </a:lnTo>
                <a:lnTo>
                  <a:pt x="10346230" y="6641676"/>
                </a:lnTo>
                <a:lnTo>
                  <a:pt x="0" y="6641676"/>
                </a:lnTo>
                <a:lnTo>
                  <a:pt x="0" y="0"/>
                </a:lnTo>
                <a:close/>
              </a:path>
            </a:pathLst>
          </a:custGeom>
          <a:blipFill>
            <a:blip r:embed="rId3"/>
            <a:stretch>
              <a:fillRect l="-105164" t="-80055" r="-320"/>
            </a:stretch>
          </a:blipFill>
        </p:spPr>
      </p:sp>
      <p:sp>
        <p:nvSpPr>
          <p:cNvPr id="4" name="Freeform 4"/>
          <p:cNvSpPr/>
          <p:nvPr/>
        </p:nvSpPr>
        <p:spPr>
          <a:xfrm>
            <a:off x="1629624" y="3955845"/>
            <a:ext cx="4942043" cy="4942043"/>
          </a:xfrm>
          <a:custGeom>
            <a:avLst/>
            <a:gdLst/>
            <a:ahLst/>
            <a:cxnLst/>
            <a:rect l="l" t="t" r="r" b="b"/>
            <a:pathLst>
              <a:path w="4942043" h="4942043">
                <a:moveTo>
                  <a:pt x="0" y="0"/>
                </a:moveTo>
                <a:lnTo>
                  <a:pt x="4942043" y="0"/>
                </a:lnTo>
                <a:lnTo>
                  <a:pt x="4942043" y="4942042"/>
                </a:lnTo>
                <a:lnTo>
                  <a:pt x="0" y="4942042"/>
                </a:lnTo>
                <a:lnTo>
                  <a:pt x="0" y="0"/>
                </a:lnTo>
                <a:close/>
              </a:path>
            </a:pathLst>
          </a:custGeom>
          <a:blipFill>
            <a:blip r:embed="rId4"/>
            <a:stretch>
              <a:fillRect/>
            </a:stretch>
          </a:blipFill>
        </p:spPr>
      </p:sp>
      <p:sp>
        <p:nvSpPr>
          <p:cNvPr id="5" name="Freeform 5"/>
          <p:cNvSpPr/>
          <p:nvPr/>
        </p:nvSpPr>
        <p:spPr>
          <a:xfrm>
            <a:off x="16615087" y="114614"/>
            <a:ext cx="1672913" cy="1672913"/>
          </a:xfrm>
          <a:custGeom>
            <a:avLst/>
            <a:gdLst/>
            <a:ahLst/>
            <a:cxnLst/>
            <a:rect l="l" t="t" r="r" b="b"/>
            <a:pathLst>
              <a:path w="1672913" h="1672913">
                <a:moveTo>
                  <a:pt x="0" y="0"/>
                </a:moveTo>
                <a:lnTo>
                  <a:pt x="1672913" y="0"/>
                </a:lnTo>
                <a:lnTo>
                  <a:pt x="1672913" y="1672912"/>
                </a:lnTo>
                <a:lnTo>
                  <a:pt x="0" y="1672912"/>
                </a:lnTo>
                <a:lnTo>
                  <a:pt x="0" y="0"/>
                </a:lnTo>
                <a:close/>
              </a:path>
            </a:pathLst>
          </a:custGeom>
          <a:blipFill>
            <a:blip r:embed="rId5"/>
            <a:stretch>
              <a:fillRect/>
            </a:stretch>
          </a:blipFill>
        </p:spPr>
      </p:sp>
      <p:sp>
        <p:nvSpPr>
          <p:cNvPr id="7" name="TextBox 7"/>
          <p:cNvSpPr txBox="1"/>
          <p:nvPr/>
        </p:nvSpPr>
        <p:spPr>
          <a:xfrm>
            <a:off x="8975444" y="2791248"/>
            <a:ext cx="9749208" cy="854076"/>
          </a:xfrm>
          <a:prstGeom prst="rect">
            <a:avLst/>
          </a:prstGeom>
        </p:spPr>
        <p:txBody>
          <a:bodyPr lIns="0" tIns="0" rIns="0" bIns="0" rtlCol="0" anchor="t">
            <a:spAutoFit/>
          </a:bodyPr>
          <a:lstStyle/>
          <a:p>
            <a:pPr algn="l">
              <a:lnSpc>
                <a:spcPts val="6999"/>
              </a:lnSpc>
              <a:spcBef>
                <a:spcPct val="0"/>
              </a:spcBef>
            </a:pPr>
            <a:r>
              <a:rPr lang="en-US" sz="4999" b="1" dirty="0">
                <a:solidFill>
                  <a:srgbClr val="FFFFFF"/>
                </a:solidFill>
                <a:latin typeface="DM Sans Bold"/>
                <a:ea typeface="DM Sans Bold"/>
                <a:cs typeface="DM Sans Bold"/>
                <a:sym typeface="DM Sans Bold"/>
              </a:rPr>
              <a:t>ADIN NUGROHO, S. T.</a:t>
            </a:r>
          </a:p>
        </p:txBody>
      </p:sp>
      <p:sp>
        <p:nvSpPr>
          <p:cNvPr id="8" name="TextBox 8"/>
          <p:cNvSpPr txBox="1"/>
          <p:nvPr/>
        </p:nvSpPr>
        <p:spPr>
          <a:xfrm>
            <a:off x="9030129" y="4116218"/>
            <a:ext cx="4232287" cy="382226"/>
          </a:xfrm>
          <a:prstGeom prst="rect">
            <a:avLst/>
          </a:prstGeom>
        </p:spPr>
        <p:txBody>
          <a:bodyPr lIns="0" tIns="0" rIns="0" bIns="0" rtlCol="0" anchor="t">
            <a:spAutoFit/>
          </a:bodyPr>
          <a:lstStyle/>
          <a:p>
            <a:pPr algn="l">
              <a:lnSpc>
                <a:spcPts val="3079"/>
              </a:lnSpc>
              <a:spcBef>
                <a:spcPct val="0"/>
              </a:spcBef>
            </a:pPr>
            <a:r>
              <a:rPr lang="en-US" sz="2199" b="1">
                <a:solidFill>
                  <a:srgbClr val="4BD4B1"/>
                </a:solidFill>
                <a:latin typeface="DM Sans Bold"/>
                <a:ea typeface="DM Sans Bold"/>
                <a:cs typeface="DM Sans Bold"/>
                <a:sym typeface="DM Sans Bold"/>
              </a:rPr>
              <a:t>Education</a:t>
            </a:r>
          </a:p>
        </p:txBody>
      </p:sp>
      <p:sp>
        <p:nvSpPr>
          <p:cNvPr id="9" name="TextBox 9"/>
          <p:cNvSpPr txBox="1"/>
          <p:nvPr/>
        </p:nvSpPr>
        <p:spPr>
          <a:xfrm>
            <a:off x="9030129" y="3513879"/>
            <a:ext cx="9530196" cy="429690"/>
          </a:xfrm>
          <a:prstGeom prst="rect">
            <a:avLst/>
          </a:prstGeom>
        </p:spPr>
        <p:txBody>
          <a:bodyPr lIns="0" tIns="0" rIns="0" bIns="0" rtlCol="0" anchor="t">
            <a:spAutoFit/>
          </a:bodyPr>
          <a:lstStyle/>
          <a:p>
            <a:pPr algn="l">
              <a:lnSpc>
                <a:spcPts val="3530"/>
              </a:lnSpc>
              <a:spcBef>
                <a:spcPct val="0"/>
              </a:spcBef>
            </a:pPr>
            <a:r>
              <a:rPr lang="en-US" sz="2522" dirty="0">
                <a:solidFill>
                  <a:srgbClr val="FFFFFF"/>
                </a:solidFill>
                <a:latin typeface="DM Sans"/>
                <a:ea typeface="DM Sans"/>
                <a:cs typeface="DM Sans"/>
                <a:sym typeface="DM Sans"/>
              </a:rPr>
              <a:t>Data Analysis Enthusiast</a:t>
            </a:r>
          </a:p>
        </p:txBody>
      </p:sp>
      <p:sp>
        <p:nvSpPr>
          <p:cNvPr id="11" name="TextBox 11"/>
          <p:cNvSpPr txBox="1"/>
          <p:nvPr/>
        </p:nvSpPr>
        <p:spPr>
          <a:xfrm>
            <a:off x="8782479" y="4607282"/>
            <a:ext cx="7567944" cy="2769797"/>
          </a:xfrm>
          <a:prstGeom prst="rect">
            <a:avLst/>
          </a:prstGeom>
        </p:spPr>
        <p:txBody>
          <a:bodyPr lIns="0" tIns="0" rIns="0" bIns="0" rtlCol="0" anchor="t">
            <a:spAutoFit/>
          </a:bodyPr>
          <a:lstStyle/>
          <a:p>
            <a:pPr marL="474986" lvl="1" indent="-237493" algn="l">
              <a:lnSpc>
                <a:spcPts val="3080"/>
              </a:lnSpc>
              <a:buFont typeface="Arial"/>
              <a:buChar char="•"/>
            </a:pPr>
            <a:r>
              <a:rPr lang="en-US" sz="2200" dirty="0">
                <a:solidFill>
                  <a:srgbClr val="FFFFFF"/>
                </a:solidFill>
                <a:latin typeface="DM Sans"/>
                <a:ea typeface="DM Sans"/>
                <a:cs typeface="DM Sans"/>
                <a:sym typeface="DM Sans"/>
              </a:rPr>
              <a:t>S1 Chemical Engineering – Universitas Sriwijaya</a:t>
            </a:r>
          </a:p>
          <a:p>
            <a:pPr algn="just">
              <a:lnSpc>
                <a:spcPts val="3080"/>
              </a:lnSpc>
              <a:spcBef>
                <a:spcPct val="0"/>
              </a:spcBef>
            </a:pPr>
            <a:r>
              <a:rPr lang="en-US" sz="2400" dirty="0">
                <a:solidFill>
                  <a:schemeClr val="bg1"/>
                </a:solidFill>
              </a:rPr>
              <a:t>3 years experience in palm oil refining operations. Skilled in supervising production lines, leading shift teams, and improving plant efficiency and throughput. Strong in cross-functional coordination, safety, quality control, and SAP data management. Detail-oriented, adaptable, and focused on continuous improvement.</a:t>
            </a:r>
            <a:endParaRPr lang="en-US" sz="2200" dirty="0">
              <a:solidFill>
                <a:schemeClr val="bg1"/>
              </a:solidFill>
              <a:latin typeface="DM Sans"/>
              <a:ea typeface="DM Sans"/>
              <a:cs typeface="DM Sans"/>
              <a:sym typeface="DM Sans"/>
            </a:endParaRPr>
          </a:p>
        </p:txBody>
      </p:sp>
      <p:sp>
        <p:nvSpPr>
          <p:cNvPr id="12" name="TextBox 12"/>
          <p:cNvSpPr txBox="1"/>
          <p:nvPr/>
        </p:nvSpPr>
        <p:spPr>
          <a:xfrm>
            <a:off x="1790873" y="933450"/>
            <a:ext cx="5556364" cy="854076"/>
          </a:xfrm>
          <a:prstGeom prst="rect">
            <a:avLst/>
          </a:prstGeom>
        </p:spPr>
        <p:txBody>
          <a:bodyPr lIns="0" tIns="0" rIns="0" bIns="0" rtlCol="0" anchor="t">
            <a:spAutoFit/>
          </a:bodyPr>
          <a:lstStyle/>
          <a:p>
            <a:pPr algn="l">
              <a:lnSpc>
                <a:spcPts val="6999"/>
              </a:lnSpc>
              <a:spcBef>
                <a:spcPct val="0"/>
              </a:spcBef>
            </a:pPr>
            <a:r>
              <a:rPr lang="en-US" sz="4999" b="1">
                <a:solidFill>
                  <a:srgbClr val="4BD4B1"/>
                </a:solidFill>
                <a:latin typeface="DM Sans Bold"/>
                <a:ea typeface="DM Sans Bold"/>
                <a:cs typeface="DM Sans Bold"/>
                <a:sym typeface="DM Sans Bold"/>
              </a:rPr>
              <a:t>Profile</a:t>
            </a:r>
          </a:p>
        </p:txBody>
      </p:sp>
      <p:pic>
        <p:nvPicPr>
          <p:cNvPr id="16" name="Picture 15">
            <a:extLst>
              <a:ext uri="{FF2B5EF4-FFF2-40B4-BE49-F238E27FC236}">
                <a16:creationId xmlns:a16="http://schemas.microsoft.com/office/drawing/2014/main" id="{C65F7480-A080-5AAA-A790-D2A8ACB7997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35796" y="3390900"/>
            <a:ext cx="4114800" cy="54959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3429313" y="4561719"/>
            <a:ext cx="10204934" cy="114806"/>
          </a:xfrm>
          <a:custGeom>
            <a:avLst/>
            <a:gdLst/>
            <a:ahLst/>
            <a:cxnLst/>
            <a:rect l="l" t="t" r="r" b="b"/>
            <a:pathLst>
              <a:path w="10204934" h="114806">
                <a:moveTo>
                  <a:pt x="0" y="0"/>
                </a:moveTo>
                <a:lnTo>
                  <a:pt x="10204934" y="0"/>
                </a:lnTo>
                <a:lnTo>
                  <a:pt x="10204934" y="114805"/>
                </a:lnTo>
                <a:lnTo>
                  <a:pt x="0" y="1148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1028700" y="885825"/>
            <a:ext cx="6989101" cy="1269365"/>
          </a:xfrm>
          <a:prstGeom prst="rect">
            <a:avLst/>
          </a:prstGeom>
        </p:spPr>
        <p:txBody>
          <a:bodyPr lIns="0" tIns="0" rIns="0" bIns="0" rtlCol="0" anchor="t">
            <a:spAutoFit/>
          </a:bodyPr>
          <a:lstStyle/>
          <a:p>
            <a:pPr algn="l">
              <a:lnSpc>
                <a:spcPts val="10359"/>
              </a:lnSpc>
            </a:pPr>
            <a:r>
              <a:rPr lang="en-US" sz="7399" b="1">
                <a:gradFill>
                  <a:gsLst>
                    <a:gs pos="0">
                      <a:srgbClr val="FFFFFF">
                        <a:alpha val="100000"/>
                      </a:srgbClr>
                    </a:gs>
                    <a:gs pos="100000">
                      <a:srgbClr val="E3FAF9">
                        <a:alpha val="100000"/>
                      </a:srgbClr>
                    </a:gs>
                  </a:gsLst>
                  <a:path path="circle">
                    <a:fillToRect r="100000" b="100000"/>
                  </a:path>
                  <a:tileRect l="-100000" t="-100000"/>
                </a:gradFill>
                <a:latin typeface="Gotham Bold"/>
                <a:ea typeface="Gotham Bold"/>
                <a:cs typeface="Gotham Bold"/>
                <a:sym typeface="Gotham Bold"/>
              </a:rPr>
              <a:t>Experience</a:t>
            </a:r>
          </a:p>
        </p:txBody>
      </p:sp>
      <p:sp>
        <p:nvSpPr>
          <p:cNvPr id="6" name="TextBox 6"/>
          <p:cNvSpPr txBox="1"/>
          <p:nvPr/>
        </p:nvSpPr>
        <p:spPr>
          <a:xfrm>
            <a:off x="1028700" y="5958411"/>
            <a:ext cx="5213387" cy="453842"/>
          </a:xfrm>
          <a:prstGeom prst="rect">
            <a:avLst/>
          </a:prstGeom>
        </p:spPr>
        <p:txBody>
          <a:bodyPr lIns="0" tIns="0" rIns="0" bIns="0" rtlCol="0" anchor="t">
            <a:spAutoFit/>
          </a:bodyPr>
          <a:lstStyle/>
          <a:p>
            <a:pPr algn="l">
              <a:lnSpc>
                <a:spcPts val="3990"/>
              </a:lnSpc>
            </a:pPr>
            <a:r>
              <a:rPr lang="en-US" sz="2850" dirty="0">
                <a:gradFill>
                  <a:gsLst>
                    <a:gs pos="0">
                      <a:srgbClr val="FFFFFF">
                        <a:alpha val="100000"/>
                      </a:srgbClr>
                    </a:gs>
                    <a:gs pos="100000">
                      <a:srgbClr val="E3FAF9">
                        <a:alpha val="100000"/>
                      </a:srgbClr>
                    </a:gs>
                  </a:gsLst>
                  <a:path path="circle">
                    <a:fillToRect r="100000" b="100000"/>
                  </a:path>
                  <a:tileRect l="-100000" t="-100000"/>
                </a:gradFill>
                <a:latin typeface="Gotham"/>
                <a:ea typeface="Gotham"/>
                <a:cs typeface="Gotham"/>
                <a:sym typeface="Gotham"/>
              </a:rPr>
              <a:t>Production Supervisor</a:t>
            </a:r>
          </a:p>
        </p:txBody>
      </p:sp>
      <p:sp>
        <p:nvSpPr>
          <p:cNvPr id="7" name="TextBox 7"/>
          <p:cNvSpPr txBox="1"/>
          <p:nvPr/>
        </p:nvSpPr>
        <p:spPr>
          <a:xfrm>
            <a:off x="1028700" y="6624457"/>
            <a:ext cx="6438900" cy="342017"/>
          </a:xfrm>
          <a:prstGeom prst="rect">
            <a:avLst/>
          </a:prstGeom>
        </p:spPr>
        <p:txBody>
          <a:bodyPr wrap="square" lIns="0" tIns="0" rIns="0" bIns="0" rtlCol="0" anchor="t">
            <a:spAutoFit/>
          </a:bodyPr>
          <a:lstStyle/>
          <a:p>
            <a:pPr algn="l">
              <a:lnSpc>
                <a:spcPts val="2870"/>
              </a:lnSpc>
            </a:pPr>
            <a:r>
              <a:rPr lang="en-US" sz="2050" i="1" dirty="0">
                <a:gradFill>
                  <a:gsLst>
                    <a:gs pos="0">
                      <a:srgbClr val="FFFFFF">
                        <a:alpha val="100000"/>
                      </a:srgbClr>
                    </a:gs>
                    <a:gs pos="100000">
                      <a:srgbClr val="E3FAF9">
                        <a:alpha val="100000"/>
                      </a:srgbClr>
                    </a:gs>
                  </a:gsLst>
                  <a:path path="circle">
                    <a:fillToRect r="100000" b="100000"/>
                  </a:path>
                  <a:tileRect l="-100000" t="-100000"/>
                </a:gradFill>
                <a:latin typeface="Gotham Italics"/>
                <a:ea typeface="Gotham Italics"/>
                <a:cs typeface="Gotham Italics"/>
                <a:sym typeface="Gotham Italics"/>
              </a:rPr>
              <a:t>PT. Synergy Oil Nusantara, Batam (IFFCO Group)</a:t>
            </a:r>
          </a:p>
        </p:txBody>
      </p:sp>
      <p:sp>
        <p:nvSpPr>
          <p:cNvPr id="8" name="TextBox 8"/>
          <p:cNvSpPr txBox="1"/>
          <p:nvPr/>
        </p:nvSpPr>
        <p:spPr>
          <a:xfrm>
            <a:off x="1028700" y="7151438"/>
            <a:ext cx="6794951" cy="1179810"/>
          </a:xfrm>
          <a:prstGeom prst="rect">
            <a:avLst/>
          </a:prstGeom>
        </p:spPr>
        <p:txBody>
          <a:bodyPr lIns="0" tIns="0" rIns="0" bIns="0" rtlCol="0" anchor="t">
            <a:spAutoFit/>
          </a:bodyPr>
          <a:lstStyle/>
          <a:p>
            <a:pPr algn="l">
              <a:lnSpc>
                <a:spcPts val="2275"/>
              </a:lnSpc>
            </a:pPr>
            <a:r>
              <a:rPr lang="en-US" sz="2000" i="1" dirty="0">
                <a:gradFill>
                  <a:gsLst>
                    <a:gs pos="0">
                      <a:srgbClr val="FFFFFF">
                        <a:alpha val="100000"/>
                      </a:srgbClr>
                    </a:gs>
                    <a:gs pos="100000">
                      <a:srgbClr val="E3FAF9">
                        <a:alpha val="100000"/>
                      </a:srgbClr>
                    </a:gs>
                  </a:gsLst>
                  <a:path path="circle">
                    <a:fillToRect r="100000" b="100000"/>
                  </a:path>
                  <a:tileRect l="-100000" t="-100000"/>
                </a:gradFill>
                <a:latin typeface="Gotham Light Italics"/>
                <a:ea typeface="Gotham Light Italics"/>
                <a:cs typeface="Gotham Light Italics"/>
                <a:sym typeface="Gotham Light Italics"/>
              </a:rPr>
              <a:t>Responsible for Operational Plant Production, Focusing in team leadership, coordinate with cross-functional departments, support analyze problem with data</a:t>
            </a:r>
          </a:p>
        </p:txBody>
      </p:sp>
      <p:sp>
        <p:nvSpPr>
          <p:cNvPr id="10" name="TextBox 10"/>
          <p:cNvSpPr txBox="1"/>
          <p:nvPr/>
        </p:nvSpPr>
        <p:spPr>
          <a:xfrm>
            <a:off x="7452360" y="6624457"/>
            <a:ext cx="6058213" cy="342017"/>
          </a:xfrm>
          <a:prstGeom prst="rect">
            <a:avLst/>
          </a:prstGeom>
        </p:spPr>
        <p:txBody>
          <a:bodyPr lIns="0" tIns="0" rIns="0" bIns="0" rtlCol="0" anchor="t">
            <a:spAutoFit/>
          </a:bodyPr>
          <a:lstStyle/>
          <a:p>
            <a:pPr algn="l">
              <a:lnSpc>
                <a:spcPts val="2870"/>
              </a:lnSpc>
            </a:pPr>
            <a:r>
              <a:rPr lang="en-US" sz="2050" i="1" dirty="0">
                <a:gradFill>
                  <a:gsLst>
                    <a:gs pos="0">
                      <a:srgbClr val="FFFFFF">
                        <a:alpha val="100000"/>
                      </a:srgbClr>
                    </a:gs>
                    <a:gs pos="100000">
                      <a:srgbClr val="E3FAF9">
                        <a:alpha val="100000"/>
                      </a:srgbClr>
                    </a:gs>
                  </a:gsLst>
                  <a:path path="circle">
                    <a:fillToRect r="100000" b="100000"/>
                  </a:path>
                  <a:tileRect l="-100000" t="-100000"/>
                </a:gradFill>
                <a:latin typeface="Gotham Italics"/>
                <a:ea typeface="Gotham Italics"/>
                <a:cs typeface="Gotham Italics"/>
                <a:sym typeface="Gotham Italics"/>
              </a:rPr>
              <a:t>&amp; PT. Sari </a:t>
            </a:r>
            <a:r>
              <a:rPr lang="en-US" sz="2050" i="1" dirty="0" err="1">
                <a:gradFill>
                  <a:gsLst>
                    <a:gs pos="0">
                      <a:srgbClr val="FFFFFF">
                        <a:alpha val="100000"/>
                      </a:srgbClr>
                    </a:gs>
                    <a:gs pos="100000">
                      <a:srgbClr val="E3FAF9">
                        <a:alpha val="100000"/>
                      </a:srgbClr>
                    </a:gs>
                  </a:gsLst>
                  <a:path path="circle">
                    <a:fillToRect r="100000" b="100000"/>
                  </a:path>
                  <a:tileRect l="-100000" t="-100000"/>
                </a:gradFill>
                <a:latin typeface="Gotham Italics"/>
                <a:ea typeface="Gotham Italics"/>
                <a:cs typeface="Gotham Italics"/>
                <a:sym typeface="Gotham Italics"/>
              </a:rPr>
              <a:t>Dumai</a:t>
            </a:r>
            <a:r>
              <a:rPr lang="en-US" sz="2050" i="1" dirty="0">
                <a:gradFill>
                  <a:gsLst>
                    <a:gs pos="0">
                      <a:srgbClr val="FFFFFF">
                        <a:alpha val="100000"/>
                      </a:srgbClr>
                    </a:gs>
                    <a:gs pos="100000">
                      <a:srgbClr val="E3FAF9">
                        <a:alpha val="100000"/>
                      </a:srgbClr>
                    </a:gs>
                  </a:gsLst>
                  <a:path path="circle">
                    <a:fillToRect r="100000" b="100000"/>
                  </a:path>
                  <a:tileRect l="-100000" t="-100000"/>
                </a:gradFill>
                <a:latin typeface="Gotham Italics"/>
                <a:ea typeface="Gotham Italics"/>
                <a:cs typeface="Gotham Italics"/>
                <a:sym typeface="Gotham Italics"/>
              </a:rPr>
              <a:t> </a:t>
            </a:r>
            <a:r>
              <a:rPr lang="en-US" sz="2050" i="1" dirty="0" err="1">
                <a:gradFill>
                  <a:gsLst>
                    <a:gs pos="0">
                      <a:srgbClr val="FFFFFF">
                        <a:alpha val="100000"/>
                      </a:srgbClr>
                    </a:gs>
                    <a:gs pos="100000">
                      <a:srgbClr val="E3FAF9">
                        <a:alpha val="100000"/>
                      </a:srgbClr>
                    </a:gs>
                  </a:gsLst>
                  <a:path path="circle">
                    <a:fillToRect r="100000" b="100000"/>
                  </a:path>
                  <a:tileRect l="-100000" t="-100000"/>
                </a:gradFill>
                <a:latin typeface="Gotham Italics"/>
                <a:ea typeface="Gotham Italics"/>
                <a:cs typeface="Gotham Italics"/>
                <a:sym typeface="Gotham Italics"/>
              </a:rPr>
              <a:t>Sejati</a:t>
            </a:r>
            <a:r>
              <a:rPr lang="en-US" sz="2050" i="1" dirty="0">
                <a:gradFill>
                  <a:gsLst>
                    <a:gs pos="0">
                      <a:srgbClr val="FFFFFF">
                        <a:alpha val="100000"/>
                      </a:srgbClr>
                    </a:gs>
                    <a:gs pos="100000">
                      <a:srgbClr val="E3FAF9">
                        <a:alpha val="100000"/>
                      </a:srgbClr>
                    </a:gs>
                  </a:gsLst>
                  <a:path path="circle">
                    <a:fillToRect r="100000" b="100000"/>
                  </a:path>
                  <a:tileRect l="-100000" t="-100000"/>
                </a:gradFill>
                <a:latin typeface="Gotham Italics"/>
                <a:ea typeface="Gotham Italics"/>
                <a:cs typeface="Gotham Italics"/>
                <a:sym typeface="Gotham Italics"/>
              </a:rPr>
              <a:t>  (Apical Group)</a:t>
            </a:r>
          </a:p>
        </p:txBody>
      </p:sp>
      <p:sp>
        <p:nvSpPr>
          <p:cNvPr id="11" name="Freeform 11"/>
          <p:cNvSpPr/>
          <p:nvPr/>
        </p:nvSpPr>
        <p:spPr>
          <a:xfrm>
            <a:off x="15586387" y="1028700"/>
            <a:ext cx="1672913" cy="1672913"/>
          </a:xfrm>
          <a:custGeom>
            <a:avLst/>
            <a:gdLst/>
            <a:ahLst/>
            <a:cxnLst/>
            <a:rect l="l" t="t" r="r" b="b"/>
            <a:pathLst>
              <a:path w="1672913" h="1672913">
                <a:moveTo>
                  <a:pt x="0" y="0"/>
                </a:moveTo>
                <a:lnTo>
                  <a:pt x="1672913" y="0"/>
                </a:lnTo>
                <a:lnTo>
                  <a:pt x="1672913" y="1672913"/>
                </a:lnTo>
                <a:lnTo>
                  <a:pt x="0" y="1672913"/>
                </a:lnTo>
                <a:lnTo>
                  <a:pt x="0" y="0"/>
                </a:lnTo>
                <a:close/>
              </a:path>
            </a:pathLst>
          </a:custGeom>
          <a:blipFill>
            <a:blip r:embed="rId5"/>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flipH="1">
            <a:off x="10898162" y="3899755"/>
            <a:ext cx="10346230" cy="6641676"/>
          </a:xfrm>
          <a:custGeom>
            <a:avLst/>
            <a:gdLst/>
            <a:ahLst/>
            <a:cxnLst/>
            <a:rect l="l" t="t" r="r" b="b"/>
            <a:pathLst>
              <a:path w="10346230" h="6641676">
                <a:moveTo>
                  <a:pt x="10346229" y="0"/>
                </a:moveTo>
                <a:lnTo>
                  <a:pt x="0" y="0"/>
                </a:lnTo>
                <a:lnTo>
                  <a:pt x="0" y="6641676"/>
                </a:lnTo>
                <a:lnTo>
                  <a:pt x="10346229" y="6641676"/>
                </a:lnTo>
                <a:lnTo>
                  <a:pt x="10346229" y="0"/>
                </a:lnTo>
                <a:close/>
              </a:path>
            </a:pathLst>
          </a:custGeom>
          <a:blipFill>
            <a:blip r:embed="rId3"/>
            <a:stretch>
              <a:fillRect l="-105164" t="-80055" r="-320"/>
            </a:stretch>
          </a:blipFill>
        </p:spPr>
      </p:sp>
      <p:sp>
        <p:nvSpPr>
          <p:cNvPr id="4" name="Freeform 4"/>
          <p:cNvSpPr/>
          <p:nvPr/>
        </p:nvSpPr>
        <p:spPr>
          <a:xfrm>
            <a:off x="1028700" y="341197"/>
            <a:ext cx="1672913" cy="1672913"/>
          </a:xfrm>
          <a:custGeom>
            <a:avLst/>
            <a:gdLst/>
            <a:ahLst/>
            <a:cxnLst/>
            <a:rect l="l" t="t" r="r" b="b"/>
            <a:pathLst>
              <a:path w="1672913" h="1672913">
                <a:moveTo>
                  <a:pt x="0" y="0"/>
                </a:moveTo>
                <a:lnTo>
                  <a:pt x="1672913" y="0"/>
                </a:lnTo>
                <a:lnTo>
                  <a:pt x="1672913" y="1672912"/>
                </a:lnTo>
                <a:lnTo>
                  <a:pt x="0" y="1672912"/>
                </a:lnTo>
                <a:lnTo>
                  <a:pt x="0" y="0"/>
                </a:lnTo>
                <a:close/>
              </a:path>
            </a:pathLst>
          </a:custGeom>
          <a:blipFill>
            <a:blip r:embed="rId4"/>
            <a:stretch>
              <a:fillRect/>
            </a:stretch>
          </a:blipFill>
        </p:spPr>
      </p:sp>
      <p:sp>
        <p:nvSpPr>
          <p:cNvPr id="5" name="TextBox 5"/>
          <p:cNvSpPr txBox="1"/>
          <p:nvPr/>
        </p:nvSpPr>
        <p:spPr>
          <a:xfrm>
            <a:off x="1781891" y="3271569"/>
            <a:ext cx="5893575" cy="1815935"/>
          </a:xfrm>
          <a:prstGeom prst="rect">
            <a:avLst/>
          </a:prstGeom>
        </p:spPr>
        <p:txBody>
          <a:bodyPr lIns="0" tIns="0" rIns="0" bIns="0" rtlCol="0" anchor="t">
            <a:spAutoFit/>
          </a:bodyPr>
          <a:lstStyle/>
          <a:p>
            <a:pPr algn="l">
              <a:lnSpc>
                <a:spcPts val="6949"/>
              </a:lnSpc>
            </a:pPr>
            <a:r>
              <a:rPr lang="en-US" sz="6949" b="1">
                <a:gradFill>
                  <a:gsLst>
                    <a:gs pos="0">
                      <a:srgbClr val="FFFFFF">
                        <a:alpha val="100000"/>
                      </a:srgbClr>
                    </a:gs>
                    <a:gs pos="100000">
                      <a:srgbClr val="E3FAF9">
                        <a:alpha val="100000"/>
                      </a:srgbClr>
                    </a:gs>
                  </a:gsLst>
                  <a:path path="circle">
                    <a:fillToRect r="100000" b="100000"/>
                  </a:path>
                  <a:tileRect l="-100000" t="-100000"/>
                </a:gradFill>
                <a:latin typeface="DM Sans Bold"/>
                <a:ea typeface="DM Sans Bold"/>
                <a:cs typeface="DM Sans Bold"/>
                <a:sym typeface="DM Sans Bold"/>
              </a:rPr>
              <a:t>PORTOFOLIO</a:t>
            </a:r>
          </a:p>
          <a:p>
            <a:pPr algn="l">
              <a:lnSpc>
                <a:spcPts val="6949"/>
              </a:lnSpc>
            </a:pPr>
            <a:r>
              <a:rPr lang="en-US" sz="6949" b="1">
                <a:gradFill>
                  <a:gsLst>
                    <a:gs pos="0">
                      <a:srgbClr val="FFFFFF">
                        <a:alpha val="100000"/>
                      </a:srgbClr>
                    </a:gs>
                    <a:gs pos="100000">
                      <a:srgbClr val="E3FAF9">
                        <a:alpha val="100000"/>
                      </a:srgbClr>
                    </a:gs>
                  </a:gsLst>
                  <a:path path="circle">
                    <a:fillToRect r="100000" b="100000"/>
                  </a:path>
                  <a:tileRect l="-100000" t="-100000"/>
                </a:gradFill>
                <a:latin typeface="DM Sans Bold"/>
                <a:ea typeface="DM Sans Bold"/>
                <a:cs typeface="DM Sans Bold"/>
                <a:sym typeface="DM Sans Bold"/>
              </a:rPr>
              <a:t>PROJECT</a:t>
            </a:r>
          </a:p>
        </p:txBody>
      </p:sp>
      <p:sp>
        <p:nvSpPr>
          <p:cNvPr id="6" name="TextBox 6"/>
          <p:cNvSpPr txBox="1"/>
          <p:nvPr/>
        </p:nvSpPr>
        <p:spPr>
          <a:xfrm>
            <a:off x="2212671" y="7560528"/>
            <a:ext cx="5132105" cy="488275"/>
          </a:xfrm>
          <a:prstGeom prst="rect">
            <a:avLst/>
          </a:prstGeom>
        </p:spPr>
        <p:txBody>
          <a:bodyPr lIns="0" tIns="0" rIns="0" bIns="0" rtlCol="0" anchor="t">
            <a:spAutoFit/>
          </a:bodyPr>
          <a:lstStyle/>
          <a:p>
            <a:pPr algn="l">
              <a:lnSpc>
                <a:spcPts val="3956"/>
              </a:lnSpc>
              <a:spcBef>
                <a:spcPct val="0"/>
              </a:spcBef>
            </a:pPr>
            <a:r>
              <a:rPr lang="en-US" sz="2826" b="1" dirty="0">
                <a:solidFill>
                  <a:srgbClr val="FFFFFF"/>
                </a:solidFill>
                <a:latin typeface="DM Sans Bold"/>
                <a:ea typeface="DM Sans Bold"/>
                <a:cs typeface="DM Sans Bold"/>
                <a:sym typeface="DM Sans Bold"/>
              </a:rPr>
              <a:t>Adin Nugroho</a:t>
            </a:r>
          </a:p>
        </p:txBody>
      </p:sp>
      <p:sp>
        <p:nvSpPr>
          <p:cNvPr id="7" name="TextBox 7"/>
          <p:cNvSpPr txBox="1"/>
          <p:nvPr/>
        </p:nvSpPr>
        <p:spPr>
          <a:xfrm>
            <a:off x="1781891" y="7570053"/>
            <a:ext cx="430781" cy="317541"/>
          </a:xfrm>
          <a:prstGeom prst="rect">
            <a:avLst/>
          </a:prstGeom>
        </p:spPr>
        <p:txBody>
          <a:bodyPr lIns="0" tIns="0" rIns="0" bIns="0" rtlCol="0" anchor="t">
            <a:spAutoFit/>
          </a:bodyPr>
          <a:lstStyle/>
          <a:p>
            <a:pPr algn="l">
              <a:lnSpc>
                <a:spcPts val="2630"/>
              </a:lnSpc>
              <a:spcBef>
                <a:spcPct val="0"/>
              </a:spcBef>
            </a:pPr>
            <a:r>
              <a:rPr lang="en-US" sz="1878">
                <a:solidFill>
                  <a:srgbClr val="FFFFFF"/>
                </a:solidFill>
                <a:latin typeface="DM Sans"/>
                <a:ea typeface="DM Sans"/>
                <a:cs typeface="DM Sans"/>
                <a:sym typeface="DM Sans"/>
              </a:rPr>
              <a:t>by</a:t>
            </a:r>
          </a:p>
        </p:txBody>
      </p:sp>
      <p:sp>
        <p:nvSpPr>
          <p:cNvPr id="8" name="TextBox 8"/>
          <p:cNvSpPr txBox="1"/>
          <p:nvPr/>
        </p:nvSpPr>
        <p:spPr>
          <a:xfrm>
            <a:off x="2212671" y="8145801"/>
            <a:ext cx="6362030" cy="551689"/>
          </a:xfrm>
          <a:prstGeom prst="rect">
            <a:avLst/>
          </a:prstGeom>
        </p:spPr>
        <p:txBody>
          <a:bodyPr lIns="0" tIns="0" rIns="0" bIns="0" rtlCol="0" anchor="t">
            <a:spAutoFit/>
          </a:bodyPr>
          <a:lstStyle/>
          <a:p>
            <a:pPr marL="170862" lvl="1" algn="l">
              <a:lnSpc>
                <a:spcPts val="2215"/>
              </a:lnSpc>
              <a:spcBef>
                <a:spcPct val="0"/>
              </a:spcBef>
            </a:pPr>
            <a:r>
              <a:rPr lang="en-US" sz="1582" dirty="0">
                <a:solidFill>
                  <a:srgbClr val="FFFFFF"/>
                </a:solidFill>
                <a:latin typeface="DM Sans"/>
                <a:ea typeface="DM Sans"/>
                <a:cs typeface="DM Sans"/>
                <a:sym typeface="DM Sans"/>
              </a:rPr>
              <a:t>Chemical Engineering Graduate | 3 years experience in plant operational | Data Analysis Enthusiast</a:t>
            </a:r>
          </a:p>
        </p:txBody>
      </p:sp>
      <p:sp>
        <p:nvSpPr>
          <p:cNvPr id="9" name="TextBox 9"/>
          <p:cNvSpPr txBox="1"/>
          <p:nvPr/>
        </p:nvSpPr>
        <p:spPr>
          <a:xfrm>
            <a:off x="1781891" y="5317092"/>
            <a:ext cx="7362109" cy="1144992"/>
          </a:xfrm>
          <a:prstGeom prst="rect">
            <a:avLst/>
          </a:prstGeom>
        </p:spPr>
        <p:txBody>
          <a:bodyPr lIns="0" tIns="0" rIns="0" bIns="0" rtlCol="0" anchor="t">
            <a:spAutoFit/>
          </a:bodyPr>
          <a:lstStyle/>
          <a:p>
            <a:pPr algn="l">
              <a:lnSpc>
                <a:spcPts val="4615"/>
              </a:lnSpc>
              <a:spcBef>
                <a:spcPct val="0"/>
              </a:spcBef>
            </a:pPr>
            <a:r>
              <a:rPr lang="en-US" sz="3296">
                <a:solidFill>
                  <a:srgbClr val="FFFFFF"/>
                </a:solidFill>
                <a:latin typeface="DM Sans"/>
                <a:ea typeface="DM Sans"/>
                <a:cs typeface="DM Sans"/>
                <a:sym typeface="DM Sans"/>
              </a:rPr>
              <a:t>Complete Office Administration Set-up at PT Persona Analitika Asia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1028700" y="4726688"/>
            <a:ext cx="9135855" cy="4868614"/>
          </a:xfrm>
          <a:prstGeom prst="rect">
            <a:avLst/>
          </a:prstGeom>
        </p:spPr>
        <p:txBody>
          <a:bodyPr lIns="0" tIns="0" rIns="0" bIns="0" rtlCol="0" anchor="t">
            <a:spAutoFit/>
          </a:bodyPr>
          <a:lstStyle/>
          <a:p>
            <a:pPr algn="just">
              <a:lnSpc>
                <a:spcPts val="3238"/>
              </a:lnSpc>
            </a:pPr>
            <a:r>
              <a:rPr lang="en-US" sz="2313">
                <a:solidFill>
                  <a:srgbClr val="FFFFFF"/>
                </a:solidFill>
                <a:latin typeface="DM Sans"/>
                <a:ea typeface="DM Sans"/>
                <a:cs typeface="DM Sans"/>
                <a:sym typeface="DM Sans"/>
              </a:rPr>
              <a:t>A major pharmacy retail company in Indonesia, operating across five provinces with tens of thousands of weekly product transactions, has requested support from Talentiv Jobs (PT Persona Analitika Asia). The company is facing challenges in conducting its annual sales performance analysis and organizing its large, unstructured historical data.</a:t>
            </a:r>
          </a:p>
          <a:p>
            <a:pPr algn="just">
              <a:lnSpc>
                <a:spcPts val="3238"/>
              </a:lnSpc>
            </a:pPr>
            <a:endParaRPr lang="en-US" sz="2313">
              <a:solidFill>
                <a:srgbClr val="FFFFFF"/>
              </a:solidFill>
              <a:latin typeface="DM Sans"/>
              <a:ea typeface="DM Sans"/>
              <a:cs typeface="DM Sans"/>
              <a:sym typeface="DM Sans"/>
            </a:endParaRPr>
          </a:p>
          <a:p>
            <a:pPr algn="just">
              <a:lnSpc>
                <a:spcPts val="3238"/>
              </a:lnSpc>
            </a:pPr>
            <a:r>
              <a:rPr lang="en-US" sz="2313">
                <a:solidFill>
                  <a:srgbClr val="FFFFFF"/>
                </a:solidFill>
                <a:latin typeface="DM Sans"/>
                <a:ea typeface="DM Sans"/>
                <a:cs typeface="DM Sans"/>
                <a:sym typeface="DM Sans"/>
              </a:rPr>
              <a:t>The client expects the consulting team to deliver clear, actionable datasets and visualizations that enable stakeholders to make impactful data-driven decisions across HR, store performance, and inventory planning   </a:t>
            </a:r>
          </a:p>
          <a:p>
            <a:pPr algn="just">
              <a:lnSpc>
                <a:spcPts val="3632"/>
              </a:lnSpc>
              <a:spcBef>
                <a:spcPct val="0"/>
              </a:spcBef>
            </a:pPr>
            <a:r>
              <a:rPr lang="en-US" sz="2594">
                <a:solidFill>
                  <a:srgbClr val="FFFFFF"/>
                </a:solidFill>
                <a:latin typeface="DM Sans"/>
                <a:ea typeface="DM Sans"/>
                <a:cs typeface="DM Sans"/>
                <a:sym typeface="DM Sans"/>
              </a:rPr>
              <a:t>    </a:t>
            </a:r>
          </a:p>
        </p:txBody>
      </p:sp>
      <p:sp>
        <p:nvSpPr>
          <p:cNvPr id="4" name="Freeform 4"/>
          <p:cNvSpPr/>
          <p:nvPr/>
        </p:nvSpPr>
        <p:spPr>
          <a:xfrm>
            <a:off x="15961080" y="192244"/>
            <a:ext cx="1672913" cy="1672913"/>
          </a:xfrm>
          <a:custGeom>
            <a:avLst/>
            <a:gdLst/>
            <a:ahLst/>
            <a:cxnLst/>
            <a:rect l="l" t="t" r="r" b="b"/>
            <a:pathLst>
              <a:path w="1672913" h="1672913">
                <a:moveTo>
                  <a:pt x="0" y="0"/>
                </a:moveTo>
                <a:lnTo>
                  <a:pt x="1672912" y="0"/>
                </a:lnTo>
                <a:lnTo>
                  <a:pt x="1672912" y="1672912"/>
                </a:lnTo>
                <a:lnTo>
                  <a:pt x="0" y="1672912"/>
                </a:lnTo>
                <a:lnTo>
                  <a:pt x="0" y="0"/>
                </a:lnTo>
                <a:close/>
              </a:path>
            </a:pathLst>
          </a:custGeom>
          <a:blipFill>
            <a:blip r:embed="rId3"/>
            <a:stretch>
              <a:fillRect/>
            </a:stretch>
          </a:blipFill>
        </p:spPr>
      </p:sp>
      <p:sp>
        <p:nvSpPr>
          <p:cNvPr id="5" name="TextBox 5"/>
          <p:cNvSpPr txBox="1"/>
          <p:nvPr/>
        </p:nvSpPr>
        <p:spPr>
          <a:xfrm>
            <a:off x="1028700" y="942975"/>
            <a:ext cx="9427820" cy="1437314"/>
          </a:xfrm>
          <a:prstGeom prst="rect">
            <a:avLst/>
          </a:prstGeom>
        </p:spPr>
        <p:txBody>
          <a:bodyPr lIns="0" tIns="0" rIns="0" bIns="0" rtlCol="0" anchor="t">
            <a:spAutoFit/>
          </a:bodyPr>
          <a:lstStyle/>
          <a:p>
            <a:pPr algn="l">
              <a:lnSpc>
                <a:spcPts val="5805"/>
              </a:lnSpc>
              <a:spcBef>
                <a:spcPct val="0"/>
              </a:spcBef>
            </a:pPr>
            <a:r>
              <a:rPr lang="en-US" sz="4146" b="1">
                <a:gradFill>
                  <a:gsLst>
                    <a:gs pos="0">
                      <a:srgbClr val="FFFFFF">
                        <a:alpha val="100000"/>
                      </a:srgbClr>
                    </a:gs>
                    <a:gs pos="100000">
                      <a:srgbClr val="C0E9E7">
                        <a:alpha val="100000"/>
                      </a:srgbClr>
                    </a:gs>
                  </a:gsLst>
                  <a:lin ang="2700000"/>
                </a:gradFill>
                <a:latin typeface="DM Sans Bold"/>
                <a:ea typeface="DM Sans Bold"/>
                <a:cs typeface="DM Sans Bold"/>
                <a:sym typeface="DM Sans Bold"/>
              </a:rPr>
              <a:t>Corporate Data Management &amp; Operational Administration Portfolio</a:t>
            </a:r>
          </a:p>
        </p:txBody>
      </p:sp>
      <p:sp>
        <p:nvSpPr>
          <p:cNvPr id="6" name="TextBox 6"/>
          <p:cNvSpPr txBox="1"/>
          <p:nvPr/>
        </p:nvSpPr>
        <p:spPr>
          <a:xfrm>
            <a:off x="1028700" y="3163854"/>
            <a:ext cx="9427820" cy="1135771"/>
          </a:xfrm>
          <a:prstGeom prst="rect">
            <a:avLst/>
          </a:prstGeom>
        </p:spPr>
        <p:txBody>
          <a:bodyPr lIns="0" tIns="0" rIns="0" bIns="0" rtlCol="0" anchor="t">
            <a:spAutoFit/>
          </a:bodyPr>
          <a:lstStyle/>
          <a:p>
            <a:pPr algn="l">
              <a:lnSpc>
                <a:spcPts val="3023"/>
              </a:lnSpc>
              <a:spcBef>
                <a:spcPct val="0"/>
              </a:spcBef>
            </a:pPr>
            <a:r>
              <a:rPr lang="en-US" sz="2159" b="1">
                <a:gradFill>
                  <a:gsLst>
                    <a:gs pos="0">
                      <a:srgbClr val="FFFFFF">
                        <a:alpha val="100000"/>
                      </a:srgbClr>
                    </a:gs>
                    <a:gs pos="100000">
                      <a:srgbClr val="C0E9E7">
                        <a:alpha val="100000"/>
                      </a:srgbClr>
                    </a:gs>
                  </a:gsLst>
                  <a:lin ang="2700000"/>
                </a:gradFill>
                <a:latin typeface="DM Sans Bold"/>
                <a:ea typeface="DM Sans Bold"/>
                <a:cs typeface="DM Sans Bold"/>
                <a:sym typeface="DM Sans Bold"/>
              </a:rPr>
              <a:t>Client</a:t>
            </a:r>
            <a:r>
              <a:rPr lang="en-US" sz="2159">
                <a:gradFill>
                  <a:gsLst>
                    <a:gs pos="0">
                      <a:srgbClr val="FFFFFF">
                        <a:alpha val="100000"/>
                      </a:srgbClr>
                    </a:gs>
                    <a:gs pos="100000">
                      <a:srgbClr val="C0E9E7">
                        <a:alpha val="100000"/>
                      </a:srgbClr>
                    </a:gs>
                  </a:gsLst>
                  <a:lin ang="2700000"/>
                </a:gradFill>
                <a:latin typeface="DM Sans"/>
                <a:ea typeface="DM Sans"/>
                <a:cs typeface="DM Sans"/>
                <a:sym typeface="DM Sans"/>
              </a:rPr>
              <a:t>: A Leading National Pharmacy Retail Chain</a:t>
            </a:r>
          </a:p>
          <a:p>
            <a:pPr algn="l">
              <a:lnSpc>
                <a:spcPts val="3023"/>
              </a:lnSpc>
              <a:spcBef>
                <a:spcPct val="0"/>
              </a:spcBef>
            </a:pPr>
            <a:r>
              <a:rPr lang="en-US" sz="2159" b="1">
                <a:gradFill>
                  <a:gsLst>
                    <a:gs pos="0">
                      <a:srgbClr val="FFFFFF">
                        <a:alpha val="100000"/>
                      </a:srgbClr>
                    </a:gs>
                    <a:gs pos="100000">
                      <a:srgbClr val="C0E9E7">
                        <a:alpha val="100000"/>
                      </a:srgbClr>
                    </a:gs>
                  </a:gsLst>
                  <a:lin ang="2700000"/>
                </a:gradFill>
                <a:latin typeface="DM Sans Bold"/>
                <a:ea typeface="DM Sans Bold"/>
                <a:cs typeface="DM Sans Bold"/>
                <a:sym typeface="DM Sans Bold"/>
              </a:rPr>
              <a:t>Consultant</a:t>
            </a:r>
            <a:r>
              <a:rPr lang="en-US" sz="2159">
                <a:gradFill>
                  <a:gsLst>
                    <a:gs pos="0">
                      <a:srgbClr val="FFFFFF">
                        <a:alpha val="100000"/>
                      </a:srgbClr>
                    </a:gs>
                    <a:gs pos="100000">
                      <a:srgbClr val="C0E9E7">
                        <a:alpha val="100000"/>
                      </a:srgbClr>
                    </a:gs>
                  </a:gsLst>
                  <a:lin ang="2700000"/>
                </a:gradFill>
                <a:latin typeface="DM Sans"/>
                <a:ea typeface="DM Sans"/>
                <a:cs typeface="DM Sans"/>
                <a:sym typeface="DM Sans"/>
              </a:rPr>
              <a:t>: Talentiv Jobs (PT Persona Analitika Asia) – HR &amp; Management Consulting</a:t>
            </a:r>
          </a:p>
        </p:txBody>
      </p:sp>
      <p:grpSp>
        <p:nvGrpSpPr>
          <p:cNvPr id="7" name="Group 7"/>
          <p:cNvGrpSpPr/>
          <p:nvPr/>
        </p:nvGrpSpPr>
        <p:grpSpPr>
          <a:xfrm>
            <a:off x="11313104" y="3300243"/>
            <a:ext cx="360440" cy="360440"/>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A79B"/>
            </a:solidFill>
          </p:spPr>
        </p:sp>
        <p:sp>
          <p:nvSpPr>
            <p:cNvPr id="9" name="TextBox 9"/>
            <p:cNvSpPr txBox="1"/>
            <p:nvPr/>
          </p:nvSpPr>
          <p:spPr>
            <a:xfrm>
              <a:off x="76200" y="104775"/>
              <a:ext cx="660400" cy="631825"/>
            </a:xfrm>
            <a:prstGeom prst="rect">
              <a:avLst/>
            </a:prstGeom>
          </p:spPr>
          <p:txBody>
            <a:bodyPr lIns="50800" tIns="50800" rIns="50800" bIns="50800" rtlCol="0" anchor="ctr"/>
            <a:lstStyle/>
            <a:p>
              <a:pPr algn="ctr">
                <a:lnSpc>
                  <a:spcPts val="2896"/>
                </a:lnSpc>
              </a:pPr>
              <a:endParaRPr/>
            </a:p>
          </p:txBody>
        </p:sp>
      </p:grpSp>
      <p:sp>
        <p:nvSpPr>
          <p:cNvPr id="10" name="Freeform 10"/>
          <p:cNvSpPr/>
          <p:nvPr/>
        </p:nvSpPr>
        <p:spPr>
          <a:xfrm flipH="1">
            <a:off x="11855871" y="4514549"/>
            <a:ext cx="9388520" cy="6026882"/>
          </a:xfrm>
          <a:custGeom>
            <a:avLst/>
            <a:gdLst/>
            <a:ahLst/>
            <a:cxnLst/>
            <a:rect l="l" t="t" r="r" b="b"/>
            <a:pathLst>
              <a:path w="9388520" h="6026882">
                <a:moveTo>
                  <a:pt x="9388520" y="0"/>
                </a:moveTo>
                <a:lnTo>
                  <a:pt x="0" y="0"/>
                </a:lnTo>
                <a:lnTo>
                  <a:pt x="0" y="6026882"/>
                </a:lnTo>
                <a:lnTo>
                  <a:pt x="9388520" y="6026882"/>
                </a:lnTo>
                <a:lnTo>
                  <a:pt x="9388520" y="0"/>
                </a:lnTo>
                <a:close/>
              </a:path>
            </a:pathLst>
          </a:custGeom>
          <a:blipFill>
            <a:blip r:embed="rId4"/>
            <a:stretch>
              <a:fillRect l="-105164" t="-80055" r="-320"/>
            </a:stretch>
          </a:blipFill>
        </p:spPr>
      </p:sp>
      <p:grpSp>
        <p:nvGrpSpPr>
          <p:cNvPr id="11" name="Group 11"/>
          <p:cNvGrpSpPr/>
          <p:nvPr/>
        </p:nvGrpSpPr>
        <p:grpSpPr>
          <a:xfrm>
            <a:off x="11313104" y="4880228"/>
            <a:ext cx="360440" cy="36044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A79B"/>
            </a:solidFill>
          </p:spPr>
        </p:sp>
        <p:sp>
          <p:nvSpPr>
            <p:cNvPr id="13" name="TextBox 13"/>
            <p:cNvSpPr txBox="1"/>
            <p:nvPr/>
          </p:nvSpPr>
          <p:spPr>
            <a:xfrm>
              <a:off x="76200" y="104775"/>
              <a:ext cx="660400" cy="631825"/>
            </a:xfrm>
            <a:prstGeom prst="rect">
              <a:avLst/>
            </a:prstGeom>
          </p:spPr>
          <p:txBody>
            <a:bodyPr lIns="50800" tIns="50800" rIns="50800" bIns="50800" rtlCol="0" anchor="ctr"/>
            <a:lstStyle/>
            <a:p>
              <a:pPr algn="ctr">
                <a:lnSpc>
                  <a:spcPts val="2896"/>
                </a:lnSpc>
              </a:pPr>
              <a:endParaRPr/>
            </a:p>
          </p:txBody>
        </p:sp>
      </p:grpSp>
      <p:grpSp>
        <p:nvGrpSpPr>
          <p:cNvPr id="14" name="Group 14"/>
          <p:cNvGrpSpPr/>
          <p:nvPr/>
        </p:nvGrpSpPr>
        <p:grpSpPr>
          <a:xfrm>
            <a:off x="11313104" y="6459374"/>
            <a:ext cx="360440" cy="360440"/>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A79B"/>
            </a:solidFill>
          </p:spPr>
        </p:sp>
        <p:sp>
          <p:nvSpPr>
            <p:cNvPr id="16" name="TextBox 16"/>
            <p:cNvSpPr txBox="1"/>
            <p:nvPr/>
          </p:nvSpPr>
          <p:spPr>
            <a:xfrm>
              <a:off x="76200" y="104775"/>
              <a:ext cx="660400" cy="631825"/>
            </a:xfrm>
            <a:prstGeom prst="rect">
              <a:avLst/>
            </a:prstGeom>
          </p:spPr>
          <p:txBody>
            <a:bodyPr lIns="50800" tIns="50800" rIns="50800" bIns="50800" rtlCol="0" anchor="ctr"/>
            <a:lstStyle/>
            <a:p>
              <a:pPr algn="ctr">
                <a:lnSpc>
                  <a:spcPts val="2896"/>
                </a:lnSpc>
              </a:pPr>
              <a:endParaRPr/>
            </a:p>
          </p:txBody>
        </p:sp>
      </p:grpSp>
      <p:grpSp>
        <p:nvGrpSpPr>
          <p:cNvPr id="17" name="Group 17"/>
          <p:cNvGrpSpPr/>
          <p:nvPr/>
        </p:nvGrpSpPr>
        <p:grpSpPr>
          <a:xfrm>
            <a:off x="11313104" y="8038520"/>
            <a:ext cx="360440" cy="360440"/>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A79B"/>
            </a:solidFill>
          </p:spPr>
        </p:sp>
        <p:sp>
          <p:nvSpPr>
            <p:cNvPr id="19" name="TextBox 19"/>
            <p:cNvSpPr txBox="1"/>
            <p:nvPr/>
          </p:nvSpPr>
          <p:spPr>
            <a:xfrm>
              <a:off x="76200" y="104775"/>
              <a:ext cx="660400" cy="631825"/>
            </a:xfrm>
            <a:prstGeom prst="rect">
              <a:avLst/>
            </a:prstGeom>
          </p:spPr>
          <p:txBody>
            <a:bodyPr lIns="50800" tIns="50800" rIns="50800" bIns="50800" rtlCol="0" anchor="ctr"/>
            <a:lstStyle/>
            <a:p>
              <a:pPr algn="ctr">
                <a:lnSpc>
                  <a:spcPts val="2896"/>
                </a:lnSpc>
              </a:pPr>
              <a:endParaRPr/>
            </a:p>
          </p:txBody>
        </p:sp>
      </p:grpSp>
      <p:sp>
        <p:nvSpPr>
          <p:cNvPr id="20" name="TextBox 20"/>
          <p:cNvSpPr txBox="1"/>
          <p:nvPr/>
        </p:nvSpPr>
        <p:spPr>
          <a:xfrm>
            <a:off x="12081479" y="3144804"/>
            <a:ext cx="5849852" cy="5409852"/>
          </a:xfrm>
          <a:prstGeom prst="rect">
            <a:avLst/>
          </a:prstGeom>
        </p:spPr>
        <p:txBody>
          <a:bodyPr lIns="0" tIns="0" rIns="0" bIns="0" rtlCol="0" anchor="t">
            <a:spAutoFit/>
          </a:bodyPr>
          <a:lstStyle/>
          <a:p>
            <a:pPr algn="l">
              <a:lnSpc>
                <a:spcPts val="4325"/>
              </a:lnSpc>
            </a:pPr>
            <a:r>
              <a:rPr lang="en-US" sz="3089" b="1">
                <a:solidFill>
                  <a:srgbClr val="FFFFFF"/>
                </a:solidFill>
                <a:latin typeface="DM Sans Bold"/>
                <a:ea typeface="DM Sans Bold"/>
                <a:cs typeface="DM Sans Bold"/>
                <a:sym typeface="DM Sans Bold"/>
              </a:rPr>
              <a:t>Data Cleansing</a:t>
            </a:r>
          </a:p>
          <a:p>
            <a:pPr algn="l">
              <a:lnSpc>
                <a:spcPts val="4325"/>
              </a:lnSpc>
            </a:pPr>
            <a:endParaRPr lang="en-US" sz="3089" b="1">
              <a:solidFill>
                <a:srgbClr val="FFFFFF"/>
              </a:solidFill>
              <a:latin typeface="DM Sans Bold"/>
              <a:ea typeface="DM Sans Bold"/>
              <a:cs typeface="DM Sans Bold"/>
              <a:sym typeface="DM Sans Bold"/>
            </a:endParaRPr>
          </a:p>
          <a:p>
            <a:pPr algn="l">
              <a:lnSpc>
                <a:spcPts val="4325"/>
              </a:lnSpc>
            </a:pPr>
            <a:endParaRPr lang="en-US" sz="3089" b="1">
              <a:solidFill>
                <a:srgbClr val="FFFFFF"/>
              </a:solidFill>
              <a:latin typeface="DM Sans Bold"/>
              <a:ea typeface="DM Sans Bold"/>
              <a:cs typeface="DM Sans Bold"/>
              <a:sym typeface="DM Sans Bold"/>
            </a:endParaRPr>
          </a:p>
          <a:p>
            <a:pPr algn="l">
              <a:lnSpc>
                <a:spcPts val="4325"/>
              </a:lnSpc>
            </a:pPr>
            <a:r>
              <a:rPr lang="en-US" sz="3089" b="1">
                <a:solidFill>
                  <a:srgbClr val="FFFFFF"/>
                </a:solidFill>
                <a:latin typeface="DM Sans Bold"/>
                <a:ea typeface="DM Sans Bold"/>
                <a:cs typeface="DM Sans Bold"/>
                <a:sym typeface="DM Sans Bold"/>
              </a:rPr>
              <a:t>Inventory Status Automation</a:t>
            </a:r>
          </a:p>
          <a:p>
            <a:pPr algn="l">
              <a:lnSpc>
                <a:spcPts val="4325"/>
              </a:lnSpc>
            </a:pPr>
            <a:endParaRPr lang="en-US" sz="3089" b="1">
              <a:solidFill>
                <a:srgbClr val="FFFFFF"/>
              </a:solidFill>
              <a:latin typeface="DM Sans Bold"/>
              <a:ea typeface="DM Sans Bold"/>
              <a:cs typeface="DM Sans Bold"/>
              <a:sym typeface="DM Sans Bold"/>
            </a:endParaRPr>
          </a:p>
          <a:p>
            <a:pPr algn="l">
              <a:lnSpc>
                <a:spcPts val="4325"/>
              </a:lnSpc>
            </a:pPr>
            <a:endParaRPr lang="en-US" sz="3089" b="1">
              <a:solidFill>
                <a:srgbClr val="FFFFFF"/>
              </a:solidFill>
              <a:latin typeface="DM Sans Bold"/>
              <a:ea typeface="DM Sans Bold"/>
              <a:cs typeface="DM Sans Bold"/>
              <a:sym typeface="DM Sans Bold"/>
            </a:endParaRPr>
          </a:p>
          <a:p>
            <a:pPr algn="l">
              <a:lnSpc>
                <a:spcPts val="4325"/>
              </a:lnSpc>
            </a:pPr>
            <a:r>
              <a:rPr lang="en-US" sz="3089" b="1">
                <a:solidFill>
                  <a:srgbClr val="FFFFFF"/>
                </a:solidFill>
                <a:latin typeface="DM Sans Bold"/>
                <a:ea typeface="DM Sans Bold"/>
                <a:cs typeface="DM Sans Bold"/>
                <a:sym typeface="DM Sans Bold"/>
              </a:rPr>
              <a:t>Data Integration  &amp; Analysis</a:t>
            </a:r>
          </a:p>
          <a:p>
            <a:pPr algn="l">
              <a:lnSpc>
                <a:spcPts val="4325"/>
              </a:lnSpc>
            </a:pPr>
            <a:endParaRPr lang="en-US" sz="3089" b="1">
              <a:solidFill>
                <a:srgbClr val="FFFFFF"/>
              </a:solidFill>
              <a:latin typeface="DM Sans Bold"/>
              <a:ea typeface="DM Sans Bold"/>
              <a:cs typeface="DM Sans Bold"/>
              <a:sym typeface="DM Sans Bold"/>
            </a:endParaRPr>
          </a:p>
          <a:p>
            <a:pPr algn="l">
              <a:lnSpc>
                <a:spcPts val="4325"/>
              </a:lnSpc>
            </a:pPr>
            <a:endParaRPr lang="en-US" sz="3089" b="1">
              <a:solidFill>
                <a:srgbClr val="FFFFFF"/>
              </a:solidFill>
              <a:latin typeface="DM Sans Bold"/>
              <a:ea typeface="DM Sans Bold"/>
              <a:cs typeface="DM Sans Bold"/>
              <a:sym typeface="DM Sans Bold"/>
            </a:endParaRPr>
          </a:p>
          <a:p>
            <a:pPr algn="l">
              <a:lnSpc>
                <a:spcPts val="4325"/>
              </a:lnSpc>
              <a:spcBef>
                <a:spcPct val="0"/>
              </a:spcBef>
            </a:pPr>
            <a:r>
              <a:rPr lang="en-US" sz="3089" b="1">
                <a:solidFill>
                  <a:srgbClr val="FFFFFF"/>
                </a:solidFill>
                <a:latin typeface="DM Sans Bold"/>
                <a:ea typeface="DM Sans Bold"/>
                <a:cs typeface="DM Sans Bold"/>
                <a:sym typeface="DM Sans Bold"/>
              </a:rPr>
              <a:t>Data Visualisation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0149002" y="136843"/>
            <a:ext cx="8062798" cy="10510911"/>
            <a:chOff x="0" y="0"/>
            <a:chExt cx="1758306" cy="2162739"/>
          </a:xfrm>
          <a:effectLst>
            <a:outerShdw blurRad="50800" dist="38100" dir="8100000" algn="tr" rotWithShape="0">
              <a:prstClr val="black">
                <a:alpha val="40000"/>
              </a:prstClr>
            </a:outerShdw>
          </a:effectLst>
        </p:grpSpPr>
        <p:sp>
          <p:nvSpPr>
            <p:cNvPr id="4" name="Freeform 4"/>
            <p:cNvSpPr/>
            <p:nvPr/>
          </p:nvSpPr>
          <p:spPr>
            <a:xfrm>
              <a:off x="0" y="0"/>
              <a:ext cx="1758306" cy="2162739"/>
            </a:xfrm>
            <a:custGeom>
              <a:avLst/>
              <a:gdLst/>
              <a:ahLst/>
              <a:cxnLst/>
              <a:rect l="l" t="t" r="r" b="b"/>
              <a:pathLst>
                <a:path w="1758306" h="2162739">
                  <a:moveTo>
                    <a:pt x="17695" y="0"/>
                  </a:moveTo>
                  <a:lnTo>
                    <a:pt x="1740611" y="0"/>
                  </a:lnTo>
                  <a:cubicBezTo>
                    <a:pt x="1745304" y="0"/>
                    <a:pt x="1749805" y="1864"/>
                    <a:pt x="1753123" y="5183"/>
                  </a:cubicBezTo>
                  <a:cubicBezTo>
                    <a:pt x="1756442" y="8501"/>
                    <a:pt x="1758306" y="13002"/>
                    <a:pt x="1758306" y="17695"/>
                  </a:cubicBezTo>
                  <a:lnTo>
                    <a:pt x="1758306" y="2145044"/>
                  </a:lnTo>
                  <a:cubicBezTo>
                    <a:pt x="1758306" y="2149737"/>
                    <a:pt x="1756442" y="2154238"/>
                    <a:pt x="1753123" y="2157556"/>
                  </a:cubicBezTo>
                  <a:cubicBezTo>
                    <a:pt x="1749805" y="2160874"/>
                    <a:pt x="1745304" y="2162739"/>
                    <a:pt x="1740611" y="2162739"/>
                  </a:cubicBezTo>
                  <a:lnTo>
                    <a:pt x="17695" y="2162739"/>
                  </a:lnTo>
                  <a:cubicBezTo>
                    <a:pt x="7922" y="2162739"/>
                    <a:pt x="0" y="2154817"/>
                    <a:pt x="0" y="2145044"/>
                  </a:cubicBezTo>
                  <a:lnTo>
                    <a:pt x="0" y="17695"/>
                  </a:lnTo>
                  <a:cubicBezTo>
                    <a:pt x="0" y="13002"/>
                    <a:pt x="1864" y="8501"/>
                    <a:pt x="5183" y="5183"/>
                  </a:cubicBezTo>
                  <a:cubicBezTo>
                    <a:pt x="8501" y="1864"/>
                    <a:pt x="13002" y="0"/>
                    <a:pt x="17695" y="0"/>
                  </a:cubicBezTo>
                  <a:close/>
                </a:path>
              </a:pathLst>
            </a:custGeom>
            <a:solidFill>
              <a:srgbClr val="FFFFFF"/>
            </a:solidFill>
          </p:spPr>
        </p:sp>
        <p:sp>
          <p:nvSpPr>
            <p:cNvPr id="5" name="TextBox 5"/>
            <p:cNvSpPr txBox="1"/>
            <p:nvPr/>
          </p:nvSpPr>
          <p:spPr>
            <a:xfrm>
              <a:off x="0" y="28575"/>
              <a:ext cx="1758306" cy="2134164"/>
            </a:xfrm>
            <a:prstGeom prst="rect">
              <a:avLst/>
            </a:prstGeom>
          </p:spPr>
          <p:txBody>
            <a:bodyPr lIns="50800" tIns="50800" rIns="50800" bIns="50800" rtlCol="0" anchor="ctr"/>
            <a:lstStyle/>
            <a:p>
              <a:pPr algn="ctr">
                <a:lnSpc>
                  <a:spcPts val="2896"/>
                </a:lnSpc>
              </a:pPr>
              <a:endParaRPr/>
            </a:p>
          </p:txBody>
        </p:sp>
      </p:grpSp>
      <p:sp>
        <p:nvSpPr>
          <p:cNvPr id="6" name="Freeform 6"/>
          <p:cNvSpPr/>
          <p:nvPr/>
        </p:nvSpPr>
        <p:spPr>
          <a:xfrm>
            <a:off x="859862" y="483790"/>
            <a:ext cx="1672913" cy="1672913"/>
          </a:xfrm>
          <a:custGeom>
            <a:avLst/>
            <a:gdLst/>
            <a:ahLst/>
            <a:cxnLst/>
            <a:rect l="l" t="t" r="r" b="b"/>
            <a:pathLst>
              <a:path w="1672913" h="1672913">
                <a:moveTo>
                  <a:pt x="0" y="0"/>
                </a:moveTo>
                <a:lnTo>
                  <a:pt x="1672912" y="0"/>
                </a:lnTo>
                <a:lnTo>
                  <a:pt x="1672912" y="1672912"/>
                </a:lnTo>
                <a:lnTo>
                  <a:pt x="0" y="1672912"/>
                </a:lnTo>
                <a:lnTo>
                  <a:pt x="0" y="0"/>
                </a:lnTo>
                <a:close/>
              </a:path>
            </a:pathLst>
          </a:custGeom>
          <a:blipFill>
            <a:blip r:embed="rId3"/>
            <a:stretch>
              <a:fillRect/>
            </a:stretch>
          </a:blipFill>
        </p:spPr>
      </p:sp>
      <p:grpSp>
        <p:nvGrpSpPr>
          <p:cNvPr id="7" name="Group 7"/>
          <p:cNvGrpSpPr/>
          <p:nvPr/>
        </p:nvGrpSpPr>
        <p:grpSpPr>
          <a:xfrm>
            <a:off x="10436771" y="483790"/>
            <a:ext cx="7622629" cy="3375172"/>
            <a:chOff x="0" y="0"/>
            <a:chExt cx="812800" cy="812800"/>
          </a:xfrm>
        </p:grpSpPr>
        <p:sp>
          <p:nvSpPr>
            <p:cNvPr id="8" name="Freeform 8"/>
            <p:cNvSpPr/>
            <p:nvPr/>
          </p:nvSpPr>
          <p:spPr>
            <a:xfrm>
              <a:off x="0" y="0"/>
              <a:ext cx="812800" cy="812800"/>
            </a:xfrm>
            <a:custGeom>
              <a:avLst/>
              <a:gdLst/>
              <a:ahLst/>
              <a:cxnLst/>
              <a:rect l="l" t="t" r="r" b="b"/>
              <a:pathLst>
                <a:path w="812800" h="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1FA79B"/>
            </a:solidFill>
          </p:spPr>
        </p:sp>
        <p:sp>
          <p:nvSpPr>
            <p:cNvPr id="9" name="TextBox 9"/>
            <p:cNvSpPr txBox="1"/>
            <p:nvPr/>
          </p:nvSpPr>
          <p:spPr>
            <a:xfrm>
              <a:off x="0" y="28575"/>
              <a:ext cx="812800" cy="784225"/>
            </a:xfrm>
            <a:prstGeom prst="rect">
              <a:avLst/>
            </a:prstGeom>
          </p:spPr>
          <p:txBody>
            <a:bodyPr lIns="50800" tIns="50800" rIns="50800" bIns="50800" rtlCol="0" anchor="ctr"/>
            <a:lstStyle/>
            <a:p>
              <a:pPr algn="ctr">
                <a:lnSpc>
                  <a:spcPts val="2896"/>
                </a:lnSpc>
              </a:pPr>
              <a:endParaRPr lang="en-US" sz="2632" dirty="0">
                <a:solidFill>
                  <a:srgbClr val="000000"/>
                </a:solidFill>
                <a:latin typeface="Montserrat"/>
                <a:ea typeface="Montserrat"/>
                <a:cs typeface="Montserrat"/>
                <a:sym typeface="Montserrat"/>
              </a:endParaRPr>
            </a:p>
          </p:txBody>
        </p:sp>
      </p:grpSp>
      <p:sp>
        <p:nvSpPr>
          <p:cNvPr id="10" name="TextBox 10"/>
          <p:cNvSpPr txBox="1"/>
          <p:nvPr/>
        </p:nvSpPr>
        <p:spPr>
          <a:xfrm>
            <a:off x="902441" y="1828042"/>
            <a:ext cx="8545366" cy="918265"/>
          </a:xfrm>
          <a:prstGeom prst="rect">
            <a:avLst/>
          </a:prstGeom>
        </p:spPr>
        <p:txBody>
          <a:bodyPr wrap="square" lIns="0" tIns="0" rIns="0" bIns="0" rtlCol="0" anchor="t">
            <a:spAutoFit/>
          </a:bodyPr>
          <a:lstStyle/>
          <a:p>
            <a:pPr algn="l">
              <a:lnSpc>
                <a:spcPts val="6949"/>
              </a:lnSpc>
            </a:pPr>
            <a:r>
              <a:rPr lang="en-US" sz="6949" b="1" dirty="0">
                <a:gradFill>
                  <a:gsLst>
                    <a:gs pos="0">
                      <a:srgbClr val="FFFFFF">
                        <a:alpha val="100000"/>
                      </a:srgbClr>
                    </a:gs>
                    <a:gs pos="100000">
                      <a:srgbClr val="E3FAF9">
                        <a:alpha val="100000"/>
                      </a:srgbClr>
                    </a:gs>
                  </a:gsLst>
                  <a:path path="circle">
                    <a:fillToRect r="100000" b="100000"/>
                  </a:path>
                  <a:tileRect l="-100000" t="-100000"/>
                </a:gradFill>
                <a:latin typeface="DM Sans Bold"/>
                <a:ea typeface="DM Sans Bold"/>
                <a:cs typeface="DM Sans Bold"/>
                <a:sym typeface="DM Sans Bold"/>
              </a:rPr>
              <a:t>DATA CLEANSING</a:t>
            </a:r>
          </a:p>
        </p:txBody>
      </p:sp>
      <p:sp>
        <p:nvSpPr>
          <p:cNvPr id="11" name="TextBox 11"/>
          <p:cNvSpPr txBox="1"/>
          <p:nvPr/>
        </p:nvSpPr>
        <p:spPr>
          <a:xfrm>
            <a:off x="951402" y="3402940"/>
            <a:ext cx="7187598" cy="3978718"/>
          </a:xfrm>
          <a:prstGeom prst="rect">
            <a:avLst/>
          </a:prstGeom>
        </p:spPr>
        <p:txBody>
          <a:bodyPr wrap="square" lIns="0" tIns="0" rIns="0" bIns="0" rtlCol="0" anchor="t">
            <a:spAutoFit/>
          </a:bodyPr>
          <a:lstStyle/>
          <a:p>
            <a:pPr>
              <a:lnSpc>
                <a:spcPts val="3921"/>
              </a:lnSpc>
              <a:spcBef>
                <a:spcPct val="0"/>
              </a:spcBef>
            </a:pPr>
            <a:r>
              <a:rPr lang="en-US" sz="2801" dirty="0">
                <a:solidFill>
                  <a:srgbClr val="FFFFFF"/>
                </a:solidFill>
                <a:latin typeface="DM Sans"/>
                <a:ea typeface="DM Sans"/>
                <a:cs typeface="DM Sans"/>
                <a:sym typeface="DM Sans"/>
              </a:rPr>
              <a:t>The steps for data cleansing is:</a:t>
            </a:r>
          </a:p>
          <a:p>
            <a:pPr marL="514350" indent="-514350" algn="l">
              <a:lnSpc>
                <a:spcPts val="3921"/>
              </a:lnSpc>
              <a:spcBef>
                <a:spcPct val="0"/>
              </a:spcBef>
              <a:buAutoNum type="arabicPeriod"/>
            </a:pPr>
            <a:r>
              <a:rPr lang="en-US" sz="2801" dirty="0">
                <a:solidFill>
                  <a:srgbClr val="FFFFFF"/>
                </a:solidFill>
                <a:latin typeface="DM Sans"/>
                <a:ea typeface="DM Sans"/>
                <a:cs typeface="DM Sans"/>
                <a:sym typeface="DM Sans"/>
              </a:rPr>
              <a:t>Delete blank row and  columns</a:t>
            </a:r>
          </a:p>
          <a:p>
            <a:pPr marL="514350" indent="-514350" algn="l">
              <a:lnSpc>
                <a:spcPts val="3921"/>
              </a:lnSpc>
              <a:spcBef>
                <a:spcPct val="0"/>
              </a:spcBef>
              <a:buAutoNum type="arabicPeriod"/>
            </a:pPr>
            <a:r>
              <a:rPr lang="en-US" sz="2801" dirty="0">
                <a:solidFill>
                  <a:srgbClr val="FFFFFF"/>
                </a:solidFill>
                <a:latin typeface="DM Sans"/>
                <a:ea typeface="DM Sans"/>
                <a:cs typeface="DM Sans"/>
                <a:sym typeface="DM Sans"/>
              </a:rPr>
              <a:t>Checking if there is duplicated data</a:t>
            </a:r>
          </a:p>
          <a:p>
            <a:pPr marL="514350" indent="-514350" algn="l">
              <a:lnSpc>
                <a:spcPts val="3921"/>
              </a:lnSpc>
              <a:spcBef>
                <a:spcPct val="0"/>
              </a:spcBef>
              <a:buAutoNum type="arabicPeriod"/>
            </a:pPr>
            <a:r>
              <a:rPr lang="en-US" sz="2801" dirty="0">
                <a:solidFill>
                  <a:srgbClr val="FFFFFF"/>
                </a:solidFill>
                <a:latin typeface="DM Sans"/>
                <a:ea typeface="DM Sans"/>
                <a:cs typeface="DM Sans"/>
                <a:sym typeface="DM Sans"/>
              </a:rPr>
              <a:t>Fixing Format data values per column using filter, concatenate, replace function to get clean and formed data</a:t>
            </a:r>
          </a:p>
          <a:p>
            <a:pPr marL="514350" indent="-514350" algn="l">
              <a:lnSpc>
                <a:spcPts val="3921"/>
              </a:lnSpc>
              <a:spcBef>
                <a:spcPct val="0"/>
              </a:spcBef>
              <a:buAutoNum type="arabicPeriod"/>
            </a:pPr>
            <a:r>
              <a:rPr lang="en-US" sz="2801" dirty="0" err="1">
                <a:solidFill>
                  <a:srgbClr val="FFFFFF"/>
                </a:solidFill>
                <a:latin typeface="DM Sans"/>
                <a:ea typeface="DM Sans"/>
                <a:cs typeface="DM Sans"/>
                <a:sym typeface="DM Sans"/>
              </a:rPr>
              <a:t>Highligt</a:t>
            </a:r>
            <a:r>
              <a:rPr lang="en-US" sz="2801" dirty="0">
                <a:solidFill>
                  <a:srgbClr val="FFFFFF"/>
                </a:solidFill>
                <a:latin typeface="DM Sans"/>
                <a:ea typeface="DM Sans"/>
                <a:cs typeface="DM Sans"/>
                <a:sym typeface="DM Sans"/>
              </a:rPr>
              <a:t> the unusual data to confirm to stakeholder</a:t>
            </a:r>
          </a:p>
        </p:txBody>
      </p:sp>
      <p:grpSp>
        <p:nvGrpSpPr>
          <p:cNvPr id="12" name="Group 12"/>
          <p:cNvGrpSpPr/>
          <p:nvPr/>
        </p:nvGrpSpPr>
        <p:grpSpPr>
          <a:xfrm>
            <a:off x="889387" y="8127758"/>
            <a:ext cx="3086100" cy="1130542"/>
            <a:chOff x="0" y="0"/>
            <a:chExt cx="812800" cy="297756"/>
          </a:xfrm>
        </p:grpSpPr>
        <p:sp>
          <p:nvSpPr>
            <p:cNvPr id="13" name="Freeform 13"/>
            <p:cNvSpPr/>
            <p:nvPr/>
          </p:nvSpPr>
          <p:spPr>
            <a:xfrm>
              <a:off x="0" y="0"/>
              <a:ext cx="812800" cy="297756"/>
            </a:xfrm>
            <a:custGeom>
              <a:avLst/>
              <a:gdLst/>
              <a:ahLst/>
              <a:cxnLst/>
              <a:rect l="l" t="t" r="r" b="b"/>
              <a:pathLst>
                <a:path w="812800" h="297756">
                  <a:moveTo>
                    <a:pt x="127941" y="0"/>
                  </a:moveTo>
                  <a:lnTo>
                    <a:pt x="684859" y="0"/>
                  </a:lnTo>
                  <a:cubicBezTo>
                    <a:pt x="718791" y="0"/>
                    <a:pt x="751333" y="13479"/>
                    <a:pt x="775327" y="37473"/>
                  </a:cubicBezTo>
                  <a:cubicBezTo>
                    <a:pt x="799321" y="61467"/>
                    <a:pt x="812800" y="94009"/>
                    <a:pt x="812800" y="127941"/>
                  </a:cubicBezTo>
                  <a:lnTo>
                    <a:pt x="812800" y="169815"/>
                  </a:lnTo>
                  <a:cubicBezTo>
                    <a:pt x="812800" y="203747"/>
                    <a:pt x="799321" y="236289"/>
                    <a:pt x="775327" y="260283"/>
                  </a:cubicBezTo>
                  <a:cubicBezTo>
                    <a:pt x="751333" y="284276"/>
                    <a:pt x="718791" y="297756"/>
                    <a:pt x="684859" y="297756"/>
                  </a:cubicBezTo>
                  <a:lnTo>
                    <a:pt x="127941" y="297756"/>
                  </a:lnTo>
                  <a:cubicBezTo>
                    <a:pt x="94009" y="297756"/>
                    <a:pt x="61467" y="284276"/>
                    <a:pt x="37473" y="260283"/>
                  </a:cubicBezTo>
                  <a:cubicBezTo>
                    <a:pt x="13479" y="236289"/>
                    <a:pt x="0" y="203747"/>
                    <a:pt x="0" y="169815"/>
                  </a:cubicBezTo>
                  <a:lnTo>
                    <a:pt x="0" y="127941"/>
                  </a:lnTo>
                  <a:cubicBezTo>
                    <a:pt x="0" y="94009"/>
                    <a:pt x="13479" y="61467"/>
                    <a:pt x="37473" y="37473"/>
                  </a:cubicBezTo>
                  <a:cubicBezTo>
                    <a:pt x="61467" y="13479"/>
                    <a:pt x="94009" y="0"/>
                    <a:pt x="127941" y="0"/>
                  </a:cubicBezTo>
                  <a:close/>
                </a:path>
              </a:pathLst>
            </a:custGeom>
            <a:solidFill>
              <a:srgbClr val="1FA79B"/>
            </a:solidFill>
          </p:spPr>
        </p:sp>
        <p:sp>
          <p:nvSpPr>
            <p:cNvPr id="14" name="TextBox 14"/>
            <p:cNvSpPr txBox="1"/>
            <p:nvPr/>
          </p:nvSpPr>
          <p:spPr>
            <a:xfrm>
              <a:off x="0" y="28575"/>
              <a:ext cx="812800" cy="269181"/>
            </a:xfrm>
            <a:prstGeom prst="rect">
              <a:avLst/>
            </a:prstGeom>
          </p:spPr>
          <p:txBody>
            <a:bodyPr lIns="50800" tIns="50800" rIns="50800" bIns="50800" rtlCol="0" anchor="ctr"/>
            <a:lstStyle/>
            <a:p>
              <a:pPr algn="ctr">
                <a:lnSpc>
                  <a:spcPts val="2896"/>
                </a:lnSpc>
              </a:pPr>
              <a:r>
                <a:rPr lang="en-US" sz="2000" dirty="0">
                  <a:solidFill>
                    <a:schemeClr val="bg1"/>
                  </a:solidFill>
                  <a:latin typeface="Montserrat"/>
                  <a:ea typeface="Montserrat"/>
                  <a:cs typeface="Montserrat"/>
                  <a:sym typeface="Montserrat"/>
                </a:rPr>
                <a:t>https://bit.ly/4qBwJef</a:t>
              </a:r>
            </a:p>
          </p:txBody>
        </p:sp>
      </p:grpSp>
      <p:grpSp>
        <p:nvGrpSpPr>
          <p:cNvPr id="15" name="Group 15"/>
          <p:cNvGrpSpPr/>
          <p:nvPr/>
        </p:nvGrpSpPr>
        <p:grpSpPr>
          <a:xfrm>
            <a:off x="10436770" y="5188403"/>
            <a:ext cx="7622629" cy="3086100"/>
            <a:chOff x="0" y="0"/>
            <a:chExt cx="812800" cy="812800"/>
          </a:xfrm>
        </p:grpSpPr>
        <p:sp>
          <p:nvSpPr>
            <p:cNvPr id="16" name="Freeform 16"/>
            <p:cNvSpPr/>
            <p:nvPr/>
          </p:nvSpPr>
          <p:spPr>
            <a:xfrm>
              <a:off x="0" y="0"/>
              <a:ext cx="812800" cy="812800"/>
            </a:xfrm>
            <a:custGeom>
              <a:avLst/>
              <a:gdLst/>
              <a:ahLst/>
              <a:cxnLst/>
              <a:rect l="l" t="t" r="r" b="b"/>
              <a:pathLst>
                <a:path w="812800" h="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1FA79B"/>
            </a:solidFill>
          </p:spPr>
        </p:sp>
        <p:sp>
          <p:nvSpPr>
            <p:cNvPr id="17" name="TextBox 17"/>
            <p:cNvSpPr txBox="1"/>
            <p:nvPr/>
          </p:nvSpPr>
          <p:spPr>
            <a:xfrm>
              <a:off x="0" y="28575"/>
              <a:ext cx="812800" cy="784225"/>
            </a:xfrm>
            <a:prstGeom prst="rect">
              <a:avLst/>
            </a:prstGeom>
          </p:spPr>
          <p:txBody>
            <a:bodyPr lIns="50800" tIns="50800" rIns="50800" bIns="50800" rtlCol="0" anchor="ctr"/>
            <a:lstStyle/>
            <a:p>
              <a:pPr algn="ctr">
                <a:lnSpc>
                  <a:spcPts val="2896"/>
                </a:lnSpc>
              </a:pPr>
              <a:endParaRPr lang="en-US" sz="2632" dirty="0">
                <a:solidFill>
                  <a:srgbClr val="000000"/>
                </a:solidFill>
                <a:latin typeface="Montserrat"/>
                <a:ea typeface="Montserrat"/>
                <a:cs typeface="Montserrat"/>
                <a:sym typeface="Montserrat"/>
              </a:endParaRPr>
            </a:p>
          </p:txBody>
        </p:sp>
      </p:grpSp>
      <p:sp>
        <p:nvSpPr>
          <p:cNvPr id="18" name="TextBox 18"/>
          <p:cNvSpPr txBox="1"/>
          <p:nvPr/>
        </p:nvSpPr>
        <p:spPr>
          <a:xfrm>
            <a:off x="13598322" y="4412419"/>
            <a:ext cx="1427285" cy="371897"/>
          </a:xfrm>
          <a:prstGeom prst="rect">
            <a:avLst/>
          </a:prstGeom>
        </p:spPr>
        <p:txBody>
          <a:bodyPr wrap="square" lIns="0" tIns="0" rIns="0" bIns="0" rtlCol="0" anchor="t">
            <a:spAutoFit/>
          </a:bodyPr>
          <a:lstStyle/>
          <a:p>
            <a:pPr algn="ctr">
              <a:lnSpc>
                <a:spcPts val="2896"/>
              </a:lnSpc>
              <a:spcBef>
                <a:spcPct val="0"/>
              </a:spcBef>
            </a:pPr>
            <a:r>
              <a:rPr lang="en-US" sz="2632" dirty="0">
                <a:solidFill>
                  <a:srgbClr val="000000"/>
                </a:solidFill>
                <a:latin typeface="Montserrat"/>
                <a:ea typeface="Montserrat"/>
                <a:cs typeface="Montserrat"/>
                <a:sym typeface="Montserrat"/>
              </a:rPr>
              <a:t>Before</a:t>
            </a:r>
          </a:p>
        </p:txBody>
      </p:sp>
      <p:sp>
        <p:nvSpPr>
          <p:cNvPr id="19" name="TextBox 19"/>
          <p:cNvSpPr txBox="1"/>
          <p:nvPr/>
        </p:nvSpPr>
        <p:spPr>
          <a:xfrm>
            <a:off x="13847728" y="8891488"/>
            <a:ext cx="1468471" cy="371897"/>
          </a:xfrm>
          <a:prstGeom prst="rect">
            <a:avLst/>
          </a:prstGeom>
        </p:spPr>
        <p:txBody>
          <a:bodyPr wrap="square" lIns="0" tIns="0" rIns="0" bIns="0" rtlCol="0" anchor="t">
            <a:spAutoFit/>
          </a:bodyPr>
          <a:lstStyle/>
          <a:p>
            <a:pPr algn="ctr">
              <a:lnSpc>
                <a:spcPts val="2896"/>
              </a:lnSpc>
              <a:spcBef>
                <a:spcPct val="0"/>
              </a:spcBef>
            </a:pPr>
            <a:r>
              <a:rPr lang="en-US" sz="2632" dirty="0">
                <a:solidFill>
                  <a:srgbClr val="000000"/>
                </a:solidFill>
                <a:latin typeface="Montserrat"/>
                <a:ea typeface="Montserrat"/>
                <a:cs typeface="Montserrat"/>
                <a:sym typeface="Montserrat"/>
              </a:rPr>
              <a:t>After</a:t>
            </a:r>
          </a:p>
        </p:txBody>
      </p:sp>
      <p:pic>
        <p:nvPicPr>
          <p:cNvPr id="21" name="Picture 20">
            <a:extLst>
              <a:ext uri="{FF2B5EF4-FFF2-40B4-BE49-F238E27FC236}">
                <a16:creationId xmlns:a16="http://schemas.microsoft.com/office/drawing/2014/main" id="{51F9051F-CE7D-C37C-E403-24C4B4307800}"/>
              </a:ext>
            </a:extLst>
          </p:cNvPr>
          <p:cNvPicPr>
            <a:picLocks noChangeAspect="1"/>
          </p:cNvPicPr>
          <p:nvPr/>
        </p:nvPicPr>
        <p:blipFill>
          <a:blip r:embed="rId4"/>
          <a:stretch>
            <a:fillRect/>
          </a:stretch>
        </p:blipFill>
        <p:spPr>
          <a:xfrm>
            <a:off x="10944216" y="590975"/>
            <a:ext cx="6607738" cy="3598961"/>
          </a:xfrm>
          <a:prstGeom prst="roundRect">
            <a:avLst/>
          </a:prstGeom>
        </p:spPr>
      </p:pic>
      <p:pic>
        <p:nvPicPr>
          <p:cNvPr id="23" name="Picture 22">
            <a:extLst>
              <a:ext uri="{FF2B5EF4-FFF2-40B4-BE49-F238E27FC236}">
                <a16:creationId xmlns:a16="http://schemas.microsoft.com/office/drawing/2014/main" id="{E25321B1-CF16-3D64-1457-C5E99263051E}"/>
              </a:ext>
            </a:extLst>
          </p:cNvPr>
          <p:cNvPicPr>
            <a:picLocks noChangeAspect="1"/>
          </p:cNvPicPr>
          <p:nvPr/>
        </p:nvPicPr>
        <p:blipFill>
          <a:blip r:embed="rId5"/>
          <a:stretch>
            <a:fillRect/>
          </a:stretch>
        </p:blipFill>
        <p:spPr>
          <a:xfrm>
            <a:off x="10919409" y="5580708"/>
            <a:ext cx="6705600" cy="2984545"/>
          </a:xfrm>
          <a:prstGeom prst="roundRect">
            <a:avLst/>
          </a:prstGeom>
        </p:spPr>
      </p:pic>
      <p:sp>
        <p:nvSpPr>
          <p:cNvPr id="24" name="Rectangle 23">
            <a:extLst>
              <a:ext uri="{FF2B5EF4-FFF2-40B4-BE49-F238E27FC236}">
                <a16:creationId xmlns:a16="http://schemas.microsoft.com/office/drawing/2014/main" id="{A2E814C4-0127-5D18-3AA0-C931AAA4F5CE}"/>
              </a:ext>
            </a:extLst>
          </p:cNvPr>
          <p:cNvSpPr/>
          <p:nvPr/>
        </p:nvSpPr>
        <p:spPr>
          <a:xfrm>
            <a:off x="11125201" y="952500"/>
            <a:ext cx="1295400" cy="3344621"/>
          </a:xfrm>
          <a:prstGeom prst="rect">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7" name="Rectangle 26">
            <a:extLst>
              <a:ext uri="{FF2B5EF4-FFF2-40B4-BE49-F238E27FC236}">
                <a16:creationId xmlns:a16="http://schemas.microsoft.com/office/drawing/2014/main" id="{F8D56F7C-09D1-43D9-5848-4C240FA31EB9}"/>
              </a:ext>
            </a:extLst>
          </p:cNvPr>
          <p:cNvSpPr/>
          <p:nvPr/>
        </p:nvSpPr>
        <p:spPr>
          <a:xfrm>
            <a:off x="12505168" y="952499"/>
            <a:ext cx="674804" cy="3344621"/>
          </a:xfrm>
          <a:prstGeom prst="rect">
            <a:avLst/>
          </a:prstGeom>
          <a:noFill/>
          <a:ln>
            <a:solidFill>
              <a:srgbClr val="FFC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8" name="Rectangle 27">
            <a:extLst>
              <a:ext uri="{FF2B5EF4-FFF2-40B4-BE49-F238E27FC236}">
                <a16:creationId xmlns:a16="http://schemas.microsoft.com/office/drawing/2014/main" id="{F8DC1D36-7BC5-43B1-1A3D-5712A331A906}"/>
              </a:ext>
            </a:extLst>
          </p:cNvPr>
          <p:cNvSpPr/>
          <p:nvPr/>
        </p:nvSpPr>
        <p:spPr>
          <a:xfrm>
            <a:off x="13726256" y="898907"/>
            <a:ext cx="1868788" cy="3344621"/>
          </a:xfrm>
          <a:prstGeom prst="rect">
            <a:avLst/>
          </a:prstGeom>
          <a:noFill/>
          <a:ln>
            <a:solidFill>
              <a:schemeClr val="accent6">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9" name="Arrow: Down 28">
            <a:extLst>
              <a:ext uri="{FF2B5EF4-FFF2-40B4-BE49-F238E27FC236}">
                <a16:creationId xmlns:a16="http://schemas.microsoft.com/office/drawing/2014/main" id="{807748DC-52F1-DEF7-E7EA-3B9C8E3A5AC4}"/>
              </a:ext>
            </a:extLst>
          </p:cNvPr>
          <p:cNvSpPr/>
          <p:nvPr/>
        </p:nvSpPr>
        <p:spPr>
          <a:xfrm>
            <a:off x="16047203" y="3742170"/>
            <a:ext cx="990600" cy="1961208"/>
          </a:xfrm>
          <a:prstGeom prst="downArrow">
            <a:avLst/>
          </a:prstGeom>
          <a:solidFill>
            <a:schemeClr val="accent5">
              <a:lumMod val="60000"/>
              <a:lumOff val="4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0" name="Rectangle 29">
            <a:extLst>
              <a:ext uri="{FF2B5EF4-FFF2-40B4-BE49-F238E27FC236}">
                <a16:creationId xmlns:a16="http://schemas.microsoft.com/office/drawing/2014/main" id="{9DED4D12-20C6-159B-D9C6-F47AD008ACF7}"/>
              </a:ext>
            </a:extLst>
          </p:cNvPr>
          <p:cNvSpPr/>
          <p:nvPr/>
        </p:nvSpPr>
        <p:spPr>
          <a:xfrm>
            <a:off x="15681701" y="872111"/>
            <a:ext cx="2051237" cy="3344621"/>
          </a:xfrm>
          <a:prstGeom prst="rect">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406FD-3221-826B-8988-FB535A6E27C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E9F59BB-461F-039A-B28B-D6BE378FCBD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a:extLst>
              <a:ext uri="{FF2B5EF4-FFF2-40B4-BE49-F238E27FC236}">
                <a16:creationId xmlns:a16="http://schemas.microsoft.com/office/drawing/2014/main" id="{45EC1BD7-C6FE-D814-2483-A28C0F18894F}"/>
              </a:ext>
            </a:extLst>
          </p:cNvPr>
          <p:cNvSpPr/>
          <p:nvPr/>
        </p:nvSpPr>
        <p:spPr>
          <a:xfrm>
            <a:off x="16422844" y="341197"/>
            <a:ext cx="1672913" cy="1672913"/>
          </a:xfrm>
          <a:custGeom>
            <a:avLst/>
            <a:gdLst/>
            <a:ahLst/>
            <a:cxnLst/>
            <a:rect l="l" t="t" r="r" b="b"/>
            <a:pathLst>
              <a:path w="1672913" h="1672913">
                <a:moveTo>
                  <a:pt x="0" y="0"/>
                </a:moveTo>
                <a:lnTo>
                  <a:pt x="1672912" y="0"/>
                </a:lnTo>
                <a:lnTo>
                  <a:pt x="1672912" y="1672912"/>
                </a:lnTo>
                <a:lnTo>
                  <a:pt x="0" y="1672912"/>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8551BCCB-7CF8-F3D8-CBED-8481024D8306}"/>
              </a:ext>
            </a:extLst>
          </p:cNvPr>
          <p:cNvSpPr/>
          <p:nvPr/>
        </p:nvSpPr>
        <p:spPr>
          <a:xfrm flipH="1">
            <a:off x="11855871" y="4514549"/>
            <a:ext cx="9388520" cy="6026882"/>
          </a:xfrm>
          <a:custGeom>
            <a:avLst/>
            <a:gdLst/>
            <a:ahLst/>
            <a:cxnLst/>
            <a:rect l="l" t="t" r="r" b="b"/>
            <a:pathLst>
              <a:path w="9388520" h="6026882">
                <a:moveTo>
                  <a:pt x="9388520" y="0"/>
                </a:moveTo>
                <a:lnTo>
                  <a:pt x="0" y="0"/>
                </a:lnTo>
                <a:lnTo>
                  <a:pt x="0" y="6026882"/>
                </a:lnTo>
                <a:lnTo>
                  <a:pt x="9388520" y="6026882"/>
                </a:lnTo>
                <a:lnTo>
                  <a:pt x="9388520" y="0"/>
                </a:lnTo>
                <a:close/>
              </a:path>
            </a:pathLst>
          </a:custGeom>
          <a:blipFill>
            <a:blip r:embed="rId4"/>
            <a:stretch>
              <a:fillRect l="-105164" t="-80055" r="-320"/>
            </a:stretch>
          </a:blipFill>
        </p:spPr>
      </p:sp>
      <p:sp>
        <p:nvSpPr>
          <p:cNvPr id="6" name="TextBox 6">
            <a:extLst>
              <a:ext uri="{FF2B5EF4-FFF2-40B4-BE49-F238E27FC236}">
                <a16:creationId xmlns:a16="http://schemas.microsoft.com/office/drawing/2014/main" id="{080B87B0-83C6-8703-3BDC-DCD7FD2C3C2A}"/>
              </a:ext>
            </a:extLst>
          </p:cNvPr>
          <p:cNvSpPr txBox="1"/>
          <p:nvPr/>
        </p:nvSpPr>
        <p:spPr>
          <a:xfrm>
            <a:off x="1028700" y="888217"/>
            <a:ext cx="8562097" cy="918265"/>
          </a:xfrm>
          <a:prstGeom prst="rect">
            <a:avLst/>
          </a:prstGeom>
        </p:spPr>
        <p:txBody>
          <a:bodyPr lIns="0" tIns="0" rIns="0" bIns="0" rtlCol="0" anchor="t">
            <a:spAutoFit/>
          </a:bodyPr>
          <a:lstStyle/>
          <a:p>
            <a:pPr algn="just">
              <a:lnSpc>
                <a:spcPts val="6949"/>
              </a:lnSpc>
            </a:pPr>
            <a:r>
              <a:rPr lang="en-US" sz="6949" b="1" dirty="0">
                <a:gradFill>
                  <a:gsLst>
                    <a:gs pos="0">
                      <a:srgbClr val="FFFFFF">
                        <a:alpha val="100000"/>
                      </a:srgbClr>
                    </a:gs>
                    <a:gs pos="100000">
                      <a:srgbClr val="E3FAF9">
                        <a:alpha val="100000"/>
                      </a:srgbClr>
                    </a:gs>
                  </a:gsLst>
                  <a:path path="circle">
                    <a:fillToRect r="100000" b="100000"/>
                  </a:path>
                  <a:tileRect l="-100000" t="-100000"/>
                </a:gradFill>
                <a:latin typeface="DM Sans Bold"/>
                <a:ea typeface="DM Sans Bold"/>
                <a:cs typeface="DM Sans Bold"/>
                <a:sym typeface="DM Sans Bold"/>
              </a:rPr>
              <a:t>DATA CLEANSING</a:t>
            </a:r>
          </a:p>
        </p:txBody>
      </p:sp>
      <p:sp>
        <p:nvSpPr>
          <p:cNvPr id="7" name="TextBox 7">
            <a:extLst>
              <a:ext uri="{FF2B5EF4-FFF2-40B4-BE49-F238E27FC236}">
                <a16:creationId xmlns:a16="http://schemas.microsoft.com/office/drawing/2014/main" id="{DD0FAF69-F45B-2175-65C8-BCB9CA18209A}"/>
              </a:ext>
            </a:extLst>
          </p:cNvPr>
          <p:cNvSpPr txBox="1"/>
          <p:nvPr/>
        </p:nvSpPr>
        <p:spPr>
          <a:xfrm>
            <a:off x="317201" y="4076700"/>
            <a:ext cx="7290399" cy="4075090"/>
          </a:xfrm>
          <a:prstGeom prst="rect">
            <a:avLst/>
          </a:prstGeom>
        </p:spPr>
        <p:txBody>
          <a:bodyPr lIns="0" tIns="0" rIns="0" bIns="0" rtlCol="0" anchor="t">
            <a:spAutoFit/>
          </a:bodyPr>
          <a:lstStyle/>
          <a:p>
            <a:pPr marL="342900" indent="-342900" algn="l">
              <a:lnSpc>
                <a:spcPts val="2949"/>
              </a:lnSpc>
              <a:spcBef>
                <a:spcPct val="0"/>
              </a:spcBef>
              <a:buFont typeface="Arial" panose="020B0604020202020204" pitchFamily="34" charset="0"/>
              <a:buChar char="•"/>
            </a:pPr>
            <a:r>
              <a:rPr lang="en-US" sz="2106" dirty="0">
                <a:solidFill>
                  <a:srgbClr val="FFFFFF"/>
                </a:solidFill>
                <a:latin typeface="DM Sans"/>
                <a:ea typeface="DM Sans"/>
                <a:cs typeface="DM Sans"/>
                <a:sym typeface="DM Sans"/>
              </a:rPr>
              <a:t>Here is a clean, well-formatted, and structured the company employees data,</a:t>
            </a:r>
          </a:p>
          <a:p>
            <a:pPr marL="342900" indent="-342900" algn="l">
              <a:lnSpc>
                <a:spcPts val="2949"/>
              </a:lnSpc>
              <a:spcBef>
                <a:spcPct val="0"/>
              </a:spcBef>
              <a:buFont typeface="Arial" panose="020B0604020202020204" pitchFamily="34" charset="0"/>
              <a:buChar char="•"/>
            </a:pPr>
            <a:endParaRPr lang="en-US" sz="2106" dirty="0">
              <a:solidFill>
                <a:srgbClr val="FFFFFF"/>
              </a:solidFill>
              <a:latin typeface="DM Sans"/>
              <a:ea typeface="DM Sans"/>
              <a:cs typeface="DM Sans"/>
              <a:sym typeface="DM Sans"/>
            </a:endParaRPr>
          </a:p>
          <a:p>
            <a:pPr marL="342900" indent="-342900" algn="l">
              <a:lnSpc>
                <a:spcPts val="2949"/>
              </a:lnSpc>
              <a:spcBef>
                <a:spcPct val="0"/>
              </a:spcBef>
              <a:buFont typeface="Arial" panose="020B0604020202020204" pitchFamily="34" charset="0"/>
              <a:buChar char="•"/>
            </a:pPr>
            <a:r>
              <a:rPr lang="en-US" sz="2106" dirty="0">
                <a:solidFill>
                  <a:srgbClr val="FFFFFF"/>
                </a:solidFill>
                <a:latin typeface="DM Sans"/>
                <a:ea typeface="DM Sans"/>
                <a:cs typeface="DM Sans"/>
                <a:sym typeface="DM Sans"/>
              </a:rPr>
              <a:t>We generated Employee ID and E-mail, based on cleaned data from full name, department, and National ID</a:t>
            </a:r>
          </a:p>
          <a:p>
            <a:pPr marL="342900" indent="-342900" algn="l">
              <a:lnSpc>
                <a:spcPts val="2949"/>
              </a:lnSpc>
              <a:spcBef>
                <a:spcPct val="0"/>
              </a:spcBef>
              <a:buFont typeface="Arial" panose="020B0604020202020204" pitchFamily="34" charset="0"/>
              <a:buChar char="•"/>
            </a:pPr>
            <a:endParaRPr lang="en-US" sz="2106" dirty="0">
              <a:solidFill>
                <a:srgbClr val="FFFFFF"/>
              </a:solidFill>
              <a:latin typeface="DM Sans"/>
              <a:ea typeface="DM Sans"/>
              <a:cs typeface="DM Sans"/>
              <a:sym typeface="DM Sans"/>
            </a:endParaRPr>
          </a:p>
          <a:p>
            <a:pPr marL="342900" indent="-342900" algn="l">
              <a:lnSpc>
                <a:spcPts val="2949"/>
              </a:lnSpc>
              <a:spcBef>
                <a:spcPct val="0"/>
              </a:spcBef>
              <a:buFont typeface="Arial" panose="020B0604020202020204" pitchFamily="34" charset="0"/>
              <a:buChar char="•"/>
            </a:pPr>
            <a:r>
              <a:rPr lang="en-US" sz="2106" dirty="0">
                <a:solidFill>
                  <a:srgbClr val="FFFFFF"/>
                </a:solidFill>
                <a:latin typeface="DM Sans"/>
                <a:ea typeface="DM Sans"/>
                <a:cs typeface="DM Sans"/>
                <a:sym typeface="DM Sans"/>
              </a:rPr>
              <a:t>All the data type is the nominal category</a:t>
            </a:r>
          </a:p>
          <a:p>
            <a:pPr marL="342900" indent="-342900" algn="l">
              <a:lnSpc>
                <a:spcPts val="2949"/>
              </a:lnSpc>
              <a:spcBef>
                <a:spcPct val="0"/>
              </a:spcBef>
              <a:buFont typeface="Arial" panose="020B0604020202020204" pitchFamily="34" charset="0"/>
              <a:buChar char="•"/>
            </a:pPr>
            <a:endParaRPr lang="en-US" sz="2106" dirty="0">
              <a:solidFill>
                <a:srgbClr val="FFFFFF"/>
              </a:solidFill>
              <a:latin typeface="DM Sans"/>
              <a:ea typeface="DM Sans"/>
              <a:cs typeface="DM Sans"/>
              <a:sym typeface="DM Sans"/>
            </a:endParaRPr>
          </a:p>
          <a:p>
            <a:pPr marL="342900" indent="-342900" algn="l">
              <a:lnSpc>
                <a:spcPts val="2949"/>
              </a:lnSpc>
              <a:spcBef>
                <a:spcPct val="0"/>
              </a:spcBef>
              <a:buFont typeface="Arial" panose="020B0604020202020204" pitchFamily="34" charset="0"/>
              <a:buChar char="•"/>
            </a:pPr>
            <a:r>
              <a:rPr lang="en-US" sz="2106" dirty="0">
                <a:solidFill>
                  <a:srgbClr val="FFFFFF"/>
                </a:solidFill>
                <a:latin typeface="DM Sans"/>
                <a:ea typeface="DM Sans"/>
                <a:cs typeface="DM Sans"/>
                <a:sym typeface="DM Sans"/>
              </a:rPr>
              <a:t>There is unusual formed on National ID, probably employee come from overseas.</a:t>
            </a:r>
          </a:p>
        </p:txBody>
      </p:sp>
      <p:pic>
        <p:nvPicPr>
          <p:cNvPr id="5" name="Picture 4">
            <a:extLst>
              <a:ext uri="{FF2B5EF4-FFF2-40B4-BE49-F238E27FC236}">
                <a16:creationId xmlns:a16="http://schemas.microsoft.com/office/drawing/2014/main" id="{1DBCF31C-10AE-E00B-461E-E68C339F5BF2}"/>
              </a:ext>
            </a:extLst>
          </p:cNvPr>
          <p:cNvPicPr>
            <a:picLocks noChangeAspect="1"/>
          </p:cNvPicPr>
          <p:nvPr/>
        </p:nvPicPr>
        <p:blipFill>
          <a:blip r:embed="rId5"/>
          <a:stretch>
            <a:fillRect/>
          </a:stretch>
        </p:blipFill>
        <p:spPr>
          <a:xfrm>
            <a:off x="7924800" y="3147479"/>
            <a:ext cx="10170957" cy="5250553"/>
          </a:xfrm>
          <a:prstGeom prst="roundRect">
            <a:avLst/>
          </a:prstGeom>
        </p:spPr>
      </p:pic>
    </p:spTree>
    <p:extLst>
      <p:ext uri="{BB962C8B-B14F-4D97-AF65-F5344CB8AC3E}">
        <p14:creationId xmlns:p14="http://schemas.microsoft.com/office/powerpoint/2010/main" val="4122809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286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9984286" y="0"/>
            <a:ext cx="8545366" cy="10510911"/>
            <a:chOff x="0" y="0"/>
            <a:chExt cx="1758306" cy="2162739"/>
          </a:xfrm>
        </p:grpSpPr>
        <p:sp>
          <p:nvSpPr>
            <p:cNvPr id="4" name="Freeform 4"/>
            <p:cNvSpPr/>
            <p:nvPr/>
          </p:nvSpPr>
          <p:spPr>
            <a:xfrm>
              <a:off x="0" y="0"/>
              <a:ext cx="1758306" cy="2162739"/>
            </a:xfrm>
            <a:custGeom>
              <a:avLst/>
              <a:gdLst/>
              <a:ahLst/>
              <a:cxnLst/>
              <a:rect l="l" t="t" r="r" b="b"/>
              <a:pathLst>
                <a:path w="1758306" h="2162739">
                  <a:moveTo>
                    <a:pt x="17695" y="0"/>
                  </a:moveTo>
                  <a:lnTo>
                    <a:pt x="1740611" y="0"/>
                  </a:lnTo>
                  <a:cubicBezTo>
                    <a:pt x="1745304" y="0"/>
                    <a:pt x="1749805" y="1864"/>
                    <a:pt x="1753123" y="5183"/>
                  </a:cubicBezTo>
                  <a:cubicBezTo>
                    <a:pt x="1756442" y="8501"/>
                    <a:pt x="1758306" y="13002"/>
                    <a:pt x="1758306" y="17695"/>
                  </a:cubicBezTo>
                  <a:lnTo>
                    <a:pt x="1758306" y="2145044"/>
                  </a:lnTo>
                  <a:cubicBezTo>
                    <a:pt x="1758306" y="2149737"/>
                    <a:pt x="1756442" y="2154238"/>
                    <a:pt x="1753123" y="2157556"/>
                  </a:cubicBezTo>
                  <a:cubicBezTo>
                    <a:pt x="1749805" y="2160874"/>
                    <a:pt x="1745304" y="2162739"/>
                    <a:pt x="1740611" y="2162739"/>
                  </a:cubicBezTo>
                  <a:lnTo>
                    <a:pt x="17695" y="2162739"/>
                  </a:lnTo>
                  <a:cubicBezTo>
                    <a:pt x="7922" y="2162739"/>
                    <a:pt x="0" y="2154817"/>
                    <a:pt x="0" y="2145044"/>
                  </a:cubicBezTo>
                  <a:lnTo>
                    <a:pt x="0" y="17695"/>
                  </a:lnTo>
                  <a:cubicBezTo>
                    <a:pt x="0" y="13002"/>
                    <a:pt x="1864" y="8501"/>
                    <a:pt x="5183" y="5183"/>
                  </a:cubicBezTo>
                  <a:cubicBezTo>
                    <a:pt x="8501" y="1864"/>
                    <a:pt x="13002" y="0"/>
                    <a:pt x="17695" y="0"/>
                  </a:cubicBezTo>
                  <a:close/>
                </a:path>
              </a:pathLst>
            </a:custGeom>
            <a:solidFill>
              <a:srgbClr val="FFFFFF"/>
            </a:solidFill>
          </p:spPr>
        </p:sp>
        <p:sp>
          <p:nvSpPr>
            <p:cNvPr id="5" name="TextBox 5"/>
            <p:cNvSpPr txBox="1"/>
            <p:nvPr/>
          </p:nvSpPr>
          <p:spPr>
            <a:xfrm>
              <a:off x="0" y="28575"/>
              <a:ext cx="1758306" cy="2134164"/>
            </a:xfrm>
            <a:prstGeom prst="rect">
              <a:avLst/>
            </a:prstGeom>
          </p:spPr>
          <p:txBody>
            <a:bodyPr lIns="50800" tIns="50800" rIns="50800" bIns="50800" rtlCol="0" anchor="ctr"/>
            <a:lstStyle/>
            <a:p>
              <a:pPr algn="ctr">
                <a:lnSpc>
                  <a:spcPts val="2896"/>
                </a:lnSpc>
              </a:pPr>
              <a:endParaRPr/>
            </a:p>
          </p:txBody>
        </p:sp>
      </p:grpSp>
      <p:sp>
        <p:nvSpPr>
          <p:cNvPr id="6" name="Freeform 6"/>
          <p:cNvSpPr/>
          <p:nvPr/>
        </p:nvSpPr>
        <p:spPr>
          <a:xfrm>
            <a:off x="859862" y="483790"/>
            <a:ext cx="1672913" cy="1672913"/>
          </a:xfrm>
          <a:custGeom>
            <a:avLst/>
            <a:gdLst/>
            <a:ahLst/>
            <a:cxnLst/>
            <a:rect l="l" t="t" r="r" b="b"/>
            <a:pathLst>
              <a:path w="1672913" h="1672913">
                <a:moveTo>
                  <a:pt x="0" y="0"/>
                </a:moveTo>
                <a:lnTo>
                  <a:pt x="1672912" y="0"/>
                </a:lnTo>
                <a:lnTo>
                  <a:pt x="1672912" y="1672912"/>
                </a:lnTo>
                <a:lnTo>
                  <a:pt x="0" y="1672912"/>
                </a:lnTo>
                <a:lnTo>
                  <a:pt x="0" y="0"/>
                </a:lnTo>
                <a:close/>
              </a:path>
            </a:pathLst>
          </a:custGeom>
          <a:blipFill>
            <a:blip r:embed="rId3"/>
            <a:stretch>
              <a:fillRect/>
            </a:stretch>
          </a:blipFill>
        </p:spPr>
      </p:sp>
      <p:sp>
        <p:nvSpPr>
          <p:cNvPr id="7" name="TextBox 7"/>
          <p:cNvSpPr txBox="1"/>
          <p:nvPr/>
        </p:nvSpPr>
        <p:spPr>
          <a:xfrm>
            <a:off x="1028700" y="1377792"/>
            <a:ext cx="8115300" cy="1709699"/>
          </a:xfrm>
          <a:prstGeom prst="rect">
            <a:avLst/>
          </a:prstGeom>
        </p:spPr>
        <p:txBody>
          <a:bodyPr lIns="0" tIns="0" rIns="0" bIns="0" rtlCol="0" anchor="t">
            <a:spAutoFit/>
          </a:bodyPr>
          <a:lstStyle/>
          <a:p>
            <a:pPr algn="l">
              <a:lnSpc>
                <a:spcPts val="6949"/>
              </a:lnSpc>
            </a:pPr>
            <a:r>
              <a:rPr lang="en-US" sz="4000" b="1" dirty="0">
                <a:gradFill>
                  <a:gsLst>
                    <a:gs pos="0">
                      <a:srgbClr val="FFFFFF">
                        <a:alpha val="100000"/>
                      </a:srgbClr>
                    </a:gs>
                    <a:gs pos="100000">
                      <a:srgbClr val="E3FAF9">
                        <a:alpha val="100000"/>
                      </a:srgbClr>
                    </a:gs>
                  </a:gsLst>
                  <a:path path="circle">
                    <a:fillToRect r="100000" b="100000"/>
                  </a:path>
                  <a:tileRect l="-100000" t="-100000"/>
                </a:gradFill>
                <a:latin typeface="DM Sans Bold"/>
                <a:ea typeface="DM Sans Bold"/>
                <a:cs typeface="DM Sans Bold"/>
                <a:sym typeface="DM Sans Bold"/>
              </a:rPr>
              <a:t>INVENTORY STATUS AUTOMATION</a:t>
            </a:r>
          </a:p>
        </p:txBody>
      </p:sp>
      <p:sp>
        <p:nvSpPr>
          <p:cNvPr id="8" name="TextBox 8"/>
          <p:cNvSpPr txBox="1"/>
          <p:nvPr/>
        </p:nvSpPr>
        <p:spPr>
          <a:xfrm>
            <a:off x="1051580" y="3125591"/>
            <a:ext cx="8627906" cy="3478581"/>
          </a:xfrm>
          <a:prstGeom prst="rect">
            <a:avLst/>
          </a:prstGeom>
        </p:spPr>
        <p:txBody>
          <a:bodyPr wrap="square" lIns="0" tIns="0" rIns="0" bIns="0" rtlCol="0" anchor="t">
            <a:spAutoFit/>
          </a:bodyPr>
          <a:lstStyle/>
          <a:p>
            <a:pPr algn="l">
              <a:lnSpc>
                <a:spcPts val="3921"/>
              </a:lnSpc>
              <a:spcBef>
                <a:spcPct val="0"/>
              </a:spcBef>
            </a:pPr>
            <a:r>
              <a:rPr lang="en-US" sz="2801" dirty="0">
                <a:solidFill>
                  <a:srgbClr val="FFFFFF"/>
                </a:solidFill>
                <a:latin typeface="DM Sans"/>
                <a:ea typeface="DM Sans"/>
                <a:cs typeface="DM Sans"/>
                <a:sym typeface="DM Sans"/>
              </a:rPr>
              <a:t>This data was lack of final stocks, inventory status, and define who will be facing the problem with the deadline, in this case we well complete the lack of data with:</a:t>
            </a:r>
          </a:p>
          <a:p>
            <a:pPr marL="514350" indent="-514350" algn="l">
              <a:lnSpc>
                <a:spcPts val="3921"/>
              </a:lnSpc>
              <a:spcBef>
                <a:spcPct val="0"/>
              </a:spcBef>
              <a:buAutoNum type="arabicPeriod"/>
            </a:pPr>
            <a:r>
              <a:rPr lang="en-US" sz="2801" dirty="0">
                <a:solidFill>
                  <a:srgbClr val="FFFFFF"/>
                </a:solidFill>
                <a:latin typeface="DM Sans"/>
                <a:ea typeface="DM Sans"/>
                <a:cs typeface="DM Sans"/>
                <a:sym typeface="DM Sans"/>
              </a:rPr>
              <a:t>Count final stock each product</a:t>
            </a:r>
          </a:p>
          <a:p>
            <a:pPr marL="514350" indent="-514350" algn="l">
              <a:lnSpc>
                <a:spcPts val="3921"/>
              </a:lnSpc>
              <a:spcBef>
                <a:spcPct val="0"/>
              </a:spcBef>
              <a:buAutoNum type="arabicPeriod"/>
            </a:pPr>
            <a:r>
              <a:rPr lang="en-US" sz="2801" dirty="0">
                <a:solidFill>
                  <a:srgbClr val="FFFFFF"/>
                </a:solidFill>
                <a:latin typeface="DM Sans"/>
                <a:ea typeface="DM Sans"/>
                <a:cs typeface="DM Sans"/>
                <a:sym typeface="DM Sans"/>
              </a:rPr>
              <a:t>Define status </a:t>
            </a:r>
            <a:r>
              <a:rPr lang="en-US" sz="2801" dirty="0" err="1">
                <a:solidFill>
                  <a:srgbClr val="FFFFFF"/>
                </a:solidFill>
                <a:latin typeface="DM Sans"/>
                <a:ea typeface="DM Sans"/>
                <a:cs typeface="DM Sans"/>
                <a:sym typeface="DM Sans"/>
              </a:rPr>
              <a:t>imventory</a:t>
            </a:r>
            <a:r>
              <a:rPr lang="en-US" sz="2801" dirty="0">
                <a:solidFill>
                  <a:srgbClr val="FFFFFF"/>
                </a:solidFill>
                <a:latin typeface="DM Sans"/>
                <a:ea typeface="DM Sans"/>
                <a:cs typeface="DM Sans"/>
                <a:sym typeface="DM Sans"/>
              </a:rPr>
              <a:t>, priority, deadline, and the PIC who will take a action. Using IF formula</a:t>
            </a:r>
          </a:p>
        </p:txBody>
      </p:sp>
      <p:grpSp>
        <p:nvGrpSpPr>
          <p:cNvPr id="9" name="Group 9"/>
          <p:cNvGrpSpPr/>
          <p:nvPr/>
        </p:nvGrpSpPr>
        <p:grpSpPr>
          <a:xfrm>
            <a:off x="859862" y="8495335"/>
            <a:ext cx="3086100" cy="1130542"/>
            <a:chOff x="0" y="0"/>
            <a:chExt cx="812800" cy="297756"/>
          </a:xfrm>
        </p:grpSpPr>
        <p:sp>
          <p:nvSpPr>
            <p:cNvPr id="10" name="Freeform 10"/>
            <p:cNvSpPr/>
            <p:nvPr/>
          </p:nvSpPr>
          <p:spPr>
            <a:xfrm>
              <a:off x="0" y="0"/>
              <a:ext cx="812800" cy="297756"/>
            </a:xfrm>
            <a:custGeom>
              <a:avLst/>
              <a:gdLst/>
              <a:ahLst/>
              <a:cxnLst/>
              <a:rect l="l" t="t" r="r" b="b"/>
              <a:pathLst>
                <a:path w="812800" h="297756">
                  <a:moveTo>
                    <a:pt x="127941" y="0"/>
                  </a:moveTo>
                  <a:lnTo>
                    <a:pt x="684859" y="0"/>
                  </a:lnTo>
                  <a:cubicBezTo>
                    <a:pt x="718791" y="0"/>
                    <a:pt x="751333" y="13479"/>
                    <a:pt x="775327" y="37473"/>
                  </a:cubicBezTo>
                  <a:cubicBezTo>
                    <a:pt x="799321" y="61467"/>
                    <a:pt x="812800" y="94009"/>
                    <a:pt x="812800" y="127941"/>
                  </a:cubicBezTo>
                  <a:lnTo>
                    <a:pt x="812800" y="169815"/>
                  </a:lnTo>
                  <a:cubicBezTo>
                    <a:pt x="812800" y="203747"/>
                    <a:pt x="799321" y="236289"/>
                    <a:pt x="775327" y="260283"/>
                  </a:cubicBezTo>
                  <a:cubicBezTo>
                    <a:pt x="751333" y="284276"/>
                    <a:pt x="718791" y="297756"/>
                    <a:pt x="684859" y="297756"/>
                  </a:cubicBezTo>
                  <a:lnTo>
                    <a:pt x="127941" y="297756"/>
                  </a:lnTo>
                  <a:cubicBezTo>
                    <a:pt x="94009" y="297756"/>
                    <a:pt x="61467" y="284276"/>
                    <a:pt x="37473" y="260283"/>
                  </a:cubicBezTo>
                  <a:cubicBezTo>
                    <a:pt x="13479" y="236289"/>
                    <a:pt x="0" y="203747"/>
                    <a:pt x="0" y="169815"/>
                  </a:cubicBezTo>
                  <a:lnTo>
                    <a:pt x="0" y="127941"/>
                  </a:lnTo>
                  <a:cubicBezTo>
                    <a:pt x="0" y="94009"/>
                    <a:pt x="13479" y="61467"/>
                    <a:pt x="37473" y="37473"/>
                  </a:cubicBezTo>
                  <a:cubicBezTo>
                    <a:pt x="61467" y="13479"/>
                    <a:pt x="94009" y="0"/>
                    <a:pt x="127941" y="0"/>
                  </a:cubicBezTo>
                  <a:close/>
                </a:path>
              </a:pathLst>
            </a:custGeom>
            <a:solidFill>
              <a:srgbClr val="1FA79B"/>
            </a:solidFill>
          </p:spPr>
        </p:sp>
        <p:sp>
          <p:nvSpPr>
            <p:cNvPr id="11" name="TextBox 11"/>
            <p:cNvSpPr txBox="1"/>
            <p:nvPr/>
          </p:nvSpPr>
          <p:spPr>
            <a:xfrm>
              <a:off x="0" y="28575"/>
              <a:ext cx="812800" cy="269181"/>
            </a:xfrm>
            <a:prstGeom prst="rect">
              <a:avLst/>
            </a:prstGeom>
          </p:spPr>
          <p:txBody>
            <a:bodyPr lIns="50800" tIns="50800" rIns="50800" bIns="50800" rtlCol="0" anchor="ctr"/>
            <a:lstStyle/>
            <a:p>
              <a:pPr algn="ctr">
                <a:lnSpc>
                  <a:spcPts val="2896"/>
                </a:lnSpc>
              </a:pPr>
              <a:r>
                <a:rPr lang="en-US" sz="2000" dirty="0">
                  <a:solidFill>
                    <a:schemeClr val="bg1"/>
                  </a:solidFill>
                  <a:latin typeface="Montserrat"/>
                  <a:ea typeface="Montserrat"/>
                  <a:cs typeface="Montserrat"/>
                  <a:sym typeface="Montserrat"/>
                </a:rPr>
                <a:t>https://bit.ly/4qBwJef</a:t>
              </a:r>
            </a:p>
          </p:txBody>
        </p:sp>
      </p:grpSp>
      <p:grpSp>
        <p:nvGrpSpPr>
          <p:cNvPr id="12" name="Group 12"/>
          <p:cNvGrpSpPr/>
          <p:nvPr/>
        </p:nvGrpSpPr>
        <p:grpSpPr>
          <a:xfrm>
            <a:off x="10668000" y="5188402"/>
            <a:ext cx="7315200" cy="4251481"/>
            <a:chOff x="0" y="0"/>
            <a:chExt cx="812800" cy="812800"/>
          </a:xfrm>
        </p:grpSpPr>
        <p:sp>
          <p:nvSpPr>
            <p:cNvPr id="13" name="Freeform 13"/>
            <p:cNvSpPr/>
            <p:nvPr/>
          </p:nvSpPr>
          <p:spPr>
            <a:xfrm>
              <a:off x="0" y="0"/>
              <a:ext cx="812800" cy="812800"/>
            </a:xfrm>
            <a:custGeom>
              <a:avLst/>
              <a:gdLst/>
              <a:ahLst/>
              <a:cxnLst/>
              <a:rect l="l" t="t" r="r" b="b"/>
              <a:pathLst>
                <a:path w="812800" h="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1FA79B"/>
            </a:solidFill>
          </p:spPr>
        </p:sp>
        <p:sp>
          <p:nvSpPr>
            <p:cNvPr id="14" name="TextBox 14"/>
            <p:cNvSpPr txBox="1"/>
            <p:nvPr/>
          </p:nvSpPr>
          <p:spPr>
            <a:xfrm>
              <a:off x="0" y="28575"/>
              <a:ext cx="812800" cy="784225"/>
            </a:xfrm>
            <a:prstGeom prst="rect">
              <a:avLst/>
            </a:prstGeom>
          </p:spPr>
          <p:txBody>
            <a:bodyPr lIns="50800" tIns="50800" rIns="50800" bIns="50800" rtlCol="0" anchor="ctr"/>
            <a:lstStyle/>
            <a:p>
              <a:pPr algn="ctr">
                <a:lnSpc>
                  <a:spcPts val="2896"/>
                </a:lnSpc>
              </a:pPr>
              <a:endParaRPr lang="en-US" sz="2632" dirty="0">
                <a:solidFill>
                  <a:srgbClr val="000000"/>
                </a:solidFill>
                <a:latin typeface="Montserrat"/>
                <a:ea typeface="Montserrat"/>
                <a:cs typeface="Montserrat"/>
                <a:sym typeface="Montserrat"/>
              </a:endParaRPr>
            </a:p>
          </p:txBody>
        </p:sp>
      </p:grpSp>
      <p:sp>
        <p:nvSpPr>
          <p:cNvPr id="16" name="TextBox 16"/>
          <p:cNvSpPr txBox="1"/>
          <p:nvPr/>
        </p:nvSpPr>
        <p:spPr>
          <a:xfrm>
            <a:off x="13182600" y="4173141"/>
            <a:ext cx="1655885" cy="371897"/>
          </a:xfrm>
          <a:prstGeom prst="rect">
            <a:avLst/>
          </a:prstGeom>
        </p:spPr>
        <p:txBody>
          <a:bodyPr wrap="square" lIns="0" tIns="0" rIns="0" bIns="0" rtlCol="0" anchor="t">
            <a:spAutoFit/>
          </a:bodyPr>
          <a:lstStyle/>
          <a:p>
            <a:pPr algn="ctr">
              <a:lnSpc>
                <a:spcPts val="2896"/>
              </a:lnSpc>
              <a:spcBef>
                <a:spcPct val="0"/>
              </a:spcBef>
            </a:pPr>
            <a:r>
              <a:rPr lang="en-US" sz="2632" dirty="0">
                <a:solidFill>
                  <a:srgbClr val="000000"/>
                </a:solidFill>
                <a:latin typeface="Montserrat"/>
                <a:ea typeface="Montserrat"/>
                <a:cs typeface="Montserrat"/>
                <a:sym typeface="Montserrat"/>
              </a:rPr>
              <a:t>Before</a:t>
            </a:r>
          </a:p>
        </p:txBody>
      </p:sp>
      <p:sp>
        <p:nvSpPr>
          <p:cNvPr id="17" name="TextBox 17"/>
          <p:cNvSpPr txBox="1"/>
          <p:nvPr/>
        </p:nvSpPr>
        <p:spPr>
          <a:xfrm>
            <a:off x="13675133" y="9697941"/>
            <a:ext cx="1163671" cy="371897"/>
          </a:xfrm>
          <a:prstGeom prst="rect">
            <a:avLst/>
          </a:prstGeom>
        </p:spPr>
        <p:txBody>
          <a:bodyPr wrap="square" lIns="0" tIns="0" rIns="0" bIns="0" rtlCol="0" anchor="t">
            <a:spAutoFit/>
          </a:bodyPr>
          <a:lstStyle/>
          <a:p>
            <a:pPr algn="ctr">
              <a:lnSpc>
                <a:spcPts val="2896"/>
              </a:lnSpc>
              <a:spcBef>
                <a:spcPct val="0"/>
              </a:spcBef>
            </a:pPr>
            <a:r>
              <a:rPr lang="en-US" sz="2632" dirty="0">
                <a:solidFill>
                  <a:srgbClr val="000000"/>
                </a:solidFill>
                <a:latin typeface="Montserrat"/>
                <a:ea typeface="Montserrat"/>
                <a:cs typeface="Montserrat"/>
                <a:sym typeface="Montserrat"/>
              </a:rPr>
              <a:t>After</a:t>
            </a:r>
          </a:p>
        </p:txBody>
      </p:sp>
      <p:grpSp>
        <p:nvGrpSpPr>
          <p:cNvPr id="19" name="Group 12">
            <a:extLst>
              <a:ext uri="{FF2B5EF4-FFF2-40B4-BE49-F238E27FC236}">
                <a16:creationId xmlns:a16="http://schemas.microsoft.com/office/drawing/2014/main" id="{3C08A8EB-F3FA-C1F1-CC88-8F64333E2D93}"/>
              </a:ext>
            </a:extLst>
          </p:cNvPr>
          <p:cNvGrpSpPr/>
          <p:nvPr/>
        </p:nvGrpSpPr>
        <p:grpSpPr>
          <a:xfrm>
            <a:off x="10599368" y="217162"/>
            <a:ext cx="7315200" cy="3955979"/>
            <a:chOff x="0" y="0"/>
            <a:chExt cx="812800" cy="812800"/>
          </a:xfrm>
        </p:grpSpPr>
        <p:sp>
          <p:nvSpPr>
            <p:cNvPr id="20" name="Freeform 13">
              <a:extLst>
                <a:ext uri="{FF2B5EF4-FFF2-40B4-BE49-F238E27FC236}">
                  <a16:creationId xmlns:a16="http://schemas.microsoft.com/office/drawing/2014/main" id="{C2166EA8-396C-6871-1E84-53B116D515F6}"/>
                </a:ext>
              </a:extLst>
            </p:cNvPr>
            <p:cNvSpPr/>
            <p:nvPr/>
          </p:nvSpPr>
          <p:spPr>
            <a:xfrm>
              <a:off x="0" y="0"/>
              <a:ext cx="812800" cy="812800"/>
            </a:xfrm>
            <a:custGeom>
              <a:avLst/>
              <a:gdLst/>
              <a:ahLst/>
              <a:cxnLst/>
              <a:rect l="l" t="t" r="r" b="b"/>
              <a:pathLst>
                <a:path w="812800" h="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1FA79B"/>
            </a:solidFill>
          </p:spPr>
        </p:sp>
        <p:sp>
          <p:nvSpPr>
            <p:cNvPr id="21" name="TextBox 14">
              <a:extLst>
                <a:ext uri="{FF2B5EF4-FFF2-40B4-BE49-F238E27FC236}">
                  <a16:creationId xmlns:a16="http://schemas.microsoft.com/office/drawing/2014/main" id="{B3C84622-34C5-B609-65BE-B929802686AD}"/>
                </a:ext>
              </a:extLst>
            </p:cNvPr>
            <p:cNvSpPr txBox="1"/>
            <p:nvPr/>
          </p:nvSpPr>
          <p:spPr>
            <a:xfrm>
              <a:off x="0" y="28575"/>
              <a:ext cx="812800" cy="784225"/>
            </a:xfrm>
            <a:prstGeom prst="rect">
              <a:avLst/>
            </a:prstGeom>
          </p:spPr>
          <p:txBody>
            <a:bodyPr lIns="50800" tIns="50800" rIns="50800" bIns="50800" rtlCol="0" anchor="ctr"/>
            <a:lstStyle/>
            <a:p>
              <a:pPr algn="ctr">
                <a:lnSpc>
                  <a:spcPts val="2896"/>
                </a:lnSpc>
              </a:pPr>
              <a:endParaRPr lang="en-US" sz="2632" dirty="0">
                <a:solidFill>
                  <a:srgbClr val="000000"/>
                </a:solidFill>
                <a:latin typeface="Montserrat"/>
                <a:ea typeface="Montserrat"/>
                <a:cs typeface="Montserrat"/>
                <a:sym typeface="Montserrat"/>
              </a:endParaRPr>
            </a:p>
          </p:txBody>
        </p:sp>
      </p:grpSp>
      <p:pic>
        <p:nvPicPr>
          <p:cNvPr id="23" name="Picture 22">
            <a:extLst>
              <a:ext uri="{FF2B5EF4-FFF2-40B4-BE49-F238E27FC236}">
                <a16:creationId xmlns:a16="http://schemas.microsoft.com/office/drawing/2014/main" id="{9D608986-F6E6-0674-A004-4E2B2069D7A1}"/>
              </a:ext>
            </a:extLst>
          </p:cNvPr>
          <p:cNvPicPr>
            <a:picLocks noChangeAspect="1"/>
          </p:cNvPicPr>
          <p:nvPr/>
        </p:nvPicPr>
        <p:blipFill>
          <a:blip r:embed="rId4"/>
          <a:stretch>
            <a:fillRect/>
          </a:stretch>
        </p:blipFill>
        <p:spPr>
          <a:xfrm>
            <a:off x="10707317" y="5560299"/>
            <a:ext cx="7099302" cy="3606875"/>
          </a:xfrm>
          <a:prstGeom prst="roundRect">
            <a:avLst/>
          </a:prstGeom>
        </p:spPr>
      </p:pic>
      <p:pic>
        <p:nvPicPr>
          <p:cNvPr id="24" name="Picture 23">
            <a:extLst>
              <a:ext uri="{FF2B5EF4-FFF2-40B4-BE49-F238E27FC236}">
                <a16:creationId xmlns:a16="http://schemas.microsoft.com/office/drawing/2014/main" id="{760D05BF-D36B-1B5D-6D03-B51FDF204A3F}"/>
              </a:ext>
            </a:extLst>
          </p:cNvPr>
          <p:cNvPicPr>
            <a:picLocks noChangeAspect="1"/>
          </p:cNvPicPr>
          <p:nvPr/>
        </p:nvPicPr>
        <p:blipFill>
          <a:blip r:embed="rId5"/>
          <a:stretch>
            <a:fillRect/>
          </a:stretch>
        </p:blipFill>
        <p:spPr>
          <a:xfrm>
            <a:off x="10738925" y="391107"/>
            <a:ext cx="7099302" cy="3558844"/>
          </a:xfrm>
          <a:prstGeom prst="roundRect">
            <a:avLst/>
          </a:prstGeom>
          <a:effectLst/>
        </p:spPr>
      </p:pic>
      <p:sp>
        <p:nvSpPr>
          <p:cNvPr id="25" name="Rectangle 24">
            <a:extLst>
              <a:ext uri="{FF2B5EF4-FFF2-40B4-BE49-F238E27FC236}">
                <a16:creationId xmlns:a16="http://schemas.microsoft.com/office/drawing/2014/main" id="{95F736B1-0F6A-AE0D-F1F4-4B3046F5223C}"/>
              </a:ext>
            </a:extLst>
          </p:cNvPr>
          <p:cNvSpPr/>
          <p:nvPr/>
        </p:nvSpPr>
        <p:spPr>
          <a:xfrm>
            <a:off x="14478000" y="716925"/>
            <a:ext cx="685800" cy="3344621"/>
          </a:xfrm>
          <a:prstGeom prst="rect">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25">
            <a:extLst>
              <a:ext uri="{FF2B5EF4-FFF2-40B4-BE49-F238E27FC236}">
                <a16:creationId xmlns:a16="http://schemas.microsoft.com/office/drawing/2014/main" id="{C27F8E39-FD2C-9961-58B8-03F6CCF4D21D}"/>
              </a:ext>
            </a:extLst>
          </p:cNvPr>
          <p:cNvSpPr/>
          <p:nvPr/>
        </p:nvSpPr>
        <p:spPr>
          <a:xfrm>
            <a:off x="15525223" y="716924"/>
            <a:ext cx="2313003" cy="3344621"/>
          </a:xfrm>
          <a:prstGeom prst="rect">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7" name="Arrow: Down 26">
            <a:extLst>
              <a:ext uri="{FF2B5EF4-FFF2-40B4-BE49-F238E27FC236}">
                <a16:creationId xmlns:a16="http://schemas.microsoft.com/office/drawing/2014/main" id="{1E310DE1-36AA-E5A9-DC85-F147F2490292}"/>
              </a:ext>
            </a:extLst>
          </p:cNvPr>
          <p:cNvSpPr/>
          <p:nvPr/>
        </p:nvSpPr>
        <p:spPr>
          <a:xfrm>
            <a:off x="16785539" y="3835901"/>
            <a:ext cx="990600" cy="1961208"/>
          </a:xfrm>
          <a:prstGeom prst="downArrow">
            <a:avLst/>
          </a:prstGeom>
          <a:solidFill>
            <a:schemeClr val="accent5">
              <a:lumMod val="60000"/>
              <a:lumOff val="4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6422844" y="341197"/>
            <a:ext cx="1672913" cy="1672913"/>
          </a:xfrm>
          <a:custGeom>
            <a:avLst/>
            <a:gdLst/>
            <a:ahLst/>
            <a:cxnLst/>
            <a:rect l="l" t="t" r="r" b="b"/>
            <a:pathLst>
              <a:path w="1672913" h="1672913">
                <a:moveTo>
                  <a:pt x="0" y="0"/>
                </a:moveTo>
                <a:lnTo>
                  <a:pt x="1672912" y="0"/>
                </a:lnTo>
                <a:lnTo>
                  <a:pt x="1672912" y="1672912"/>
                </a:lnTo>
                <a:lnTo>
                  <a:pt x="0" y="1672912"/>
                </a:lnTo>
                <a:lnTo>
                  <a:pt x="0" y="0"/>
                </a:lnTo>
                <a:close/>
              </a:path>
            </a:pathLst>
          </a:custGeom>
          <a:blipFill>
            <a:blip r:embed="rId3"/>
            <a:stretch>
              <a:fillRect/>
            </a:stretch>
          </a:blipFill>
        </p:spPr>
      </p:sp>
      <p:sp>
        <p:nvSpPr>
          <p:cNvPr id="4" name="Freeform 4"/>
          <p:cNvSpPr/>
          <p:nvPr/>
        </p:nvSpPr>
        <p:spPr>
          <a:xfrm flipH="1">
            <a:off x="11855871" y="4514549"/>
            <a:ext cx="9388520" cy="6026882"/>
          </a:xfrm>
          <a:custGeom>
            <a:avLst/>
            <a:gdLst/>
            <a:ahLst/>
            <a:cxnLst/>
            <a:rect l="l" t="t" r="r" b="b"/>
            <a:pathLst>
              <a:path w="9388520" h="6026882">
                <a:moveTo>
                  <a:pt x="9388520" y="0"/>
                </a:moveTo>
                <a:lnTo>
                  <a:pt x="0" y="0"/>
                </a:lnTo>
                <a:lnTo>
                  <a:pt x="0" y="6026882"/>
                </a:lnTo>
                <a:lnTo>
                  <a:pt x="9388520" y="6026882"/>
                </a:lnTo>
                <a:lnTo>
                  <a:pt x="9388520" y="0"/>
                </a:lnTo>
                <a:close/>
              </a:path>
            </a:pathLst>
          </a:custGeom>
          <a:blipFill>
            <a:blip r:embed="rId4"/>
            <a:stretch>
              <a:fillRect l="-105164" t="-80055" r="-320"/>
            </a:stretch>
          </a:blipFill>
        </p:spPr>
      </p:sp>
      <p:sp>
        <p:nvSpPr>
          <p:cNvPr id="6" name="TextBox 6"/>
          <p:cNvSpPr txBox="1"/>
          <p:nvPr/>
        </p:nvSpPr>
        <p:spPr>
          <a:xfrm>
            <a:off x="1028700" y="888217"/>
            <a:ext cx="8562097" cy="1805289"/>
          </a:xfrm>
          <a:prstGeom prst="rect">
            <a:avLst/>
          </a:prstGeom>
        </p:spPr>
        <p:txBody>
          <a:bodyPr lIns="0" tIns="0" rIns="0" bIns="0" rtlCol="0" anchor="t">
            <a:spAutoFit/>
          </a:bodyPr>
          <a:lstStyle/>
          <a:p>
            <a:pPr algn="just">
              <a:lnSpc>
                <a:spcPts val="6949"/>
              </a:lnSpc>
            </a:pPr>
            <a:r>
              <a:rPr lang="en-US" sz="6949" b="1">
                <a:gradFill>
                  <a:gsLst>
                    <a:gs pos="0">
                      <a:srgbClr val="FFFFFF">
                        <a:alpha val="100000"/>
                      </a:srgbClr>
                    </a:gs>
                    <a:gs pos="100000">
                      <a:srgbClr val="E3FAF9">
                        <a:alpha val="100000"/>
                      </a:srgbClr>
                    </a:gs>
                  </a:gsLst>
                  <a:path path="circle">
                    <a:fillToRect r="100000" b="100000"/>
                  </a:path>
                  <a:tileRect l="-100000" t="-100000"/>
                </a:gradFill>
                <a:latin typeface="DM Sans Bold"/>
                <a:ea typeface="DM Sans Bold"/>
                <a:cs typeface="DM Sans Bold"/>
                <a:sym typeface="DM Sans Bold"/>
              </a:rPr>
              <a:t>INVENTORY STATUS AUTOMATION</a:t>
            </a:r>
          </a:p>
        </p:txBody>
      </p:sp>
      <p:sp>
        <p:nvSpPr>
          <p:cNvPr id="7" name="TextBox 7"/>
          <p:cNvSpPr txBox="1"/>
          <p:nvPr/>
        </p:nvSpPr>
        <p:spPr>
          <a:xfrm>
            <a:off x="793398" y="4107108"/>
            <a:ext cx="7290399" cy="4075090"/>
          </a:xfrm>
          <a:prstGeom prst="rect">
            <a:avLst/>
          </a:prstGeom>
        </p:spPr>
        <p:txBody>
          <a:bodyPr lIns="0" tIns="0" rIns="0" bIns="0" rtlCol="0" anchor="t">
            <a:spAutoFit/>
          </a:bodyPr>
          <a:lstStyle/>
          <a:p>
            <a:pPr algn="l">
              <a:lnSpc>
                <a:spcPts val="2949"/>
              </a:lnSpc>
              <a:spcBef>
                <a:spcPct val="0"/>
              </a:spcBef>
            </a:pPr>
            <a:r>
              <a:rPr lang="en-US" sz="2106" dirty="0">
                <a:solidFill>
                  <a:srgbClr val="FFFFFF"/>
                </a:solidFill>
                <a:latin typeface="DM Sans"/>
                <a:ea typeface="DM Sans"/>
                <a:cs typeface="DM Sans"/>
                <a:sym typeface="DM Sans"/>
              </a:rPr>
              <a:t>With this structured data of inventory status, slightly we</a:t>
            </a:r>
          </a:p>
          <a:p>
            <a:pPr algn="l">
              <a:lnSpc>
                <a:spcPts val="2949"/>
              </a:lnSpc>
              <a:spcBef>
                <a:spcPct val="0"/>
              </a:spcBef>
            </a:pPr>
            <a:r>
              <a:rPr lang="en-US" sz="2106" dirty="0">
                <a:solidFill>
                  <a:srgbClr val="FFFFFF"/>
                </a:solidFill>
                <a:latin typeface="DM Sans"/>
                <a:ea typeface="DM Sans"/>
                <a:cs typeface="DM Sans"/>
                <a:sym typeface="DM Sans"/>
              </a:rPr>
              <a:t>Look that:</a:t>
            </a:r>
          </a:p>
          <a:p>
            <a:pPr marL="457200" indent="-457200" algn="l">
              <a:lnSpc>
                <a:spcPts val="2949"/>
              </a:lnSpc>
              <a:spcBef>
                <a:spcPct val="0"/>
              </a:spcBef>
              <a:buAutoNum type="arabicPeriod"/>
            </a:pPr>
            <a:r>
              <a:rPr lang="en-US" sz="2106" dirty="0">
                <a:solidFill>
                  <a:srgbClr val="FFFFFF"/>
                </a:solidFill>
                <a:latin typeface="DM Sans"/>
                <a:ea typeface="DM Sans"/>
                <a:cs typeface="DM Sans"/>
                <a:sym typeface="DM Sans"/>
              </a:rPr>
              <a:t>There are 4 category for each products, Fast moving, Medium, Slow Moving, and Critical</a:t>
            </a:r>
          </a:p>
          <a:p>
            <a:pPr marL="457200" indent="-457200" algn="l">
              <a:lnSpc>
                <a:spcPts val="2949"/>
              </a:lnSpc>
              <a:spcBef>
                <a:spcPct val="0"/>
              </a:spcBef>
              <a:buAutoNum type="arabicPeriod"/>
            </a:pPr>
            <a:r>
              <a:rPr lang="en-US" sz="2106" dirty="0">
                <a:solidFill>
                  <a:srgbClr val="FFFFFF"/>
                </a:solidFill>
                <a:latin typeface="DM Sans"/>
                <a:ea typeface="DM Sans"/>
                <a:cs typeface="DM Sans"/>
                <a:sym typeface="DM Sans"/>
              </a:rPr>
              <a:t>Over 83% Products must be reorder due to stockout</a:t>
            </a:r>
          </a:p>
          <a:p>
            <a:pPr marL="457200" indent="-457200" algn="l">
              <a:lnSpc>
                <a:spcPts val="2949"/>
              </a:lnSpc>
              <a:spcBef>
                <a:spcPct val="0"/>
              </a:spcBef>
              <a:buAutoNum type="arabicPeriod"/>
            </a:pPr>
            <a:r>
              <a:rPr lang="en-US" sz="2106" dirty="0">
                <a:solidFill>
                  <a:srgbClr val="FFFFFF"/>
                </a:solidFill>
                <a:latin typeface="DM Sans"/>
                <a:ea typeface="DM Sans"/>
                <a:cs typeface="DM Sans"/>
                <a:sym typeface="DM Sans"/>
              </a:rPr>
              <a:t>81 items were in urgent priority to reorder, and the most prioritized product is Paracetamol, </a:t>
            </a:r>
            <a:r>
              <a:rPr lang="en-US" sz="2106" dirty="0" err="1">
                <a:solidFill>
                  <a:srgbClr val="FFFFFF"/>
                </a:solidFill>
                <a:latin typeface="DM Sans"/>
                <a:ea typeface="DM Sans"/>
                <a:cs typeface="DM Sans"/>
                <a:sym typeface="DM Sans"/>
              </a:rPr>
              <a:t>Amoxcilin</a:t>
            </a:r>
            <a:r>
              <a:rPr lang="en-US" sz="2106" dirty="0">
                <a:solidFill>
                  <a:srgbClr val="FFFFFF"/>
                </a:solidFill>
                <a:latin typeface="DM Sans"/>
                <a:ea typeface="DM Sans"/>
                <a:cs typeface="DM Sans"/>
                <a:sym typeface="DM Sans"/>
              </a:rPr>
              <a:t>, Ibuprofen, and Amlodipine.</a:t>
            </a:r>
          </a:p>
          <a:p>
            <a:pPr marL="457200" indent="-457200" algn="l">
              <a:lnSpc>
                <a:spcPts val="2949"/>
              </a:lnSpc>
              <a:spcBef>
                <a:spcPct val="0"/>
              </a:spcBef>
              <a:buAutoNum type="arabicPeriod"/>
            </a:pPr>
            <a:r>
              <a:rPr lang="en-US" sz="2106" dirty="0">
                <a:solidFill>
                  <a:srgbClr val="FFFFFF"/>
                </a:solidFill>
                <a:latin typeface="DM Sans"/>
                <a:ea typeface="DM Sans"/>
                <a:cs typeface="DM Sans"/>
                <a:sym typeface="DM Sans"/>
              </a:rPr>
              <a:t>Most current stock is Vitamin C, and the less stock is Cetirizine</a:t>
            </a:r>
          </a:p>
          <a:p>
            <a:pPr marL="457200" indent="-457200" algn="l">
              <a:lnSpc>
                <a:spcPts val="2949"/>
              </a:lnSpc>
              <a:spcBef>
                <a:spcPct val="0"/>
              </a:spcBef>
              <a:buAutoNum type="arabicPeriod"/>
            </a:pPr>
            <a:endParaRPr lang="en-US" sz="2106" dirty="0">
              <a:solidFill>
                <a:srgbClr val="FFFFFF"/>
              </a:solidFill>
              <a:latin typeface="DM Sans"/>
              <a:ea typeface="DM Sans"/>
              <a:cs typeface="DM Sans"/>
              <a:sym typeface="DM Sans"/>
            </a:endParaRPr>
          </a:p>
        </p:txBody>
      </p:sp>
      <p:pic>
        <p:nvPicPr>
          <p:cNvPr id="8" name="Picture 7">
            <a:extLst>
              <a:ext uri="{FF2B5EF4-FFF2-40B4-BE49-F238E27FC236}">
                <a16:creationId xmlns:a16="http://schemas.microsoft.com/office/drawing/2014/main" id="{96DAF201-E8C7-396C-D5CC-5FD900AD9534}"/>
              </a:ext>
            </a:extLst>
          </p:cNvPr>
          <p:cNvPicPr>
            <a:picLocks noChangeAspect="1"/>
          </p:cNvPicPr>
          <p:nvPr/>
        </p:nvPicPr>
        <p:blipFill>
          <a:blip r:embed="rId5"/>
          <a:stretch>
            <a:fillRect/>
          </a:stretch>
        </p:blipFill>
        <p:spPr>
          <a:xfrm>
            <a:off x="8319099" y="3296257"/>
            <a:ext cx="9748839" cy="4953000"/>
          </a:xfrm>
          <a:prstGeom prst="round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9859038" y="14654"/>
            <a:ext cx="8545366" cy="10510911"/>
            <a:chOff x="0" y="0"/>
            <a:chExt cx="1758306" cy="2162739"/>
          </a:xfrm>
        </p:grpSpPr>
        <p:sp>
          <p:nvSpPr>
            <p:cNvPr id="4" name="Freeform 4"/>
            <p:cNvSpPr/>
            <p:nvPr/>
          </p:nvSpPr>
          <p:spPr>
            <a:xfrm>
              <a:off x="0" y="0"/>
              <a:ext cx="1758306" cy="2162739"/>
            </a:xfrm>
            <a:custGeom>
              <a:avLst/>
              <a:gdLst/>
              <a:ahLst/>
              <a:cxnLst/>
              <a:rect l="l" t="t" r="r" b="b"/>
              <a:pathLst>
                <a:path w="1758306" h="2162739">
                  <a:moveTo>
                    <a:pt x="17695" y="0"/>
                  </a:moveTo>
                  <a:lnTo>
                    <a:pt x="1740611" y="0"/>
                  </a:lnTo>
                  <a:cubicBezTo>
                    <a:pt x="1745304" y="0"/>
                    <a:pt x="1749805" y="1864"/>
                    <a:pt x="1753123" y="5183"/>
                  </a:cubicBezTo>
                  <a:cubicBezTo>
                    <a:pt x="1756442" y="8501"/>
                    <a:pt x="1758306" y="13002"/>
                    <a:pt x="1758306" y="17695"/>
                  </a:cubicBezTo>
                  <a:lnTo>
                    <a:pt x="1758306" y="2145044"/>
                  </a:lnTo>
                  <a:cubicBezTo>
                    <a:pt x="1758306" y="2149737"/>
                    <a:pt x="1756442" y="2154238"/>
                    <a:pt x="1753123" y="2157556"/>
                  </a:cubicBezTo>
                  <a:cubicBezTo>
                    <a:pt x="1749805" y="2160874"/>
                    <a:pt x="1745304" y="2162739"/>
                    <a:pt x="1740611" y="2162739"/>
                  </a:cubicBezTo>
                  <a:lnTo>
                    <a:pt x="17695" y="2162739"/>
                  </a:lnTo>
                  <a:cubicBezTo>
                    <a:pt x="7922" y="2162739"/>
                    <a:pt x="0" y="2154817"/>
                    <a:pt x="0" y="2145044"/>
                  </a:cubicBezTo>
                  <a:lnTo>
                    <a:pt x="0" y="17695"/>
                  </a:lnTo>
                  <a:cubicBezTo>
                    <a:pt x="0" y="13002"/>
                    <a:pt x="1864" y="8501"/>
                    <a:pt x="5183" y="5183"/>
                  </a:cubicBezTo>
                  <a:cubicBezTo>
                    <a:pt x="8501" y="1864"/>
                    <a:pt x="13002" y="0"/>
                    <a:pt x="17695" y="0"/>
                  </a:cubicBezTo>
                  <a:close/>
                </a:path>
              </a:pathLst>
            </a:custGeom>
            <a:solidFill>
              <a:srgbClr val="FFFFFF"/>
            </a:solidFill>
          </p:spPr>
        </p:sp>
        <p:sp>
          <p:nvSpPr>
            <p:cNvPr id="5" name="TextBox 5"/>
            <p:cNvSpPr txBox="1"/>
            <p:nvPr/>
          </p:nvSpPr>
          <p:spPr>
            <a:xfrm>
              <a:off x="0" y="28575"/>
              <a:ext cx="1758306" cy="2134164"/>
            </a:xfrm>
            <a:prstGeom prst="rect">
              <a:avLst/>
            </a:prstGeom>
          </p:spPr>
          <p:txBody>
            <a:bodyPr lIns="50800" tIns="50800" rIns="50800" bIns="50800" rtlCol="0" anchor="ctr"/>
            <a:lstStyle/>
            <a:p>
              <a:pPr algn="ctr">
                <a:lnSpc>
                  <a:spcPts val="2896"/>
                </a:lnSpc>
              </a:pPr>
              <a:endParaRPr/>
            </a:p>
          </p:txBody>
        </p:sp>
      </p:grpSp>
      <p:sp>
        <p:nvSpPr>
          <p:cNvPr id="6" name="Freeform 6"/>
          <p:cNvSpPr/>
          <p:nvPr/>
        </p:nvSpPr>
        <p:spPr>
          <a:xfrm>
            <a:off x="824937" y="-92988"/>
            <a:ext cx="1672913" cy="1672913"/>
          </a:xfrm>
          <a:custGeom>
            <a:avLst/>
            <a:gdLst/>
            <a:ahLst/>
            <a:cxnLst/>
            <a:rect l="l" t="t" r="r" b="b"/>
            <a:pathLst>
              <a:path w="1672913" h="1672913">
                <a:moveTo>
                  <a:pt x="0" y="0"/>
                </a:moveTo>
                <a:lnTo>
                  <a:pt x="1672912" y="0"/>
                </a:lnTo>
                <a:lnTo>
                  <a:pt x="1672912" y="1672912"/>
                </a:lnTo>
                <a:lnTo>
                  <a:pt x="0" y="1672912"/>
                </a:lnTo>
                <a:lnTo>
                  <a:pt x="0" y="0"/>
                </a:lnTo>
                <a:close/>
              </a:path>
            </a:pathLst>
          </a:custGeom>
          <a:blipFill>
            <a:blip r:embed="rId3"/>
            <a:stretch>
              <a:fillRect/>
            </a:stretch>
          </a:blipFill>
        </p:spPr>
      </p:sp>
      <p:sp>
        <p:nvSpPr>
          <p:cNvPr id="7" name="TextBox 7"/>
          <p:cNvSpPr txBox="1"/>
          <p:nvPr/>
        </p:nvSpPr>
        <p:spPr>
          <a:xfrm>
            <a:off x="970649" y="1122311"/>
            <a:ext cx="5931576" cy="2042426"/>
          </a:xfrm>
          <a:prstGeom prst="rect">
            <a:avLst/>
          </a:prstGeom>
        </p:spPr>
        <p:txBody>
          <a:bodyPr lIns="0" tIns="0" rIns="0" bIns="0" rtlCol="0" anchor="t">
            <a:spAutoFit/>
          </a:bodyPr>
          <a:lstStyle/>
          <a:p>
            <a:pPr algn="l">
              <a:lnSpc>
                <a:spcPts val="5288"/>
              </a:lnSpc>
            </a:pPr>
            <a:r>
              <a:rPr lang="en-US" sz="5288" b="1" dirty="0">
                <a:gradFill>
                  <a:gsLst>
                    <a:gs pos="0">
                      <a:srgbClr val="FFFFFF">
                        <a:alpha val="100000"/>
                      </a:srgbClr>
                    </a:gs>
                    <a:gs pos="100000">
                      <a:srgbClr val="E3FAF9">
                        <a:alpha val="100000"/>
                      </a:srgbClr>
                    </a:gs>
                  </a:gsLst>
                  <a:path path="circle">
                    <a:fillToRect r="100000" b="100000"/>
                  </a:path>
                  <a:tileRect l="-100000" t="-100000"/>
                </a:gradFill>
                <a:latin typeface="DM Sans Bold"/>
                <a:ea typeface="DM Sans Bold"/>
                <a:cs typeface="DM Sans Bold"/>
                <a:sym typeface="DM Sans Bold"/>
              </a:rPr>
              <a:t>DATA INTEGRATION &amp; ANALYSIS</a:t>
            </a:r>
          </a:p>
        </p:txBody>
      </p:sp>
      <p:sp>
        <p:nvSpPr>
          <p:cNvPr id="8" name="TextBox 8"/>
          <p:cNvSpPr txBox="1"/>
          <p:nvPr/>
        </p:nvSpPr>
        <p:spPr>
          <a:xfrm>
            <a:off x="875737" y="3389970"/>
            <a:ext cx="8293663" cy="3978718"/>
          </a:xfrm>
          <a:prstGeom prst="rect">
            <a:avLst/>
          </a:prstGeom>
        </p:spPr>
        <p:txBody>
          <a:bodyPr wrap="square" lIns="0" tIns="0" rIns="0" bIns="0" rtlCol="0" anchor="t">
            <a:spAutoFit/>
          </a:bodyPr>
          <a:lstStyle/>
          <a:p>
            <a:pPr algn="l">
              <a:lnSpc>
                <a:spcPts val="3921"/>
              </a:lnSpc>
            </a:pPr>
            <a:r>
              <a:rPr lang="en-US" sz="2801" b="1" dirty="0">
                <a:solidFill>
                  <a:srgbClr val="FFFFFF"/>
                </a:solidFill>
                <a:latin typeface="DM Sans Bold"/>
                <a:ea typeface="DM Sans Bold"/>
                <a:cs typeface="DM Sans Bold"/>
                <a:sym typeface="DM Sans Bold"/>
              </a:rPr>
              <a:t>Step by step Rules</a:t>
            </a:r>
          </a:p>
          <a:p>
            <a:pPr marL="514350" indent="-514350" algn="l">
              <a:lnSpc>
                <a:spcPts val="3921"/>
              </a:lnSpc>
              <a:buAutoNum type="arabicPeriod"/>
            </a:pPr>
            <a:r>
              <a:rPr lang="en-US" sz="2801" dirty="0">
                <a:solidFill>
                  <a:srgbClr val="FFFFFF"/>
                </a:solidFill>
                <a:latin typeface="DM Sans Bold"/>
                <a:ea typeface="DM Sans Bold"/>
                <a:cs typeface="DM Sans Bold"/>
                <a:sym typeface="DM Sans Bold"/>
              </a:rPr>
              <a:t>Identify Employees by ID, Join date, Tenue, and salary</a:t>
            </a:r>
          </a:p>
          <a:p>
            <a:pPr marL="514350" indent="-514350" algn="l">
              <a:lnSpc>
                <a:spcPts val="3921"/>
              </a:lnSpc>
              <a:buAutoNum type="arabicPeriod"/>
            </a:pPr>
            <a:r>
              <a:rPr lang="en-US" sz="2801" dirty="0">
                <a:solidFill>
                  <a:srgbClr val="FFFFFF"/>
                </a:solidFill>
                <a:latin typeface="DM Sans Bold"/>
                <a:ea typeface="DM Sans Bold"/>
                <a:cs typeface="DM Sans Bold"/>
                <a:sym typeface="DM Sans Bold"/>
              </a:rPr>
              <a:t>Matching annual sales value per person with VLOOKUP function</a:t>
            </a:r>
          </a:p>
          <a:p>
            <a:pPr marL="514350" indent="-514350" algn="l">
              <a:lnSpc>
                <a:spcPts val="3921"/>
              </a:lnSpc>
              <a:buAutoNum type="arabicPeriod"/>
            </a:pPr>
            <a:r>
              <a:rPr lang="en-US" sz="2801" dirty="0" err="1">
                <a:solidFill>
                  <a:srgbClr val="FFFFFF"/>
                </a:solidFill>
                <a:latin typeface="DM Sans Bold"/>
                <a:ea typeface="DM Sans Bold"/>
                <a:cs typeface="DM Sans Bold"/>
                <a:sym typeface="DM Sans Bold"/>
              </a:rPr>
              <a:t>Clasify</a:t>
            </a:r>
            <a:r>
              <a:rPr lang="en-US" sz="2801" dirty="0">
                <a:solidFill>
                  <a:srgbClr val="FFFFFF"/>
                </a:solidFill>
                <a:latin typeface="DM Sans Bold"/>
                <a:ea typeface="DM Sans Bold"/>
                <a:cs typeface="DM Sans Bold"/>
                <a:sym typeface="DM Sans Bold"/>
              </a:rPr>
              <a:t> %commission each employees based on sales value</a:t>
            </a:r>
          </a:p>
          <a:p>
            <a:pPr marL="514350" indent="-514350" algn="l">
              <a:lnSpc>
                <a:spcPts val="3921"/>
              </a:lnSpc>
              <a:buAutoNum type="arabicPeriod"/>
            </a:pPr>
            <a:r>
              <a:rPr lang="en-US" sz="2801" dirty="0">
                <a:solidFill>
                  <a:srgbClr val="FFFFFF"/>
                </a:solidFill>
                <a:latin typeface="DM Sans Bold"/>
                <a:ea typeface="DM Sans Bold"/>
                <a:cs typeface="DM Sans Bold"/>
                <a:sym typeface="DM Sans Bold"/>
              </a:rPr>
              <a:t>Analyze the correlation between data</a:t>
            </a:r>
          </a:p>
        </p:txBody>
      </p:sp>
      <p:grpSp>
        <p:nvGrpSpPr>
          <p:cNvPr id="12" name="Group 12"/>
          <p:cNvGrpSpPr/>
          <p:nvPr/>
        </p:nvGrpSpPr>
        <p:grpSpPr>
          <a:xfrm>
            <a:off x="850337" y="8495335"/>
            <a:ext cx="3086100" cy="1130542"/>
            <a:chOff x="0" y="0"/>
            <a:chExt cx="812800" cy="297756"/>
          </a:xfrm>
        </p:grpSpPr>
        <p:sp>
          <p:nvSpPr>
            <p:cNvPr id="13" name="Freeform 13"/>
            <p:cNvSpPr/>
            <p:nvPr/>
          </p:nvSpPr>
          <p:spPr>
            <a:xfrm>
              <a:off x="0" y="0"/>
              <a:ext cx="812800" cy="297756"/>
            </a:xfrm>
            <a:custGeom>
              <a:avLst/>
              <a:gdLst/>
              <a:ahLst/>
              <a:cxnLst/>
              <a:rect l="l" t="t" r="r" b="b"/>
              <a:pathLst>
                <a:path w="812800" h="297756">
                  <a:moveTo>
                    <a:pt x="127941" y="0"/>
                  </a:moveTo>
                  <a:lnTo>
                    <a:pt x="684859" y="0"/>
                  </a:lnTo>
                  <a:cubicBezTo>
                    <a:pt x="718791" y="0"/>
                    <a:pt x="751333" y="13479"/>
                    <a:pt x="775327" y="37473"/>
                  </a:cubicBezTo>
                  <a:cubicBezTo>
                    <a:pt x="799321" y="61467"/>
                    <a:pt x="812800" y="94009"/>
                    <a:pt x="812800" y="127941"/>
                  </a:cubicBezTo>
                  <a:lnTo>
                    <a:pt x="812800" y="169815"/>
                  </a:lnTo>
                  <a:cubicBezTo>
                    <a:pt x="812800" y="203747"/>
                    <a:pt x="799321" y="236289"/>
                    <a:pt x="775327" y="260283"/>
                  </a:cubicBezTo>
                  <a:cubicBezTo>
                    <a:pt x="751333" y="284276"/>
                    <a:pt x="718791" y="297756"/>
                    <a:pt x="684859" y="297756"/>
                  </a:cubicBezTo>
                  <a:lnTo>
                    <a:pt x="127941" y="297756"/>
                  </a:lnTo>
                  <a:cubicBezTo>
                    <a:pt x="94009" y="297756"/>
                    <a:pt x="61467" y="284276"/>
                    <a:pt x="37473" y="260283"/>
                  </a:cubicBezTo>
                  <a:cubicBezTo>
                    <a:pt x="13479" y="236289"/>
                    <a:pt x="0" y="203747"/>
                    <a:pt x="0" y="169815"/>
                  </a:cubicBezTo>
                  <a:lnTo>
                    <a:pt x="0" y="127941"/>
                  </a:lnTo>
                  <a:cubicBezTo>
                    <a:pt x="0" y="94009"/>
                    <a:pt x="13479" y="61467"/>
                    <a:pt x="37473" y="37473"/>
                  </a:cubicBezTo>
                  <a:cubicBezTo>
                    <a:pt x="61467" y="13479"/>
                    <a:pt x="94009" y="0"/>
                    <a:pt x="127941" y="0"/>
                  </a:cubicBezTo>
                  <a:close/>
                </a:path>
              </a:pathLst>
            </a:custGeom>
            <a:solidFill>
              <a:srgbClr val="1FA79B"/>
            </a:solidFill>
          </p:spPr>
        </p:sp>
        <p:sp>
          <p:nvSpPr>
            <p:cNvPr id="14" name="TextBox 14"/>
            <p:cNvSpPr txBox="1"/>
            <p:nvPr/>
          </p:nvSpPr>
          <p:spPr>
            <a:xfrm>
              <a:off x="0" y="28575"/>
              <a:ext cx="812800" cy="269181"/>
            </a:xfrm>
            <a:prstGeom prst="rect">
              <a:avLst/>
            </a:prstGeom>
          </p:spPr>
          <p:txBody>
            <a:bodyPr lIns="50800" tIns="50800" rIns="50800" bIns="50800" rtlCol="0" anchor="ctr"/>
            <a:lstStyle/>
            <a:p>
              <a:pPr algn="ctr">
                <a:lnSpc>
                  <a:spcPts val="2896"/>
                </a:lnSpc>
              </a:pPr>
              <a:r>
                <a:rPr lang="en-US" sz="2000" dirty="0">
                  <a:solidFill>
                    <a:schemeClr val="bg1"/>
                  </a:solidFill>
                  <a:latin typeface="Montserrat"/>
                  <a:ea typeface="Montserrat"/>
                  <a:cs typeface="Montserrat"/>
                  <a:sym typeface="Montserrat"/>
                </a:rPr>
                <a:t>https://bit.ly/4qBwJef</a:t>
              </a:r>
            </a:p>
          </p:txBody>
        </p:sp>
      </p:grpSp>
      <p:sp>
        <p:nvSpPr>
          <p:cNvPr id="15" name="TextBox 15"/>
          <p:cNvSpPr txBox="1"/>
          <p:nvPr/>
        </p:nvSpPr>
        <p:spPr>
          <a:xfrm>
            <a:off x="10045137" y="6944646"/>
            <a:ext cx="8363689" cy="3728585"/>
          </a:xfrm>
          <a:prstGeom prst="rect">
            <a:avLst/>
          </a:prstGeom>
        </p:spPr>
        <p:txBody>
          <a:bodyPr wrap="square" lIns="0" tIns="0" rIns="0" bIns="0" rtlCol="0" anchor="t">
            <a:spAutoFit/>
          </a:bodyPr>
          <a:lstStyle/>
          <a:p>
            <a:pPr algn="l">
              <a:lnSpc>
                <a:spcPts val="2949"/>
              </a:lnSpc>
            </a:pPr>
            <a:r>
              <a:rPr lang="en-US" sz="2800" b="1" dirty="0">
                <a:solidFill>
                  <a:srgbClr val="000000"/>
                </a:solidFill>
                <a:latin typeface="DM Sans"/>
                <a:ea typeface="DM Sans"/>
                <a:cs typeface="DM Sans"/>
                <a:sym typeface="DM Sans"/>
              </a:rPr>
              <a:t>Highlight Insight:</a:t>
            </a:r>
          </a:p>
          <a:p>
            <a:pPr algn="l">
              <a:lnSpc>
                <a:spcPts val="2949"/>
              </a:lnSpc>
            </a:pPr>
            <a:endParaRPr lang="en-US" sz="2800" b="1" dirty="0">
              <a:solidFill>
                <a:srgbClr val="000000"/>
              </a:solidFill>
              <a:latin typeface="DM Sans"/>
              <a:ea typeface="DM Sans"/>
              <a:cs typeface="DM Sans"/>
              <a:sym typeface="DM Sans"/>
            </a:endParaRPr>
          </a:p>
          <a:p>
            <a:pPr algn="l">
              <a:lnSpc>
                <a:spcPts val="2949"/>
              </a:lnSpc>
            </a:pPr>
            <a:r>
              <a:rPr lang="en-US" sz="2800" b="1" dirty="0">
                <a:solidFill>
                  <a:srgbClr val="000000"/>
                </a:solidFill>
                <a:latin typeface="DM Sans"/>
                <a:ea typeface="DM Sans"/>
                <a:cs typeface="DM Sans"/>
                <a:sym typeface="DM Sans"/>
              </a:rPr>
              <a:t>1.   Total Employee by 2024 is 75 employees</a:t>
            </a:r>
          </a:p>
          <a:p>
            <a:pPr algn="l">
              <a:lnSpc>
                <a:spcPts val="2949"/>
              </a:lnSpc>
            </a:pPr>
            <a:r>
              <a:rPr lang="en-US" sz="2800" b="1" dirty="0">
                <a:solidFill>
                  <a:srgbClr val="000000"/>
                </a:solidFill>
                <a:latin typeface="DM Sans"/>
                <a:ea typeface="DM Sans"/>
                <a:cs typeface="DM Sans"/>
                <a:sym typeface="DM Sans"/>
              </a:rPr>
              <a:t>2. There are 5 employees that achieve highest sales based in Bandung, Denpasar and Medan Branch</a:t>
            </a:r>
          </a:p>
          <a:p>
            <a:pPr algn="l">
              <a:lnSpc>
                <a:spcPts val="2949"/>
              </a:lnSpc>
            </a:pPr>
            <a:r>
              <a:rPr lang="en-US" sz="2800" b="1" dirty="0">
                <a:solidFill>
                  <a:srgbClr val="000000"/>
                </a:solidFill>
                <a:latin typeface="DM Sans"/>
                <a:ea typeface="DM Sans"/>
                <a:cs typeface="DM Sans"/>
                <a:sym typeface="DM Sans"/>
              </a:rPr>
              <a:t>3. Bandung Branch get the highest Sales Achievement in 2024</a:t>
            </a:r>
          </a:p>
          <a:p>
            <a:pPr algn="l">
              <a:lnSpc>
                <a:spcPts val="2949"/>
              </a:lnSpc>
            </a:pPr>
            <a:endParaRPr lang="en-US" sz="2800" b="1" dirty="0">
              <a:solidFill>
                <a:srgbClr val="000000"/>
              </a:solidFill>
              <a:latin typeface="DM Sans"/>
              <a:ea typeface="DM Sans"/>
              <a:cs typeface="DM Sans"/>
              <a:sym typeface="DM Sans"/>
            </a:endParaRPr>
          </a:p>
          <a:p>
            <a:pPr algn="l">
              <a:lnSpc>
                <a:spcPts val="2949"/>
              </a:lnSpc>
            </a:pPr>
            <a:endParaRPr lang="en-US" sz="2800" b="1" dirty="0">
              <a:solidFill>
                <a:srgbClr val="000000"/>
              </a:solidFill>
              <a:latin typeface="DM Sans"/>
              <a:ea typeface="DM Sans"/>
              <a:cs typeface="DM Sans"/>
              <a:sym typeface="DM Sans"/>
            </a:endParaRPr>
          </a:p>
        </p:txBody>
      </p:sp>
      <p:pic>
        <p:nvPicPr>
          <p:cNvPr id="17" name="Picture 16">
            <a:extLst>
              <a:ext uri="{FF2B5EF4-FFF2-40B4-BE49-F238E27FC236}">
                <a16:creationId xmlns:a16="http://schemas.microsoft.com/office/drawing/2014/main" id="{27C67F09-62E6-9A2A-6BB6-CA0C4CCA00CD}"/>
              </a:ext>
            </a:extLst>
          </p:cNvPr>
          <p:cNvPicPr>
            <a:picLocks noChangeAspect="1"/>
          </p:cNvPicPr>
          <p:nvPr/>
        </p:nvPicPr>
        <p:blipFill>
          <a:blip r:embed="rId4"/>
          <a:stretch>
            <a:fillRect/>
          </a:stretch>
        </p:blipFill>
        <p:spPr>
          <a:xfrm>
            <a:off x="9831170" y="-4249"/>
            <a:ext cx="8363689" cy="4686706"/>
          </a:xfrm>
          <a:prstGeom prst="rect">
            <a:avLst/>
          </a:prstGeom>
          <a:effectLst>
            <a:reflection blurRad="6350" stA="50000" endA="300" endPos="55000" dir="5400000" sy="-100000" algn="bl" rotWithShape="0"/>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6422844" y="341197"/>
            <a:ext cx="1672913" cy="1672913"/>
          </a:xfrm>
          <a:custGeom>
            <a:avLst/>
            <a:gdLst/>
            <a:ahLst/>
            <a:cxnLst/>
            <a:rect l="l" t="t" r="r" b="b"/>
            <a:pathLst>
              <a:path w="1672913" h="1672913">
                <a:moveTo>
                  <a:pt x="0" y="0"/>
                </a:moveTo>
                <a:lnTo>
                  <a:pt x="1672912" y="0"/>
                </a:lnTo>
                <a:lnTo>
                  <a:pt x="1672912" y="1672912"/>
                </a:lnTo>
                <a:lnTo>
                  <a:pt x="0" y="1672912"/>
                </a:lnTo>
                <a:lnTo>
                  <a:pt x="0" y="0"/>
                </a:lnTo>
                <a:close/>
              </a:path>
            </a:pathLst>
          </a:custGeom>
          <a:blipFill>
            <a:blip r:embed="rId3"/>
            <a:stretch>
              <a:fillRect/>
            </a:stretch>
          </a:blipFill>
        </p:spPr>
      </p:sp>
      <p:sp>
        <p:nvSpPr>
          <p:cNvPr id="7" name="TextBox 7"/>
          <p:cNvSpPr txBox="1"/>
          <p:nvPr/>
        </p:nvSpPr>
        <p:spPr>
          <a:xfrm>
            <a:off x="457200" y="729107"/>
            <a:ext cx="15193584" cy="1803122"/>
          </a:xfrm>
          <a:prstGeom prst="rect">
            <a:avLst/>
          </a:prstGeom>
        </p:spPr>
        <p:txBody>
          <a:bodyPr wrap="square" lIns="0" tIns="0" rIns="0" bIns="0" rtlCol="0" anchor="t">
            <a:spAutoFit/>
          </a:bodyPr>
          <a:lstStyle/>
          <a:p>
            <a:pPr algn="l">
              <a:lnSpc>
                <a:spcPts val="6949"/>
              </a:lnSpc>
            </a:pPr>
            <a:r>
              <a:rPr lang="en-US" sz="6949" b="1" dirty="0">
                <a:gradFill>
                  <a:gsLst>
                    <a:gs pos="0">
                      <a:srgbClr val="FFFFFF">
                        <a:alpha val="100000"/>
                      </a:srgbClr>
                    </a:gs>
                    <a:gs pos="100000">
                      <a:srgbClr val="E3FAF9">
                        <a:alpha val="100000"/>
                      </a:srgbClr>
                    </a:gs>
                  </a:gsLst>
                  <a:path path="circle">
                    <a:fillToRect r="100000" b="100000"/>
                  </a:path>
                  <a:tileRect l="-100000" t="-100000"/>
                </a:gradFill>
                <a:latin typeface="DM Sans Bold"/>
                <a:ea typeface="DM Sans Bold"/>
                <a:cs typeface="DM Sans Bold"/>
                <a:sym typeface="DM Sans Bold"/>
              </a:rPr>
              <a:t>Bandung Branch has the highest Sales Achievement in 2024</a:t>
            </a:r>
          </a:p>
        </p:txBody>
      </p:sp>
      <p:sp>
        <p:nvSpPr>
          <p:cNvPr id="8" name="TextBox 8"/>
          <p:cNvSpPr txBox="1"/>
          <p:nvPr/>
        </p:nvSpPr>
        <p:spPr>
          <a:xfrm>
            <a:off x="1028700" y="3261336"/>
            <a:ext cx="8329289" cy="365441"/>
          </a:xfrm>
          <a:prstGeom prst="rect">
            <a:avLst/>
          </a:prstGeom>
        </p:spPr>
        <p:txBody>
          <a:bodyPr lIns="0" tIns="0" rIns="0" bIns="0" rtlCol="0" anchor="t">
            <a:spAutoFit/>
          </a:bodyPr>
          <a:lstStyle/>
          <a:p>
            <a:pPr algn="l">
              <a:lnSpc>
                <a:spcPts val="2949"/>
              </a:lnSpc>
              <a:spcBef>
                <a:spcPct val="0"/>
              </a:spcBef>
            </a:pPr>
            <a:r>
              <a:rPr lang="en-US" sz="2106">
                <a:solidFill>
                  <a:srgbClr val="FFFFFF"/>
                </a:solidFill>
                <a:latin typeface="DM Sans"/>
                <a:ea typeface="DM Sans"/>
                <a:cs typeface="DM Sans"/>
                <a:sym typeface="DM Sans"/>
              </a:rPr>
              <a:t>Explain your analysis in here</a:t>
            </a:r>
          </a:p>
        </p:txBody>
      </p:sp>
      <p:sp>
        <p:nvSpPr>
          <p:cNvPr id="9" name="Freeform 9"/>
          <p:cNvSpPr/>
          <p:nvPr/>
        </p:nvSpPr>
        <p:spPr>
          <a:xfrm flipH="1">
            <a:off x="11855871" y="4514549"/>
            <a:ext cx="9388520" cy="6026882"/>
          </a:xfrm>
          <a:custGeom>
            <a:avLst/>
            <a:gdLst/>
            <a:ahLst/>
            <a:cxnLst/>
            <a:rect l="l" t="t" r="r" b="b"/>
            <a:pathLst>
              <a:path w="9388520" h="6026882">
                <a:moveTo>
                  <a:pt x="9388520" y="0"/>
                </a:moveTo>
                <a:lnTo>
                  <a:pt x="0" y="0"/>
                </a:lnTo>
                <a:lnTo>
                  <a:pt x="0" y="6026882"/>
                </a:lnTo>
                <a:lnTo>
                  <a:pt x="9388520" y="6026882"/>
                </a:lnTo>
                <a:lnTo>
                  <a:pt x="9388520" y="0"/>
                </a:lnTo>
                <a:close/>
              </a:path>
            </a:pathLst>
          </a:custGeom>
          <a:blipFill>
            <a:blip r:embed="rId4"/>
            <a:stretch>
              <a:fillRect l="-105164" t="-80055" r="-320"/>
            </a:stretch>
          </a:blipFill>
        </p:spPr>
      </p:sp>
      <p:grpSp>
        <p:nvGrpSpPr>
          <p:cNvPr id="10" name="Group 10"/>
          <p:cNvGrpSpPr/>
          <p:nvPr/>
        </p:nvGrpSpPr>
        <p:grpSpPr>
          <a:xfrm>
            <a:off x="200560" y="2980773"/>
            <a:ext cx="8870556" cy="6142659"/>
            <a:chOff x="0" y="0"/>
            <a:chExt cx="2336278" cy="1617820"/>
          </a:xfrm>
        </p:grpSpPr>
        <p:sp>
          <p:nvSpPr>
            <p:cNvPr id="11" name="Freeform 11"/>
            <p:cNvSpPr/>
            <p:nvPr/>
          </p:nvSpPr>
          <p:spPr>
            <a:xfrm>
              <a:off x="0" y="0"/>
              <a:ext cx="2336278" cy="1617820"/>
            </a:xfrm>
            <a:custGeom>
              <a:avLst/>
              <a:gdLst/>
              <a:ahLst/>
              <a:cxnLst/>
              <a:rect l="l" t="t" r="r" b="b"/>
              <a:pathLst>
                <a:path w="2336278" h="1617820">
                  <a:moveTo>
                    <a:pt x="44511" y="0"/>
                  </a:moveTo>
                  <a:lnTo>
                    <a:pt x="2291767" y="0"/>
                  </a:lnTo>
                  <a:cubicBezTo>
                    <a:pt x="2316350" y="0"/>
                    <a:pt x="2336278" y="19928"/>
                    <a:pt x="2336278" y="44511"/>
                  </a:cubicBezTo>
                  <a:lnTo>
                    <a:pt x="2336278" y="1573309"/>
                  </a:lnTo>
                  <a:cubicBezTo>
                    <a:pt x="2336278" y="1585114"/>
                    <a:pt x="2331588" y="1596435"/>
                    <a:pt x="2323241" y="1604783"/>
                  </a:cubicBezTo>
                  <a:cubicBezTo>
                    <a:pt x="2314894" y="1613130"/>
                    <a:pt x="2303572" y="1617820"/>
                    <a:pt x="2291767" y="1617820"/>
                  </a:cubicBezTo>
                  <a:lnTo>
                    <a:pt x="44511" y="1617820"/>
                  </a:lnTo>
                  <a:cubicBezTo>
                    <a:pt x="19928" y="1617820"/>
                    <a:pt x="0" y="1597891"/>
                    <a:pt x="0" y="1573309"/>
                  </a:cubicBezTo>
                  <a:lnTo>
                    <a:pt x="0" y="44511"/>
                  </a:lnTo>
                  <a:cubicBezTo>
                    <a:pt x="0" y="19928"/>
                    <a:pt x="19928" y="0"/>
                    <a:pt x="44511" y="0"/>
                  </a:cubicBezTo>
                  <a:close/>
                </a:path>
              </a:pathLst>
            </a:custGeom>
            <a:solidFill>
              <a:srgbClr val="1FA79B"/>
            </a:solidFill>
          </p:spPr>
        </p:sp>
        <p:sp>
          <p:nvSpPr>
            <p:cNvPr id="12" name="TextBox 12"/>
            <p:cNvSpPr txBox="1"/>
            <p:nvPr/>
          </p:nvSpPr>
          <p:spPr>
            <a:xfrm>
              <a:off x="0" y="28575"/>
              <a:ext cx="1512570" cy="1589245"/>
            </a:xfrm>
            <a:prstGeom prst="rect">
              <a:avLst/>
            </a:prstGeom>
          </p:spPr>
          <p:txBody>
            <a:bodyPr lIns="50800" tIns="50800" rIns="50800" bIns="50800" rtlCol="0" anchor="ctr"/>
            <a:lstStyle/>
            <a:p>
              <a:pPr>
                <a:lnSpc>
                  <a:spcPts val="2896"/>
                </a:lnSpc>
              </a:pPr>
              <a:r>
                <a:rPr lang="en-US" sz="2632" dirty="0">
                  <a:solidFill>
                    <a:srgbClr val="000000"/>
                  </a:solidFill>
                  <a:latin typeface="Montserrat"/>
                  <a:ea typeface="Montserrat"/>
                  <a:cs typeface="Montserrat"/>
                  <a:sym typeface="Montserrat"/>
                </a:rPr>
                <a:t>Bandung reach Rp 4.6 Million Annual Sales, compare to other branches</a:t>
              </a:r>
            </a:p>
            <a:p>
              <a:pPr>
                <a:lnSpc>
                  <a:spcPts val="2896"/>
                </a:lnSpc>
              </a:pPr>
              <a:endParaRPr lang="en-US" sz="2632" dirty="0">
                <a:solidFill>
                  <a:srgbClr val="000000"/>
                </a:solidFill>
                <a:latin typeface="Montserrat"/>
                <a:ea typeface="Montserrat"/>
                <a:cs typeface="Montserrat"/>
                <a:sym typeface="Montserrat"/>
              </a:endParaRPr>
            </a:p>
            <a:p>
              <a:pPr>
                <a:lnSpc>
                  <a:spcPts val="2896"/>
                </a:lnSpc>
              </a:pPr>
              <a:r>
                <a:rPr lang="en-US" sz="2632" dirty="0">
                  <a:solidFill>
                    <a:srgbClr val="000000"/>
                  </a:solidFill>
                  <a:latin typeface="Montserrat"/>
                  <a:ea typeface="Montserrat"/>
                  <a:cs typeface="Montserrat"/>
                  <a:sym typeface="Montserrat"/>
                </a:rPr>
                <a:t>This achievement means all the employees in Bandung Branch has a great sales performance, and bring the most productive employees</a:t>
              </a:r>
            </a:p>
          </p:txBody>
        </p:sp>
      </p:grpSp>
      <p:pic>
        <p:nvPicPr>
          <p:cNvPr id="15" name="Picture 14">
            <a:extLst>
              <a:ext uri="{FF2B5EF4-FFF2-40B4-BE49-F238E27FC236}">
                <a16:creationId xmlns:a16="http://schemas.microsoft.com/office/drawing/2014/main" id="{28AA9D0D-6FC1-0116-F42E-8CC0A2AFD4F5}"/>
              </a:ext>
            </a:extLst>
          </p:cNvPr>
          <p:cNvPicPr>
            <a:picLocks noChangeAspect="1"/>
          </p:cNvPicPr>
          <p:nvPr/>
        </p:nvPicPr>
        <p:blipFill>
          <a:blip r:embed="rId5"/>
          <a:stretch>
            <a:fillRect/>
          </a:stretch>
        </p:blipFill>
        <p:spPr>
          <a:xfrm>
            <a:off x="5801574" y="2973153"/>
            <a:ext cx="11997897" cy="6150279"/>
          </a:xfrm>
          <a:prstGeom prst="roundRect">
            <a:avLst/>
          </a:prstGeom>
        </p:spPr>
      </p:pic>
      <p:sp>
        <p:nvSpPr>
          <p:cNvPr id="16" name="Rectangle: Rounded Corners 15">
            <a:extLst>
              <a:ext uri="{FF2B5EF4-FFF2-40B4-BE49-F238E27FC236}">
                <a16:creationId xmlns:a16="http://schemas.microsoft.com/office/drawing/2014/main" id="{6CEADE0C-5063-F3A7-933F-401F13C6AA81}"/>
              </a:ext>
            </a:extLst>
          </p:cNvPr>
          <p:cNvSpPr/>
          <p:nvPr/>
        </p:nvSpPr>
        <p:spPr>
          <a:xfrm>
            <a:off x="8610600" y="4229100"/>
            <a:ext cx="1219200" cy="4267200"/>
          </a:xfrm>
          <a:prstGeom prst="roundRect">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6422844" y="341197"/>
            <a:ext cx="1672913" cy="1672913"/>
          </a:xfrm>
          <a:custGeom>
            <a:avLst/>
            <a:gdLst/>
            <a:ahLst/>
            <a:cxnLst/>
            <a:rect l="l" t="t" r="r" b="b"/>
            <a:pathLst>
              <a:path w="1672913" h="1672913">
                <a:moveTo>
                  <a:pt x="0" y="0"/>
                </a:moveTo>
                <a:lnTo>
                  <a:pt x="1672912" y="0"/>
                </a:lnTo>
                <a:lnTo>
                  <a:pt x="1672912" y="1672912"/>
                </a:lnTo>
                <a:lnTo>
                  <a:pt x="0" y="1672912"/>
                </a:lnTo>
                <a:lnTo>
                  <a:pt x="0" y="0"/>
                </a:lnTo>
                <a:close/>
              </a:path>
            </a:pathLst>
          </a:custGeom>
          <a:blipFill>
            <a:blip r:embed="rId3"/>
            <a:stretch>
              <a:fillRect/>
            </a:stretch>
          </a:blipFill>
        </p:spPr>
      </p:sp>
      <p:sp>
        <p:nvSpPr>
          <p:cNvPr id="7" name="TextBox 7"/>
          <p:cNvSpPr txBox="1"/>
          <p:nvPr/>
        </p:nvSpPr>
        <p:spPr>
          <a:xfrm>
            <a:off x="1028700" y="888217"/>
            <a:ext cx="9050986" cy="1803122"/>
          </a:xfrm>
          <a:prstGeom prst="rect">
            <a:avLst/>
          </a:prstGeom>
        </p:spPr>
        <p:txBody>
          <a:bodyPr lIns="0" tIns="0" rIns="0" bIns="0" rtlCol="0" anchor="t">
            <a:spAutoFit/>
          </a:bodyPr>
          <a:lstStyle/>
          <a:p>
            <a:pPr algn="l">
              <a:lnSpc>
                <a:spcPts val="6949"/>
              </a:lnSpc>
            </a:pPr>
            <a:r>
              <a:rPr lang="en-US" sz="6949" b="1" dirty="0">
                <a:gradFill>
                  <a:gsLst>
                    <a:gs pos="0">
                      <a:srgbClr val="FFFFFF">
                        <a:alpha val="100000"/>
                      </a:srgbClr>
                    </a:gs>
                    <a:gs pos="100000">
                      <a:srgbClr val="E3FAF9">
                        <a:alpha val="100000"/>
                      </a:srgbClr>
                    </a:gs>
                  </a:gsLst>
                  <a:path path="circle">
                    <a:fillToRect r="100000" b="100000"/>
                  </a:path>
                  <a:tileRect l="-100000" t="-100000"/>
                </a:gradFill>
                <a:latin typeface="DM Sans Bold"/>
                <a:ea typeface="DM Sans Bold"/>
                <a:cs typeface="DM Sans Bold"/>
                <a:sym typeface="DM Sans Bold"/>
              </a:rPr>
              <a:t>Rewards for The Employees</a:t>
            </a:r>
          </a:p>
        </p:txBody>
      </p:sp>
      <p:sp>
        <p:nvSpPr>
          <p:cNvPr id="8" name="TextBox 8"/>
          <p:cNvSpPr txBox="1"/>
          <p:nvPr/>
        </p:nvSpPr>
        <p:spPr>
          <a:xfrm>
            <a:off x="1028700" y="3261336"/>
            <a:ext cx="8329289" cy="365441"/>
          </a:xfrm>
          <a:prstGeom prst="rect">
            <a:avLst/>
          </a:prstGeom>
        </p:spPr>
        <p:txBody>
          <a:bodyPr lIns="0" tIns="0" rIns="0" bIns="0" rtlCol="0" anchor="t">
            <a:spAutoFit/>
          </a:bodyPr>
          <a:lstStyle/>
          <a:p>
            <a:pPr algn="l">
              <a:lnSpc>
                <a:spcPts val="2949"/>
              </a:lnSpc>
              <a:spcBef>
                <a:spcPct val="0"/>
              </a:spcBef>
            </a:pPr>
            <a:r>
              <a:rPr lang="en-US" sz="2106">
                <a:solidFill>
                  <a:srgbClr val="FFFFFF"/>
                </a:solidFill>
                <a:latin typeface="DM Sans"/>
                <a:ea typeface="DM Sans"/>
                <a:cs typeface="DM Sans"/>
                <a:sym typeface="DM Sans"/>
              </a:rPr>
              <a:t>Explain your analysis in here</a:t>
            </a:r>
          </a:p>
        </p:txBody>
      </p:sp>
      <p:sp>
        <p:nvSpPr>
          <p:cNvPr id="9" name="Freeform 9"/>
          <p:cNvSpPr/>
          <p:nvPr/>
        </p:nvSpPr>
        <p:spPr>
          <a:xfrm flipH="1">
            <a:off x="11855871" y="4514549"/>
            <a:ext cx="9388520" cy="6026882"/>
          </a:xfrm>
          <a:custGeom>
            <a:avLst/>
            <a:gdLst/>
            <a:ahLst/>
            <a:cxnLst/>
            <a:rect l="l" t="t" r="r" b="b"/>
            <a:pathLst>
              <a:path w="9388520" h="6026882">
                <a:moveTo>
                  <a:pt x="9388520" y="0"/>
                </a:moveTo>
                <a:lnTo>
                  <a:pt x="0" y="0"/>
                </a:lnTo>
                <a:lnTo>
                  <a:pt x="0" y="6026882"/>
                </a:lnTo>
                <a:lnTo>
                  <a:pt x="9388520" y="6026882"/>
                </a:lnTo>
                <a:lnTo>
                  <a:pt x="9388520" y="0"/>
                </a:lnTo>
                <a:close/>
              </a:path>
            </a:pathLst>
          </a:custGeom>
          <a:blipFill>
            <a:blip r:embed="rId4"/>
            <a:stretch>
              <a:fillRect l="-105164" t="-80055" r="-320"/>
            </a:stretch>
          </a:blipFill>
        </p:spPr>
      </p:sp>
      <p:grpSp>
        <p:nvGrpSpPr>
          <p:cNvPr id="10" name="Group 10"/>
          <p:cNvGrpSpPr/>
          <p:nvPr/>
        </p:nvGrpSpPr>
        <p:grpSpPr>
          <a:xfrm>
            <a:off x="273444" y="3233264"/>
            <a:ext cx="8870556" cy="6142659"/>
            <a:chOff x="0" y="0"/>
            <a:chExt cx="2336278" cy="1617820"/>
          </a:xfrm>
        </p:grpSpPr>
        <p:sp>
          <p:nvSpPr>
            <p:cNvPr id="11" name="Freeform 11"/>
            <p:cNvSpPr/>
            <p:nvPr/>
          </p:nvSpPr>
          <p:spPr>
            <a:xfrm>
              <a:off x="0" y="0"/>
              <a:ext cx="2336278" cy="1617820"/>
            </a:xfrm>
            <a:custGeom>
              <a:avLst/>
              <a:gdLst/>
              <a:ahLst/>
              <a:cxnLst/>
              <a:rect l="l" t="t" r="r" b="b"/>
              <a:pathLst>
                <a:path w="2336278" h="1617820">
                  <a:moveTo>
                    <a:pt x="44511" y="0"/>
                  </a:moveTo>
                  <a:lnTo>
                    <a:pt x="2291767" y="0"/>
                  </a:lnTo>
                  <a:cubicBezTo>
                    <a:pt x="2316350" y="0"/>
                    <a:pt x="2336278" y="19928"/>
                    <a:pt x="2336278" y="44511"/>
                  </a:cubicBezTo>
                  <a:lnTo>
                    <a:pt x="2336278" y="1573309"/>
                  </a:lnTo>
                  <a:cubicBezTo>
                    <a:pt x="2336278" y="1585114"/>
                    <a:pt x="2331588" y="1596435"/>
                    <a:pt x="2323241" y="1604783"/>
                  </a:cubicBezTo>
                  <a:cubicBezTo>
                    <a:pt x="2314894" y="1613130"/>
                    <a:pt x="2303572" y="1617820"/>
                    <a:pt x="2291767" y="1617820"/>
                  </a:cubicBezTo>
                  <a:lnTo>
                    <a:pt x="44511" y="1617820"/>
                  </a:lnTo>
                  <a:cubicBezTo>
                    <a:pt x="19928" y="1617820"/>
                    <a:pt x="0" y="1597891"/>
                    <a:pt x="0" y="1573309"/>
                  </a:cubicBezTo>
                  <a:lnTo>
                    <a:pt x="0" y="44511"/>
                  </a:lnTo>
                  <a:cubicBezTo>
                    <a:pt x="0" y="19928"/>
                    <a:pt x="19928" y="0"/>
                    <a:pt x="44511" y="0"/>
                  </a:cubicBezTo>
                  <a:close/>
                </a:path>
              </a:pathLst>
            </a:custGeom>
            <a:solidFill>
              <a:srgbClr val="1FA79B"/>
            </a:solidFill>
          </p:spPr>
        </p:sp>
        <p:sp>
          <p:nvSpPr>
            <p:cNvPr id="12" name="TextBox 12"/>
            <p:cNvSpPr txBox="1"/>
            <p:nvPr/>
          </p:nvSpPr>
          <p:spPr>
            <a:xfrm>
              <a:off x="76921" y="14287"/>
              <a:ext cx="1573651" cy="1589245"/>
            </a:xfrm>
            <a:prstGeom prst="rect">
              <a:avLst/>
            </a:prstGeom>
          </p:spPr>
          <p:txBody>
            <a:bodyPr lIns="50800" tIns="50800" rIns="50800" bIns="50800" rtlCol="0" anchor="ctr"/>
            <a:lstStyle/>
            <a:p>
              <a:pPr algn="ctr">
                <a:lnSpc>
                  <a:spcPts val="2896"/>
                </a:lnSpc>
              </a:pPr>
              <a:r>
                <a:rPr lang="en-US" sz="2632" dirty="0">
                  <a:solidFill>
                    <a:srgbClr val="000000"/>
                  </a:solidFill>
                  <a:latin typeface="Montserrat"/>
                  <a:ea typeface="Montserrat"/>
                  <a:cs typeface="Montserrat"/>
                  <a:sym typeface="Montserrat"/>
                </a:rPr>
                <a:t>After a </a:t>
              </a:r>
              <a:r>
                <a:rPr lang="en-US" sz="2632" dirty="0" err="1">
                  <a:solidFill>
                    <a:srgbClr val="000000"/>
                  </a:solidFill>
                  <a:latin typeface="Montserrat"/>
                  <a:ea typeface="Montserrat"/>
                  <a:cs typeface="Montserrat"/>
                  <a:sym typeface="Montserrat"/>
                </a:rPr>
                <a:t>hardwork</a:t>
              </a:r>
              <a:r>
                <a:rPr lang="en-US" sz="2632" dirty="0">
                  <a:solidFill>
                    <a:srgbClr val="000000"/>
                  </a:solidFill>
                  <a:latin typeface="Montserrat"/>
                  <a:ea typeface="Montserrat"/>
                  <a:cs typeface="Montserrat"/>
                  <a:sym typeface="Montserrat"/>
                </a:rPr>
                <a:t>, great achievement, and calculation commission each employee per branch. We see from the graphic the total of commission.</a:t>
              </a:r>
            </a:p>
            <a:p>
              <a:pPr algn="ctr">
                <a:lnSpc>
                  <a:spcPts val="2896"/>
                </a:lnSpc>
              </a:pPr>
              <a:endParaRPr lang="en-US" sz="2632" dirty="0">
                <a:solidFill>
                  <a:srgbClr val="000000"/>
                </a:solidFill>
                <a:latin typeface="Montserrat"/>
                <a:ea typeface="Montserrat"/>
                <a:cs typeface="Montserrat"/>
                <a:sym typeface="Montserrat"/>
              </a:endParaRPr>
            </a:p>
            <a:p>
              <a:pPr algn="ctr">
                <a:lnSpc>
                  <a:spcPts val="2896"/>
                </a:lnSpc>
              </a:pPr>
              <a:r>
                <a:rPr lang="en-US" sz="2632" dirty="0">
                  <a:solidFill>
                    <a:srgbClr val="000000"/>
                  </a:solidFill>
                  <a:latin typeface="Montserrat"/>
                  <a:ea typeface="Montserrat"/>
                  <a:cs typeface="Montserrat"/>
                  <a:sym typeface="Montserrat"/>
                </a:rPr>
                <a:t>Bandung branch was the most commission due to great sales achievement impact</a:t>
              </a:r>
            </a:p>
          </p:txBody>
        </p:sp>
      </p:grpSp>
      <p:pic>
        <p:nvPicPr>
          <p:cNvPr id="14" name="Picture 13">
            <a:extLst>
              <a:ext uri="{FF2B5EF4-FFF2-40B4-BE49-F238E27FC236}">
                <a16:creationId xmlns:a16="http://schemas.microsoft.com/office/drawing/2014/main" id="{FF449BA5-D471-B138-5ACD-2015ADD405AA}"/>
              </a:ext>
            </a:extLst>
          </p:cNvPr>
          <p:cNvPicPr>
            <a:picLocks noChangeAspect="1"/>
          </p:cNvPicPr>
          <p:nvPr/>
        </p:nvPicPr>
        <p:blipFill>
          <a:blip r:embed="rId5"/>
          <a:stretch>
            <a:fillRect/>
          </a:stretch>
        </p:blipFill>
        <p:spPr>
          <a:xfrm>
            <a:off x="7238583" y="3210404"/>
            <a:ext cx="10592218" cy="6188379"/>
          </a:xfrm>
          <a:prstGeom prst="roundRect">
            <a:avLst/>
          </a:prstGeom>
        </p:spPr>
      </p:pic>
      <p:sp>
        <p:nvSpPr>
          <p:cNvPr id="15" name="Rectangle: Rounded Corners 14">
            <a:extLst>
              <a:ext uri="{FF2B5EF4-FFF2-40B4-BE49-F238E27FC236}">
                <a16:creationId xmlns:a16="http://schemas.microsoft.com/office/drawing/2014/main" id="{84301C4E-61EA-3B5A-9ECC-D3C06C862471}"/>
              </a:ext>
            </a:extLst>
          </p:cNvPr>
          <p:cNvSpPr/>
          <p:nvPr/>
        </p:nvSpPr>
        <p:spPr>
          <a:xfrm rot="5400000">
            <a:off x="12763500" y="3124200"/>
            <a:ext cx="609600" cy="8458200"/>
          </a:xfrm>
          <a:prstGeom prst="roundRect">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6422844" y="341197"/>
            <a:ext cx="1672913" cy="1672913"/>
          </a:xfrm>
          <a:custGeom>
            <a:avLst/>
            <a:gdLst/>
            <a:ahLst/>
            <a:cxnLst/>
            <a:rect l="l" t="t" r="r" b="b"/>
            <a:pathLst>
              <a:path w="1672913" h="1672913">
                <a:moveTo>
                  <a:pt x="0" y="0"/>
                </a:moveTo>
                <a:lnTo>
                  <a:pt x="1672912" y="0"/>
                </a:lnTo>
                <a:lnTo>
                  <a:pt x="1672912" y="1672912"/>
                </a:lnTo>
                <a:lnTo>
                  <a:pt x="0" y="1672912"/>
                </a:lnTo>
                <a:lnTo>
                  <a:pt x="0" y="0"/>
                </a:lnTo>
                <a:close/>
              </a:path>
            </a:pathLst>
          </a:custGeom>
          <a:blipFill>
            <a:blip r:embed="rId3"/>
            <a:stretch>
              <a:fillRect/>
            </a:stretch>
          </a:blipFill>
        </p:spPr>
      </p:sp>
      <p:sp>
        <p:nvSpPr>
          <p:cNvPr id="7" name="TextBox 7"/>
          <p:cNvSpPr txBox="1"/>
          <p:nvPr/>
        </p:nvSpPr>
        <p:spPr>
          <a:xfrm>
            <a:off x="1028700" y="888217"/>
            <a:ext cx="15811500" cy="1803122"/>
          </a:xfrm>
          <a:prstGeom prst="rect">
            <a:avLst/>
          </a:prstGeom>
        </p:spPr>
        <p:txBody>
          <a:bodyPr wrap="square" lIns="0" tIns="0" rIns="0" bIns="0" rtlCol="0" anchor="t">
            <a:spAutoFit/>
          </a:bodyPr>
          <a:lstStyle/>
          <a:p>
            <a:pPr algn="l">
              <a:lnSpc>
                <a:spcPts val="6949"/>
              </a:lnSpc>
            </a:pPr>
            <a:r>
              <a:rPr lang="en-US" sz="6949" b="1" dirty="0">
                <a:gradFill>
                  <a:gsLst>
                    <a:gs pos="0">
                      <a:srgbClr val="FFFFFF">
                        <a:alpha val="100000"/>
                      </a:srgbClr>
                    </a:gs>
                    <a:gs pos="100000">
                      <a:srgbClr val="E3FAF9">
                        <a:alpha val="100000"/>
                      </a:srgbClr>
                    </a:gs>
                  </a:gsLst>
                  <a:path path="circle">
                    <a:fillToRect r="100000" b="100000"/>
                  </a:path>
                  <a:tileRect l="-100000" t="-100000"/>
                </a:gradFill>
                <a:latin typeface="DM Sans Bold"/>
                <a:ea typeface="DM Sans Bold"/>
                <a:cs typeface="DM Sans Bold"/>
                <a:sym typeface="DM Sans Bold"/>
              </a:rPr>
              <a:t>Correlation Between</a:t>
            </a:r>
          </a:p>
          <a:p>
            <a:pPr algn="l">
              <a:lnSpc>
                <a:spcPts val="6949"/>
              </a:lnSpc>
            </a:pPr>
            <a:r>
              <a:rPr lang="en-US" sz="6949" b="1" dirty="0">
                <a:gradFill>
                  <a:gsLst>
                    <a:gs pos="0">
                      <a:srgbClr val="FFFFFF">
                        <a:alpha val="100000"/>
                      </a:srgbClr>
                    </a:gs>
                    <a:gs pos="100000">
                      <a:srgbClr val="E3FAF9">
                        <a:alpha val="100000"/>
                      </a:srgbClr>
                    </a:gs>
                  </a:gsLst>
                  <a:path path="circle">
                    <a:fillToRect r="100000" b="100000"/>
                  </a:path>
                  <a:tileRect l="-100000" t="-100000"/>
                </a:gradFill>
                <a:latin typeface="DM Sans Bold"/>
                <a:ea typeface="DM Sans Bold"/>
                <a:cs typeface="DM Sans Bold"/>
                <a:sym typeface="DM Sans Bold"/>
              </a:rPr>
              <a:t>Tenure and </a:t>
            </a:r>
            <a:r>
              <a:rPr lang="en-US" sz="6949" b="1" dirty="0" err="1">
                <a:gradFill>
                  <a:gsLst>
                    <a:gs pos="0">
                      <a:srgbClr val="FFFFFF">
                        <a:alpha val="100000"/>
                      </a:srgbClr>
                    </a:gs>
                    <a:gs pos="100000">
                      <a:srgbClr val="E3FAF9">
                        <a:alpha val="100000"/>
                      </a:srgbClr>
                    </a:gs>
                  </a:gsLst>
                  <a:path path="circle">
                    <a:fillToRect r="100000" b="100000"/>
                  </a:path>
                  <a:tileRect l="-100000" t="-100000"/>
                </a:gradFill>
                <a:latin typeface="DM Sans Bold"/>
                <a:ea typeface="DM Sans Bold"/>
                <a:cs typeface="DM Sans Bold"/>
                <a:sym typeface="DM Sans Bold"/>
              </a:rPr>
              <a:t>Commision</a:t>
            </a:r>
            <a:r>
              <a:rPr lang="en-US" sz="6949" b="1" dirty="0">
                <a:gradFill>
                  <a:gsLst>
                    <a:gs pos="0">
                      <a:srgbClr val="FFFFFF">
                        <a:alpha val="100000"/>
                      </a:srgbClr>
                    </a:gs>
                    <a:gs pos="100000">
                      <a:srgbClr val="E3FAF9">
                        <a:alpha val="100000"/>
                      </a:srgbClr>
                    </a:gs>
                  </a:gsLst>
                  <a:path path="circle">
                    <a:fillToRect r="100000" b="100000"/>
                  </a:path>
                  <a:tileRect l="-100000" t="-100000"/>
                </a:gradFill>
                <a:latin typeface="DM Sans Bold"/>
                <a:ea typeface="DM Sans Bold"/>
                <a:cs typeface="DM Sans Bold"/>
                <a:sym typeface="DM Sans Bold"/>
              </a:rPr>
              <a:t> Achieved</a:t>
            </a:r>
          </a:p>
        </p:txBody>
      </p:sp>
      <p:sp>
        <p:nvSpPr>
          <p:cNvPr id="8" name="TextBox 8"/>
          <p:cNvSpPr txBox="1"/>
          <p:nvPr/>
        </p:nvSpPr>
        <p:spPr>
          <a:xfrm>
            <a:off x="1028700" y="3261336"/>
            <a:ext cx="8329289" cy="365441"/>
          </a:xfrm>
          <a:prstGeom prst="rect">
            <a:avLst/>
          </a:prstGeom>
        </p:spPr>
        <p:txBody>
          <a:bodyPr lIns="0" tIns="0" rIns="0" bIns="0" rtlCol="0" anchor="t">
            <a:spAutoFit/>
          </a:bodyPr>
          <a:lstStyle/>
          <a:p>
            <a:pPr algn="l">
              <a:lnSpc>
                <a:spcPts val="2949"/>
              </a:lnSpc>
              <a:spcBef>
                <a:spcPct val="0"/>
              </a:spcBef>
            </a:pPr>
            <a:r>
              <a:rPr lang="en-US" sz="2106">
                <a:solidFill>
                  <a:srgbClr val="FFFFFF"/>
                </a:solidFill>
                <a:latin typeface="DM Sans"/>
                <a:ea typeface="DM Sans"/>
                <a:cs typeface="DM Sans"/>
                <a:sym typeface="DM Sans"/>
              </a:rPr>
              <a:t>Explain your analysis in here</a:t>
            </a:r>
          </a:p>
        </p:txBody>
      </p:sp>
      <p:sp>
        <p:nvSpPr>
          <p:cNvPr id="9" name="Freeform 9"/>
          <p:cNvSpPr/>
          <p:nvPr/>
        </p:nvSpPr>
        <p:spPr>
          <a:xfrm flipH="1">
            <a:off x="11855871" y="4514549"/>
            <a:ext cx="9388520" cy="6026882"/>
          </a:xfrm>
          <a:custGeom>
            <a:avLst/>
            <a:gdLst/>
            <a:ahLst/>
            <a:cxnLst/>
            <a:rect l="l" t="t" r="r" b="b"/>
            <a:pathLst>
              <a:path w="9388520" h="6026882">
                <a:moveTo>
                  <a:pt x="9388520" y="0"/>
                </a:moveTo>
                <a:lnTo>
                  <a:pt x="0" y="0"/>
                </a:lnTo>
                <a:lnTo>
                  <a:pt x="0" y="6026882"/>
                </a:lnTo>
                <a:lnTo>
                  <a:pt x="9388520" y="6026882"/>
                </a:lnTo>
                <a:lnTo>
                  <a:pt x="9388520" y="0"/>
                </a:lnTo>
                <a:close/>
              </a:path>
            </a:pathLst>
          </a:custGeom>
          <a:blipFill>
            <a:blip r:embed="rId4"/>
            <a:stretch>
              <a:fillRect l="-105164" t="-80055" r="-320"/>
            </a:stretch>
          </a:blipFill>
        </p:spPr>
      </p:sp>
      <p:grpSp>
        <p:nvGrpSpPr>
          <p:cNvPr id="10" name="Group 10"/>
          <p:cNvGrpSpPr/>
          <p:nvPr/>
        </p:nvGrpSpPr>
        <p:grpSpPr>
          <a:xfrm>
            <a:off x="270811" y="3261336"/>
            <a:ext cx="8870556" cy="6142659"/>
            <a:chOff x="0" y="0"/>
            <a:chExt cx="2336278" cy="1617820"/>
          </a:xfrm>
        </p:grpSpPr>
        <p:sp>
          <p:nvSpPr>
            <p:cNvPr id="11" name="Freeform 11"/>
            <p:cNvSpPr/>
            <p:nvPr/>
          </p:nvSpPr>
          <p:spPr>
            <a:xfrm>
              <a:off x="0" y="0"/>
              <a:ext cx="2336278" cy="1617820"/>
            </a:xfrm>
            <a:custGeom>
              <a:avLst/>
              <a:gdLst/>
              <a:ahLst/>
              <a:cxnLst/>
              <a:rect l="l" t="t" r="r" b="b"/>
              <a:pathLst>
                <a:path w="2336278" h="1617820">
                  <a:moveTo>
                    <a:pt x="44511" y="0"/>
                  </a:moveTo>
                  <a:lnTo>
                    <a:pt x="2291767" y="0"/>
                  </a:lnTo>
                  <a:cubicBezTo>
                    <a:pt x="2316350" y="0"/>
                    <a:pt x="2336278" y="19928"/>
                    <a:pt x="2336278" y="44511"/>
                  </a:cubicBezTo>
                  <a:lnTo>
                    <a:pt x="2336278" y="1573309"/>
                  </a:lnTo>
                  <a:cubicBezTo>
                    <a:pt x="2336278" y="1585114"/>
                    <a:pt x="2331588" y="1596435"/>
                    <a:pt x="2323241" y="1604783"/>
                  </a:cubicBezTo>
                  <a:cubicBezTo>
                    <a:pt x="2314894" y="1613130"/>
                    <a:pt x="2303572" y="1617820"/>
                    <a:pt x="2291767" y="1617820"/>
                  </a:cubicBezTo>
                  <a:lnTo>
                    <a:pt x="44511" y="1617820"/>
                  </a:lnTo>
                  <a:cubicBezTo>
                    <a:pt x="19928" y="1617820"/>
                    <a:pt x="0" y="1597891"/>
                    <a:pt x="0" y="1573309"/>
                  </a:cubicBezTo>
                  <a:lnTo>
                    <a:pt x="0" y="44511"/>
                  </a:lnTo>
                  <a:cubicBezTo>
                    <a:pt x="0" y="19928"/>
                    <a:pt x="19928" y="0"/>
                    <a:pt x="44511" y="0"/>
                  </a:cubicBezTo>
                  <a:close/>
                </a:path>
              </a:pathLst>
            </a:custGeom>
            <a:solidFill>
              <a:srgbClr val="1FA79B"/>
            </a:solidFill>
          </p:spPr>
          <p:txBody>
            <a:bodyPr/>
            <a:lstStyle/>
            <a:p>
              <a:r>
                <a:rPr lang="en-US" sz="2600" dirty="0"/>
                <a:t>We can see from the graphic, the total of</a:t>
              </a:r>
            </a:p>
            <a:p>
              <a:r>
                <a:rPr lang="en-US" sz="2600" dirty="0" err="1"/>
                <a:t>Commision</a:t>
              </a:r>
              <a:r>
                <a:rPr lang="en-US" sz="2600" dirty="0"/>
                <a:t> based on working period</a:t>
              </a:r>
            </a:p>
            <a:p>
              <a:endParaRPr lang="en-US" sz="2600" dirty="0"/>
            </a:p>
            <a:p>
              <a:r>
                <a:rPr lang="en-US" sz="2600" dirty="0"/>
                <a:t>The correlation between Tenure and </a:t>
              </a:r>
            </a:p>
            <a:p>
              <a:r>
                <a:rPr lang="en-US" sz="2600" dirty="0" err="1"/>
                <a:t>Commision</a:t>
              </a:r>
              <a:r>
                <a:rPr lang="en-US" sz="2600" dirty="0"/>
                <a:t> is almost directly proportional</a:t>
              </a:r>
            </a:p>
            <a:p>
              <a:r>
                <a:rPr lang="en-US" sz="2600" dirty="0"/>
                <a:t>With the variances each tenures.</a:t>
              </a:r>
            </a:p>
            <a:p>
              <a:endParaRPr lang="en-US" sz="2600" dirty="0"/>
            </a:p>
            <a:p>
              <a:r>
                <a:rPr lang="en-US" sz="2600" dirty="0"/>
                <a:t>Employees with 8 years of work experiences</a:t>
              </a:r>
            </a:p>
            <a:p>
              <a:r>
                <a:rPr lang="en-US" sz="2600" dirty="0"/>
                <a:t>Was the highest commission earning in 2024.</a:t>
              </a:r>
            </a:p>
            <a:p>
              <a:r>
                <a:rPr lang="en-US" sz="2600" dirty="0"/>
                <a:t>where the length of work experience is </a:t>
              </a:r>
            </a:p>
            <a:p>
              <a:r>
                <a:rPr lang="en-US" sz="2600" dirty="0"/>
                <a:t>directly proportional to the level of </a:t>
              </a:r>
            </a:p>
            <a:p>
              <a:r>
                <a:rPr lang="en-US" sz="2600" dirty="0"/>
                <a:t>experience and the targets to be achieved, </a:t>
              </a:r>
            </a:p>
            <a:p>
              <a:r>
                <a:rPr lang="en-US" sz="2600" dirty="0"/>
                <a:t>so that employees have better </a:t>
              </a:r>
            </a:p>
            <a:p>
              <a:r>
                <a:rPr lang="en-US" sz="2600" dirty="0"/>
                <a:t>work performance.</a:t>
              </a:r>
            </a:p>
          </p:txBody>
        </p:sp>
        <p:sp>
          <p:nvSpPr>
            <p:cNvPr id="12" name="TextBox 12"/>
            <p:cNvSpPr txBox="1"/>
            <p:nvPr/>
          </p:nvSpPr>
          <p:spPr>
            <a:xfrm>
              <a:off x="0" y="28575"/>
              <a:ext cx="2336278" cy="1589245"/>
            </a:xfrm>
            <a:prstGeom prst="rect">
              <a:avLst/>
            </a:prstGeom>
          </p:spPr>
          <p:txBody>
            <a:bodyPr lIns="50800" tIns="50800" rIns="50800" bIns="50800" rtlCol="0" anchor="ctr"/>
            <a:lstStyle/>
            <a:p>
              <a:pPr>
                <a:lnSpc>
                  <a:spcPts val="2896"/>
                </a:lnSpc>
              </a:pPr>
              <a:endParaRPr lang="en-US" sz="2600" dirty="0">
                <a:solidFill>
                  <a:srgbClr val="000000"/>
                </a:solidFill>
                <a:latin typeface="Montserrat"/>
                <a:ea typeface="Montserrat"/>
                <a:cs typeface="Montserrat"/>
                <a:sym typeface="Montserrat"/>
              </a:endParaRPr>
            </a:p>
          </p:txBody>
        </p:sp>
      </p:grpSp>
      <p:pic>
        <p:nvPicPr>
          <p:cNvPr id="13" name="Picture 12">
            <a:extLst>
              <a:ext uri="{FF2B5EF4-FFF2-40B4-BE49-F238E27FC236}">
                <a16:creationId xmlns:a16="http://schemas.microsoft.com/office/drawing/2014/main" id="{D6B866E1-E694-530E-9FD4-2F2BFEF2550E}"/>
              </a:ext>
            </a:extLst>
          </p:cNvPr>
          <p:cNvPicPr>
            <a:picLocks noChangeAspect="1"/>
          </p:cNvPicPr>
          <p:nvPr/>
        </p:nvPicPr>
        <p:blipFill>
          <a:blip r:embed="rId5"/>
          <a:stretch>
            <a:fillRect/>
          </a:stretch>
        </p:blipFill>
        <p:spPr>
          <a:xfrm>
            <a:off x="6495458" y="3216074"/>
            <a:ext cx="11600299" cy="6341677"/>
          </a:xfrm>
          <a:prstGeom prst="roundRect">
            <a:avLst/>
          </a:prstGeom>
        </p:spPr>
      </p:pic>
      <p:sp>
        <p:nvSpPr>
          <p:cNvPr id="14" name="Rectangle: Rounded Corners 13">
            <a:extLst>
              <a:ext uri="{FF2B5EF4-FFF2-40B4-BE49-F238E27FC236}">
                <a16:creationId xmlns:a16="http://schemas.microsoft.com/office/drawing/2014/main" id="{7AF418CD-8517-8075-08FD-BAB840658693}"/>
              </a:ext>
            </a:extLst>
          </p:cNvPr>
          <p:cNvSpPr/>
          <p:nvPr/>
        </p:nvSpPr>
        <p:spPr>
          <a:xfrm>
            <a:off x="15849599" y="4567889"/>
            <a:ext cx="1006425" cy="4267200"/>
          </a:xfrm>
          <a:prstGeom prst="roundRect">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9130667" y="4571776"/>
            <a:ext cx="6434800" cy="637752"/>
          </a:xfrm>
          <a:prstGeom prst="rect">
            <a:avLst/>
          </a:prstGeom>
        </p:spPr>
        <p:txBody>
          <a:bodyPr lIns="0" tIns="0" rIns="0" bIns="0" rtlCol="0" anchor="t">
            <a:spAutoFit/>
          </a:bodyPr>
          <a:lstStyle/>
          <a:p>
            <a:pPr algn="just">
              <a:lnSpc>
                <a:spcPts val="4913"/>
              </a:lnSpc>
            </a:pPr>
            <a:r>
              <a:rPr lang="en-US" sz="4466" b="1">
                <a:solidFill>
                  <a:srgbClr val="FFFFFF"/>
                </a:solidFill>
                <a:latin typeface="DM Sans Bold"/>
                <a:ea typeface="DM Sans Bold"/>
                <a:cs typeface="DM Sans Bold"/>
                <a:sym typeface="DM Sans Bold"/>
              </a:rPr>
              <a:t>Contact Details</a:t>
            </a:r>
          </a:p>
        </p:txBody>
      </p:sp>
      <p:sp>
        <p:nvSpPr>
          <p:cNvPr id="4" name="TextBox 4"/>
          <p:cNvSpPr txBox="1"/>
          <p:nvPr/>
        </p:nvSpPr>
        <p:spPr>
          <a:xfrm>
            <a:off x="9144000" y="5841509"/>
            <a:ext cx="1870068" cy="355786"/>
          </a:xfrm>
          <a:prstGeom prst="rect">
            <a:avLst/>
          </a:prstGeom>
        </p:spPr>
        <p:txBody>
          <a:bodyPr lIns="0" tIns="0" rIns="0" bIns="0" rtlCol="0" anchor="t">
            <a:spAutoFit/>
          </a:bodyPr>
          <a:lstStyle/>
          <a:p>
            <a:pPr algn="l">
              <a:lnSpc>
                <a:spcPts val="2766"/>
              </a:lnSpc>
            </a:pPr>
            <a:r>
              <a:rPr lang="en-US" sz="2514" b="1">
                <a:solidFill>
                  <a:srgbClr val="FFFFFF"/>
                </a:solidFill>
                <a:latin typeface="DM Sans Bold"/>
                <a:ea typeface="DM Sans Bold"/>
                <a:cs typeface="DM Sans Bold"/>
                <a:sym typeface="DM Sans Bold"/>
              </a:rPr>
              <a:t>Phone      : </a:t>
            </a:r>
          </a:p>
        </p:txBody>
      </p:sp>
      <p:sp>
        <p:nvSpPr>
          <p:cNvPr id="5" name="TextBox 5"/>
          <p:cNvSpPr txBox="1"/>
          <p:nvPr/>
        </p:nvSpPr>
        <p:spPr>
          <a:xfrm>
            <a:off x="11014068" y="6568722"/>
            <a:ext cx="4849819" cy="361446"/>
          </a:xfrm>
          <a:prstGeom prst="rect">
            <a:avLst/>
          </a:prstGeom>
        </p:spPr>
        <p:txBody>
          <a:bodyPr lIns="0" tIns="0" rIns="0" bIns="0" rtlCol="0" anchor="t">
            <a:spAutoFit/>
          </a:bodyPr>
          <a:lstStyle/>
          <a:p>
            <a:pPr algn="l">
              <a:lnSpc>
                <a:spcPts val="2766"/>
              </a:lnSpc>
            </a:pPr>
            <a:r>
              <a:rPr lang="en-US" sz="2514" b="1" dirty="0">
                <a:solidFill>
                  <a:srgbClr val="FFFFFF"/>
                </a:solidFill>
                <a:latin typeface="DM Sans Bold"/>
                <a:ea typeface="DM Sans Bold"/>
                <a:cs typeface="DM Sans Bold"/>
                <a:sym typeface="DM Sans Bold"/>
              </a:rPr>
              <a:t>adinn41@gmail.com</a:t>
            </a:r>
          </a:p>
        </p:txBody>
      </p:sp>
      <p:sp>
        <p:nvSpPr>
          <p:cNvPr id="6" name="TextBox 6"/>
          <p:cNvSpPr txBox="1"/>
          <p:nvPr/>
        </p:nvSpPr>
        <p:spPr>
          <a:xfrm>
            <a:off x="11014068" y="5841509"/>
            <a:ext cx="3024076" cy="361446"/>
          </a:xfrm>
          <a:prstGeom prst="rect">
            <a:avLst/>
          </a:prstGeom>
        </p:spPr>
        <p:txBody>
          <a:bodyPr lIns="0" tIns="0" rIns="0" bIns="0" rtlCol="0" anchor="t">
            <a:spAutoFit/>
          </a:bodyPr>
          <a:lstStyle/>
          <a:p>
            <a:pPr algn="l">
              <a:lnSpc>
                <a:spcPts val="2766"/>
              </a:lnSpc>
            </a:pPr>
            <a:r>
              <a:rPr lang="en-US" sz="2514" b="1" dirty="0">
                <a:solidFill>
                  <a:srgbClr val="FFFFFF"/>
                </a:solidFill>
                <a:latin typeface="DM Sans Bold"/>
                <a:ea typeface="DM Sans Bold"/>
                <a:cs typeface="DM Sans Bold"/>
                <a:sym typeface="DM Sans Bold"/>
              </a:rPr>
              <a:t>+62 813 6664 9563</a:t>
            </a:r>
          </a:p>
        </p:txBody>
      </p:sp>
      <p:sp>
        <p:nvSpPr>
          <p:cNvPr id="7" name="TextBox 7"/>
          <p:cNvSpPr txBox="1"/>
          <p:nvPr/>
        </p:nvSpPr>
        <p:spPr>
          <a:xfrm>
            <a:off x="9144000" y="6568722"/>
            <a:ext cx="1870068" cy="355786"/>
          </a:xfrm>
          <a:prstGeom prst="rect">
            <a:avLst/>
          </a:prstGeom>
        </p:spPr>
        <p:txBody>
          <a:bodyPr lIns="0" tIns="0" rIns="0" bIns="0" rtlCol="0" anchor="t">
            <a:spAutoFit/>
          </a:bodyPr>
          <a:lstStyle/>
          <a:p>
            <a:pPr algn="l">
              <a:lnSpc>
                <a:spcPts val="2766"/>
              </a:lnSpc>
            </a:pPr>
            <a:r>
              <a:rPr lang="en-US" sz="2514" b="1">
                <a:solidFill>
                  <a:srgbClr val="FFFFFF"/>
                </a:solidFill>
                <a:latin typeface="DM Sans Bold"/>
                <a:ea typeface="DM Sans Bold"/>
                <a:cs typeface="DM Sans Bold"/>
                <a:sym typeface="DM Sans Bold"/>
              </a:rPr>
              <a:t>Email       :</a:t>
            </a:r>
          </a:p>
        </p:txBody>
      </p:sp>
      <p:sp>
        <p:nvSpPr>
          <p:cNvPr id="8" name="TextBox 8"/>
          <p:cNvSpPr txBox="1"/>
          <p:nvPr/>
        </p:nvSpPr>
        <p:spPr>
          <a:xfrm>
            <a:off x="8940919" y="2490517"/>
            <a:ext cx="7865554" cy="1391857"/>
          </a:xfrm>
          <a:prstGeom prst="rect">
            <a:avLst/>
          </a:prstGeom>
        </p:spPr>
        <p:txBody>
          <a:bodyPr lIns="0" tIns="0" rIns="0" bIns="0" rtlCol="0" anchor="t">
            <a:spAutoFit/>
          </a:bodyPr>
          <a:lstStyle/>
          <a:p>
            <a:pPr algn="l">
              <a:lnSpc>
                <a:spcPts val="10149"/>
              </a:lnSpc>
            </a:pPr>
            <a:r>
              <a:rPr lang="en-US" sz="11153" b="1">
                <a:solidFill>
                  <a:srgbClr val="FFFFFF"/>
                </a:solidFill>
                <a:latin typeface="DM Sans Bold"/>
                <a:ea typeface="DM Sans Bold"/>
                <a:cs typeface="DM Sans Bold"/>
                <a:sym typeface="DM Sans Bold"/>
              </a:rPr>
              <a:t>Thank you</a:t>
            </a:r>
          </a:p>
        </p:txBody>
      </p:sp>
      <p:sp>
        <p:nvSpPr>
          <p:cNvPr id="9" name="TextBox 9"/>
          <p:cNvSpPr txBox="1"/>
          <p:nvPr/>
        </p:nvSpPr>
        <p:spPr>
          <a:xfrm>
            <a:off x="9130667" y="7280472"/>
            <a:ext cx="1870068" cy="355786"/>
          </a:xfrm>
          <a:prstGeom prst="rect">
            <a:avLst/>
          </a:prstGeom>
        </p:spPr>
        <p:txBody>
          <a:bodyPr lIns="0" tIns="0" rIns="0" bIns="0" rtlCol="0" anchor="t">
            <a:spAutoFit/>
          </a:bodyPr>
          <a:lstStyle/>
          <a:p>
            <a:pPr algn="l">
              <a:lnSpc>
                <a:spcPts val="2766"/>
              </a:lnSpc>
            </a:pPr>
            <a:r>
              <a:rPr lang="en-US" sz="2514" b="1">
                <a:solidFill>
                  <a:srgbClr val="FFFFFF"/>
                </a:solidFill>
                <a:latin typeface="DM Sans Bold"/>
                <a:ea typeface="DM Sans Bold"/>
                <a:cs typeface="DM Sans Bold"/>
                <a:sym typeface="DM Sans Bold"/>
              </a:rPr>
              <a:t>Linkedin  :</a:t>
            </a:r>
          </a:p>
        </p:txBody>
      </p:sp>
      <p:sp>
        <p:nvSpPr>
          <p:cNvPr id="10" name="TextBox 10"/>
          <p:cNvSpPr txBox="1"/>
          <p:nvPr/>
        </p:nvSpPr>
        <p:spPr>
          <a:xfrm>
            <a:off x="11014068" y="7296746"/>
            <a:ext cx="4849819" cy="361446"/>
          </a:xfrm>
          <a:prstGeom prst="rect">
            <a:avLst/>
          </a:prstGeom>
        </p:spPr>
        <p:txBody>
          <a:bodyPr lIns="0" tIns="0" rIns="0" bIns="0" rtlCol="0" anchor="t">
            <a:spAutoFit/>
          </a:bodyPr>
          <a:lstStyle/>
          <a:p>
            <a:pPr algn="l">
              <a:lnSpc>
                <a:spcPts val="2766"/>
              </a:lnSpc>
            </a:pPr>
            <a:r>
              <a:rPr lang="en-US" sz="2514" b="1" dirty="0">
                <a:solidFill>
                  <a:srgbClr val="FFFFFF"/>
                </a:solidFill>
                <a:latin typeface="DM Sans Bold"/>
                <a:ea typeface="DM Sans Bold"/>
                <a:cs typeface="DM Sans Bold"/>
                <a:sym typeface="DM Sans Bold"/>
              </a:rPr>
              <a:t>Adin Nugroho</a:t>
            </a:r>
          </a:p>
        </p:txBody>
      </p:sp>
      <p:sp>
        <p:nvSpPr>
          <p:cNvPr id="11" name="Freeform 11"/>
          <p:cNvSpPr/>
          <p:nvPr/>
        </p:nvSpPr>
        <p:spPr>
          <a:xfrm>
            <a:off x="0" y="3645324"/>
            <a:ext cx="10346230" cy="6641676"/>
          </a:xfrm>
          <a:custGeom>
            <a:avLst/>
            <a:gdLst/>
            <a:ahLst/>
            <a:cxnLst/>
            <a:rect l="l" t="t" r="r" b="b"/>
            <a:pathLst>
              <a:path w="10346230" h="6641676">
                <a:moveTo>
                  <a:pt x="0" y="0"/>
                </a:moveTo>
                <a:lnTo>
                  <a:pt x="10346230" y="0"/>
                </a:lnTo>
                <a:lnTo>
                  <a:pt x="10346230" y="6641676"/>
                </a:lnTo>
                <a:lnTo>
                  <a:pt x="0" y="6641676"/>
                </a:lnTo>
                <a:lnTo>
                  <a:pt x="0" y="0"/>
                </a:lnTo>
                <a:close/>
              </a:path>
            </a:pathLst>
          </a:custGeom>
          <a:blipFill>
            <a:blip r:embed="rId3"/>
            <a:stretch>
              <a:fillRect l="-105164" t="-80055" r="-320"/>
            </a:stretch>
          </a:blipFill>
        </p:spPr>
      </p:sp>
      <p:sp>
        <p:nvSpPr>
          <p:cNvPr id="12" name="TextBox 12"/>
          <p:cNvSpPr txBox="1"/>
          <p:nvPr/>
        </p:nvSpPr>
        <p:spPr>
          <a:xfrm>
            <a:off x="1790873" y="1384237"/>
            <a:ext cx="5556364" cy="854076"/>
          </a:xfrm>
          <a:prstGeom prst="rect">
            <a:avLst/>
          </a:prstGeom>
        </p:spPr>
        <p:txBody>
          <a:bodyPr lIns="0" tIns="0" rIns="0" bIns="0" rtlCol="0" anchor="t">
            <a:spAutoFit/>
          </a:bodyPr>
          <a:lstStyle/>
          <a:p>
            <a:pPr algn="l">
              <a:lnSpc>
                <a:spcPts val="6999"/>
              </a:lnSpc>
              <a:spcBef>
                <a:spcPct val="0"/>
              </a:spcBef>
            </a:pPr>
            <a:r>
              <a:rPr lang="en-US" sz="4999" b="1">
                <a:solidFill>
                  <a:srgbClr val="4BD4B1"/>
                </a:solidFill>
                <a:latin typeface="DM Sans Bold"/>
                <a:ea typeface="DM Sans Bold"/>
                <a:cs typeface="DM Sans Bold"/>
                <a:sym typeface="DM Sans Bold"/>
              </a:rPr>
              <a:t>Profile</a:t>
            </a:r>
          </a:p>
        </p:txBody>
      </p:sp>
      <p:sp>
        <p:nvSpPr>
          <p:cNvPr id="13" name="Freeform 13"/>
          <p:cNvSpPr/>
          <p:nvPr/>
        </p:nvSpPr>
        <p:spPr>
          <a:xfrm>
            <a:off x="1629624" y="3955845"/>
            <a:ext cx="4942043" cy="4942043"/>
          </a:xfrm>
          <a:custGeom>
            <a:avLst/>
            <a:gdLst/>
            <a:ahLst/>
            <a:cxnLst/>
            <a:rect l="l" t="t" r="r" b="b"/>
            <a:pathLst>
              <a:path w="4942043" h="4942043">
                <a:moveTo>
                  <a:pt x="0" y="0"/>
                </a:moveTo>
                <a:lnTo>
                  <a:pt x="4942043" y="0"/>
                </a:lnTo>
                <a:lnTo>
                  <a:pt x="4942043" y="4942042"/>
                </a:lnTo>
                <a:lnTo>
                  <a:pt x="0" y="4942042"/>
                </a:lnTo>
                <a:lnTo>
                  <a:pt x="0" y="0"/>
                </a:lnTo>
                <a:close/>
              </a:path>
            </a:pathLst>
          </a:custGeom>
          <a:blipFill>
            <a:blip r:embed="rId4"/>
            <a:stretch>
              <a:fillRect/>
            </a:stretch>
          </a:blipFill>
        </p:spPr>
      </p:sp>
      <p:pic>
        <p:nvPicPr>
          <p:cNvPr id="15" name="Picture 14">
            <a:extLst>
              <a:ext uri="{FF2B5EF4-FFF2-40B4-BE49-F238E27FC236}">
                <a16:creationId xmlns:a16="http://schemas.microsoft.com/office/drawing/2014/main" id="{F2CA47A7-AF65-C2ED-04AA-4F8B3EDC521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35796" y="3390900"/>
            <a:ext cx="4114800" cy="54959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519</TotalTime>
  <Words>842</Words>
  <Application>Microsoft Office PowerPoint</Application>
  <PresentationFormat>Custom</PresentationFormat>
  <Paragraphs>119</Paragraphs>
  <Slides>14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DM Sans Bold</vt:lpstr>
      <vt:lpstr>Calibri</vt:lpstr>
      <vt:lpstr>DM Sans</vt:lpstr>
      <vt:lpstr>Arial</vt:lpstr>
      <vt:lpstr>Gotham Bold</vt:lpstr>
      <vt:lpstr>Montserrat</vt:lpstr>
      <vt:lpstr>Gotham Italics</vt:lpstr>
      <vt:lpstr>Gotham</vt:lpstr>
      <vt:lpstr>Gotham Light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Portofolio Project - Excel for Data Analysis</dc:title>
  <cp:lastModifiedBy>Adin Nugroho</cp:lastModifiedBy>
  <cp:revision>5</cp:revision>
  <dcterms:created xsi:type="dcterms:W3CDTF">2006-08-16T00:00:00Z</dcterms:created>
  <dcterms:modified xsi:type="dcterms:W3CDTF">2026-02-17T04:40:55Z</dcterms:modified>
  <dc:identifier>DAHA55Ym7FA</dc:identifier>
</cp:coreProperties>
</file>